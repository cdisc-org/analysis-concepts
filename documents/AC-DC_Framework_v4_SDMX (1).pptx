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4" r:id="rId4"/>
  </p:sldMasterIdLst>
  <p:notesMasterIdLst>
    <p:notesMasterId r:id="rId27"/>
  </p:notesMasterIdLst>
  <p:handoutMasterIdLst>
    <p:handoutMasterId r:id="rId28"/>
  </p:handoutMasterIdLst>
  <p:sldIdLst>
    <p:sldId id="283" r:id="rId5"/>
    <p:sldId id="257" r:id="rId6"/>
    <p:sldId id="263" r:id="rId7"/>
    <p:sldId id="264" r:id="rId8"/>
    <p:sldId id="310" r:id="rId9"/>
    <p:sldId id="291" r:id="rId10"/>
    <p:sldId id="303" r:id="rId11"/>
    <p:sldId id="308" r:id="rId12"/>
    <p:sldId id="304" r:id="rId13"/>
    <p:sldId id="305" r:id="rId14"/>
    <p:sldId id="306" r:id="rId15"/>
    <p:sldId id="294" r:id="rId16"/>
    <p:sldId id="296" r:id="rId17"/>
    <p:sldId id="302" r:id="rId18"/>
    <p:sldId id="295" r:id="rId19"/>
    <p:sldId id="292" r:id="rId20"/>
    <p:sldId id="297" r:id="rId21"/>
    <p:sldId id="298" r:id="rId22"/>
    <p:sldId id="293" r:id="rId23"/>
    <p:sldId id="299" r:id="rId24"/>
    <p:sldId id="300" r:id="rId25"/>
    <p:sldId id="301" r:id="rId26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A1C8E5-41DA-4F5F-BA11-57F54BDC895A}" v="18" dt="2025-01-03T02:36:22.203"/>
    <p1510:client id="{805C4C4A-6B90-4AEF-B28A-D1248255A723}" v="3" dt="2025-01-03T18:09:03.3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60" autoAdjust="0"/>
    <p:restoredTop sz="95172" autoAdjust="0"/>
  </p:normalViewPr>
  <p:slideViewPr>
    <p:cSldViewPr snapToGrid="0" snapToObjects="1" showGuides="1">
      <p:cViewPr varScale="1">
        <p:scale>
          <a:sx n="144" d="100"/>
          <a:sy n="144" d="100"/>
        </p:scale>
        <p:origin x="192" y="3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154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5DBDCBF-2661-4644-8788-CDD1F7AF86F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53122C-0D3A-43C5-9EEA-A82F8CF99E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2B9998-7FC2-40BB-812D-D42712794F0A}" type="datetimeFigureOut">
              <a:rPr lang="en-US" smtClean="0"/>
              <a:t>1/7/26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741259-F173-4371-ABAC-32B2025744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DAA9DB-2741-4CC9-A32C-B6142DB609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275628-0D87-438D-8818-43C41C879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2173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E1A3E-C737-584E-86B0-F484DE311626}" type="datetimeFigureOut">
              <a:rPr lang="en-US" smtClean="0"/>
              <a:t>1/7/26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E17163-B04C-C34A-8000-FDF58C3633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733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E17163-B04C-C34A-8000-FDF58C3633A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2313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E17163-B04C-C34A-8000-FDF58C3633A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648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078FFEE-EA0C-5E4A-B1D2-8213F7094B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62" y="0"/>
            <a:ext cx="9134475" cy="51435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CC4787D-0744-8047-A68C-F117D26CFC58}"/>
              </a:ext>
            </a:extLst>
          </p:cNvPr>
          <p:cNvSpPr/>
          <p:nvPr userDrawn="1"/>
        </p:nvSpPr>
        <p:spPr>
          <a:xfrm>
            <a:off x="1648918" y="1139639"/>
            <a:ext cx="7495082" cy="23246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77690" y="1154590"/>
            <a:ext cx="6781830" cy="1362472"/>
          </a:xfrm>
        </p:spPr>
        <p:txBody>
          <a:bodyPr anchor="ctr">
            <a:normAutofit/>
          </a:bodyPr>
          <a:lstStyle>
            <a:lvl1pPr algn="l"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77690" y="2648262"/>
            <a:ext cx="6781830" cy="600472"/>
          </a:xfrm>
        </p:spPr>
        <p:txBody>
          <a:bodyPr>
            <a:normAutofit/>
          </a:bodyPr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5" name="Picture 4" descr="A blue and yellow logo  Description automatically generated">
            <a:extLst>
              <a:ext uri="{FF2B5EF4-FFF2-40B4-BE49-F238E27FC236}">
                <a16:creationId xmlns:a16="http://schemas.microsoft.com/office/drawing/2014/main" id="{3EB9E325-CA01-8194-3510-EF94D192606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58640" y="3679814"/>
            <a:ext cx="1186088" cy="407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307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scape with a blue and white banner  Description automatically generated">
            <a:extLst>
              <a:ext uri="{FF2B5EF4-FFF2-40B4-BE49-F238E27FC236}">
                <a16:creationId xmlns:a16="http://schemas.microsoft.com/office/drawing/2014/main" id="{11184E1C-5903-A0FE-BE24-EE2A6CB19F4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276289B-55C8-40FA-889A-2AECA774D2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48267" y="3962400"/>
            <a:ext cx="5625378" cy="397578"/>
          </a:xfrm>
        </p:spPr>
        <p:txBody>
          <a:bodyPr anchor="ctr">
            <a:norm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FBB06B2-CEED-4837-A8D1-3F28461021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92550" y="4359979"/>
            <a:ext cx="4781095" cy="783522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Presented by John Smith, Job Title, Department, Company Name</a:t>
            </a:r>
          </a:p>
          <a:p>
            <a:r>
              <a:rPr lang="en-US" dirty="0"/>
              <a:t>Day Month 2020</a:t>
            </a:r>
          </a:p>
        </p:txBody>
      </p:sp>
    </p:spTree>
    <p:extLst>
      <p:ext uri="{BB962C8B-B14F-4D97-AF65-F5344CB8AC3E}">
        <p14:creationId xmlns:p14="http://schemas.microsoft.com/office/powerpoint/2010/main" val="313756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anner with a city in the background  Description automatically generated">
            <a:extLst>
              <a:ext uri="{FF2B5EF4-FFF2-40B4-BE49-F238E27FC236}">
                <a16:creationId xmlns:a16="http://schemas.microsoft.com/office/drawing/2014/main" id="{60AF726E-8299-5D06-FD26-96E5806BCA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276289B-55C8-40FA-889A-2AECA774D2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48267" y="3962400"/>
            <a:ext cx="5625378" cy="397578"/>
          </a:xfrm>
        </p:spPr>
        <p:txBody>
          <a:bodyPr anchor="ctr">
            <a:norm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FBB06B2-CEED-4837-A8D1-3F28461021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92550" y="4359979"/>
            <a:ext cx="4781095" cy="783522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Presented by John Smith, Job Title, Department, Company Name</a:t>
            </a:r>
          </a:p>
          <a:p>
            <a:r>
              <a:rPr lang="en-US" dirty="0"/>
              <a:t>Day Month 2020</a:t>
            </a:r>
          </a:p>
        </p:txBody>
      </p:sp>
    </p:spTree>
    <p:extLst>
      <p:ext uri="{BB962C8B-B14F-4D97-AF65-F5344CB8AC3E}">
        <p14:creationId xmlns:p14="http://schemas.microsoft.com/office/powerpoint/2010/main" val="3942137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ridge with lights and a city in the background  Description automatically generated">
            <a:extLst>
              <a:ext uri="{FF2B5EF4-FFF2-40B4-BE49-F238E27FC236}">
                <a16:creationId xmlns:a16="http://schemas.microsoft.com/office/drawing/2014/main" id="{F4FDD1C3-541D-7013-126F-49BDD97083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276289B-55C8-40FA-889A-2AECA774D2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48267" y="3962400"/>
            <a:ext cx="5625378" cy="397578"/>
          </a:xfrm>
        </p:spPr>
        <p:txBody>
          <a:bodyPr anchor="ctr">
            <a:norm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FBB06B2-CEED-4837-A8D1-3F28461021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92550" y="4359979"/>
            <a:ext cx="4781095" cy="783522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Presented by John Smith, Job Title, Department, Company Name</a:t>
            </a:r>
          </a:p>
          <a:p>
            <a:r>
              <a:rPr lang="en-US" dirty="0"/>
              <a:t>Day Month 2020</a:t>
            </a:r>
          </a:p>
        </p:txBody>
      </p:sp>
    </p:spTree>
    <p:extLst>
      <p:ext uri="{BB962C8B-B14F-4D97-AF65-F5344CB8AC3E}">
        <p14:creationId xmlns:p14="http://schemas.microsoft.com/office/powerpoint/2010/main" val="2091642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anner with a city skyline  Description automatically generated">
            <a:extLst>
              <a:ext uri="{FF2B5EF4-FFF2-40B4-BE49-F238E27FC236}">
                <a16:creationId xmlns:a16="http://schemas.microsoft.com/office/drawing/2014/main" id="{C983A9DE-9882-CE38-3621-312EFD172DE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276289B-55C8-40FA-889A-2AECA774D2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48267" y="3962400"/>
            <a:ext cx="5625378" cy="397578"/>
          </a:xfrm>
        </p:spPr>
        <p:txBody>
          <a:bodyPr anchor="ctr">
            <a:norm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FBB06B2-CEED-4837-A8D1-3F28461021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92550" y="4359979"/>
            <a:ext cx="4781095" cy="783522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Presented by John Smith, Job Title, Department, Company Name</a:t>
            </a:r>
          </a:p>
          <a:p>
            <a:r>
              <a:rPr lang="en-US" dirty="0"/>
              <a:t>Day Month 2020</a:t>
            </a:r>
          </a:p>
        </p:txBody>
      </p:sp>
    </p:spTree>
    <p:extLst>
      <p:ext uri="{BB962C8B-B14F-4D97-AF65-F5344CB8AC3E}">
        <p14:creationId xmlns:p14="http://schemas.microsoft.com/office/powerpoint/2010/main" val="4192823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anner with a city skyline and text  Description automatically generated">
            <a:extLst>
              <a:ext uri="{FF2B5EF4-FFF2-40B4-BE49-F238E27FC236}">
                <a16:creationId xmlns:a16="http://schemas.microsoft.com/office/drawing/2014/main" id="{17CDE7A5-1733-0FAC-77B6-F23D6864A5F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276289B-55C8-40FA-889A-2AECA774D2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48267" y="3962400"/>
            <a:ext cx="5625378" cy="397578"/>
          </a:xfrm>
        </p:spPr>
        <p:txBody>
          <a:bodyPr anchor="ctr">
            <a:norm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FBB06B2-CEED-4837-A8D1-3F28461021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92550" y="4359979"/>
            <a:ext cx="4781095" cy="783522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Presented by John Smith, Job Title, Department, Company Name</a:t>
            </a:r>
          </a:p>
          <a:p>
            <a:r>
              <a:rPr lang="en-US" dirty="0"/>
              <a:t>Day Month 2020</a:t>
            </a:r>
          </a:p>
        </p:txBody>
      </p:sp>
    </p:spTree>
    <p:extLst>
      <p:ext uri="{BB962C8B-B14F-4D97-AF65-F5344CB8AC3E}">
        <p14:creationId xmlns:p14="http://schemas.microsoft.com/office/powerpoint/2010/main" val="6972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anner with a city in the background  Description automatically generated">
            <a:extLst>
              <a:ext uri="{FF2B5EF4-FFF2-40B4-BE49-F238E27FC236}">
                <a16:creationId xmlns:a16="http://schemas.microsoft.com/office/drawing/2014/main" id="{2CC0345B-E6E3-F42F-444B-276DEA3E0B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276289B-55C8-40FA-889A-2AECA774D2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48267" y="3962400"/>
            <a:ext cx="5625378" cy="397578"/>
          </a:xfrm>
        </p:spPr>
        <p:txBody>
          <a:bodyPr anchor="ctr">
            <a:norm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FBB06B2-CEED-4837-A8D1-3F28461021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92550" y="4359979"/>
            <a:ext cx="4781095" cy="783522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Presented by John Smith, Job Title, Department, Company Name</a:t>
            </a:r>
          </a:p>
          <a:p>
            <a:r>
              <a:rPr lang="en-US" dirty="0"/>
              <a:t>Day Month 2020</a:t>
            </a:r>
          </a:p>
        </p:txBody>
      </p:sp>
    </p:spTree>
    <p:extLst>
      <p:ext uri="{BB962C8B-B14F-4D97-AF65-F5344CB8AC3E}">
        <p14:creationId xmlns:p14="http://schemas.microsoft.com/office/powerpoint/2010/main" val="3852453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276289B-55C8-40FA-889A-2AECA774D2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48267" y="3962400"/>
            <a:ext cx="5625378" cy="397578"/>
          </a:xfrm>
        </p:spPr>
        <p:txBody>
          <a:bodyPr anchor="ctr">
            <a:norm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FBB06B2-CEED-4837-A8D1-3F28461021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92550" y="4359979"/>
            <a:ext cx="4781095" cy="783522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Presented by John Smith, Job Title, Department, Company Name</a:t>
            </a:r>
          </a:p>
          <a:p>
            <a:r>
              <a:rPr lang="en-US" dirty="0"/>
              <a:t>Day Month 2020</a:t>
            </a:r>
          </a:p>
        </p:txBody>
      </p:sp>
    </p:spTree>
    <p:extLst>
      <p:ext uri="{BB962C8B-B14F-4D97-AF65-F5344CB8AC3E}">
        <p14:creationId xmlns:p14="http://schemas.microsoft.com/office/powerpoint/2010/main" val="1354155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8903408-9362-EC46-8776-E9E810266D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62" y="0"/>
            <a:ext cx="9134475" cy="51435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409DADF-D9E6-A04F-8A80-7622E2E18903}"/>
              </a:ext>
            </a:extLst>
          </p:cNvPr>
          <p:cNvSpPr/>
          <p:nvPr userDrawn="1"/>
        </p:nvSpPr>
        <p:spPr>
          <a:xfrm>
            <a:off x="1562470" y="0"/>
            <a:ext cx="758153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1864" y="273845"/>
            <a:ext cx="6644935" cy="2101242"/>
          </a:xfrm>
        </p:spPr>
        <p:txBody>
          <a:bodyPr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1864" y="2551580"/>
            <a:ext cx="6644935" cy="2081143"/>
          </a:xfrm>
        </p:spPr>
        <p:txBody>
          <a:bodyPr/>
          <a:lstStyle>
            <a:lvl1pPr marL="342900" indent="-334963">
              <a:buFont typeface="+mj-lt"/>
              <a:buAutoNum type="arabicPeriod"/>
              <a:tabLst/>
              <a:defRPr>
                <a:solidFill>
                  <a:schemeClr val="bg1"/>
                </a:solidFill>
              </a:defRPr>
            </a:lvl1pPr>
            <a:lvl2pPr marL="385763" indent="-151210">
              <a:buFont typeface="+mj-lt"/>
              <a:buAutoNum type="arabicPeriod"/>
              <a:tabLst/>
              <a:defRPr>
                <a:solidFill>
                  <a:schemeClr val="bg1"/>
                </a:solidFill>
              </a:defRPr>
            </a:lvl2pPr>
            <a:lvl3pPr marL="560785" indent="-175022">
              <a:buFont typeface="+mj-lt"/>
              <a:buAutoNum type="arabicPeriod"/>
              <a:tabLst/>
              <a:defRPr>
                <a:solidFill>
                  <a:schemeClr val="bg1"/>
                </a:solidFill>
              </a:defRPr>
            </a:lvl3pPr>
            <a:lvl4pPr marL="731044" indent="-175022">
              <a:buFont typeface="+mj-lt"/>
              <a:buAutoNum type="arabicPeriod"/>
              <a:tabLst/>
              <a:defRPr>
                <a:solidFill>
                  <a:schemeClr val="bg1"/>
                </a:solidFill>
              </a:defRPr>
            </a:lvl4pPr>
            <a:lvl5pPr marL="901304" indent="-170260">
              <a:buFont typeface="+mj-lt"/>
              <a:buAutoNum type="arabicPeriod"/>
              <a:tabLst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26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0132" y="4767263"/>
            <a:ext cx="4676172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#ClearDataClearImpact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619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6103351-EB45-234F-8697-DE91E666400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62" y="0"/>
            <a:ext cx="9134475" cy="51435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DDB1314-0315-DB4C-AE95-AFD46FB209DC}"/>
              </a:ext>
            </a:extLst>
          </p:cNvPr>
          <p:cNvSpPr/>
          <p:nvPr userDrawn="1"/>
        </p:nvSpPr>
        <p:spPr>
          <a:xfrm>
            <a:off x="1562470" y="0"/>
            <a:ext cx="758153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1864" y="273845"/>
            <a:ext cx="6644935" cy="2101242"/>
          </a:xfrm>
        </p:spPr>
        <p:txBody>
          <a:bodyPr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1864" y="2551580"/>
            <a:ext cx="6644935" cy="2081143"/>
          </a:xfrm>
        </p:spPr>
        <p:txBody>
          <a:bodyPr/>
          <a:lstStyle>
            <a:lvl1pPr marL="0" indent="0">
              <a:buFont typeface="+mj-lt"/>
              <a:buNone/>
              <a:tabLst/>
              <a:defRPr sz="1800">
                <a:solidFill>
                  <a:schemeClr val="bg1"/>
                </a:solidFill>
              </a:defRPr>
            </a:lvl1pPr>
            <a:lvl2pPr marL="4763" indent="0">
              <a:buFont typeface="+mj-lt"/>
              <a:buNone/>
              <a:tabLst/>
              <a:defRPr>
                <a:solidFill>
                  <a:schemeClr val="bg1"/>
                </a:solidFill>
              </a:defRPr>
            </a:lvl2pPr>
            <a:lvl3pPr marL="4763" indent="0">
              <a:buFont typeface="+mj-lt"/>
              <a:buNone/>
              <a:tabLst/>
              <a:defRPr>
                <a:solidFill>
                  <a:schemeClr val="bg1"/>
                </a:solidFill>
              </a:defRPr>
            </a:lvl3pPr>
            <a:lvl4pPr marL="4763" indent="0">
              <a:buFont typeface="+mj-lt"/>
              <a:buNone/>
              <a:tabLst/>
              <a:defRPr>
                <a:solidFill>
                  <a:schemeClr val="bg1"/>
                </a:solidFill>
              </a:defRPr>
            </a:lvl4pPr>
            <a:lvl5pPr marL="4763" indent="0">
              <a:buFont typeface="+mj-lt"/>
              <a:buNone/>
              <a:tabLst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9177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losing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EC5F5DB-D0B7-B844-A4AC-647C44C65C8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62" y="0"/>
            <a:ext cx="9134475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7790" y="273845"/>
            <a:ext cx="6078069" cy="2101242"/>
          </a:xfrm>
        </p:spPr>
        <p:txBody>
          <a:bodyPr anchor="b"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7790" y="2551580"/>
            <a:ext cx="6078069" cy="1752166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tabLst/>
              <a:defRPr sz="900">
                <a:solidFill>
                  <a:schemeClr val="tx1"/>
                </a:solidFill>
              </a:defRPr>
            </a:lvl1pPr>
            <a:lvl2pPr marL="133350" indent="-128588">
              <a:buFont typeface="Arial" panose="020B0604020202020204" pitchFamily="34" charset="0"/>
              <a:buChar char="•"/>
              <a:tabLst/>
              <a:defRPr sz="900">
                <a:solidFill>
                  <a:schemeClr val="tx1"/>
                </a:solidFill>
              </a:defRPr>
            </a:lvl2pPr>
            <a:lvl3pPr marL="133350" indent="-128588">
              <a:buFont typeface="Arial" panose="020B0604020202020204" pitchFamily="34" charset="0"/>
              <a:buChar char="•"/>
              <a:tabLst/>
              <a:defRPr sz="900">
                <a:solidFill>
                  <a:schemeClr val="tx1"/>
                </a:solidFill>
              </a:defRPr>
            </a:lvl3pPr>
            <a:lvl4pPr marL="133350" indent="-128588">
              <a:buFont typeface="Arial" panose="020B0604020202020204" pitchFamily="34" charset="0"/>
              <a:buChar char="•"/>
              <a:tabLst/>
              <a:defRPr sz="900">
                <a:solidFill>
                  <a:schemeClr val="tx1"/>
                </a:solidFill>
              </a:defRPr>
            </a:lvl4pPr>
            <a:lvl5pPr marL="133350" indent="-128588">
              <a:buFont typeface="Arial" panose="020B0604020202020204" pitchFamily="34" charset="0"/>
              <a:buChar char="•"/>
              <a:tabLst/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71A794-C745-1542-AC4C-A0D07A44D2E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37791" y="4457700"/>
            <a:ext cx="1076325" cy="342000"/>
          </a:xfrm>
          <a:prstGeom prst="rect">
            <a:avLst/>
          </a:prstGeom>
        </p:spPr>
      </p:pic>
      <p:pic>
        <p:nvPicPr>
          <p:cNvPr id="4" name="Picture 3" descr="A blue and yellow logo  Description automatically generated">
            <a:extLst>
              <a:ext uri="{FF2B5EF4-FFF2-40B4-BE49-F238E27FC236}">
                <a16:creationId xmlns:a16="http://schemas.microsoft.com/office/drawing/2014/main" id="{83BE5696-CFD9-4C98-EA2C-157023C01BF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21121" y="4447883"/>
            <a:ext cx="1227358" cy="421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9703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0100" y="1111250"/>
            <a:ext cx="3819525" cy="3521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76824" y="1111250"/>
            <a:ext cx="3609975" cy="3521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0132" y="4767263"/>
            <a:ext cx="4676172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#ClearDataClearImpact</a:t>
            </a:r>
          </a:p>
        </p:txBody>
      </p:sp>
    </p:spTree>
    <p:extLst>
      <p:ext uri="{BB962C8B-B14F-4D97-AF65-F5344CB8AC3E}">
        <p14:creationId xmlns:p14="http://schemas.microsoft.com/office/powerpoint/2010/main" val="30525267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-Content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0100" y="1111250"/>
            <a:ext cx="3819525" cy="3521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BAEBCE6-AA93-4D42-8917-B9241C3EF63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076826" y="1111250"/>
            <a:ext cx="3609975" cy="352147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0132" y="4767263"/>
            <a:ext cx="4676172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#ClearDataClearImpact</a:t>
            </a:r>
          </a:p>
        </p:txBody>
      </p:sp>
    </p:spTree>
    <p:extLst>
      <p:ext uri="{BB962C8B-B14F-4D97-AF65-F5344CB8AC3E}">
        <p14:creationId xmlns:p14="http://schemas.microsoft.com/office/powerpoint/2010/main" val="9593491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-Content-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0100" y="1111250"/>
            <a:ext cx="7886699" cy="14100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BAEBCE6-AA93-4D42-8917-B9241C3EF63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73054" y="2576794"/>
            <a:ext cx="2413747" cy="187586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39C0675-53BD-004E-9C2E-1C9D24D3896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85927" y="2576794"/>
            <a:ext cx="5687128" cy="1875863"/>
          </a:xfrm>
          <a:solidFill>
            <a:schemeClr val="accent4"/>
          </a:solidFill>
        </p:spPr>
        <p:txBody>
          <a:bodyPr lIns="457200" tIns="274320" rIns="274320" bIns="274320"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0132" y="4767263"/>
            <a:ext cx="4676172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#ClearDataClearImpact</a:t>
            </a:r>
          </a:p>
        </p:txBody>
      </p:sp>
    </p:spTree>
    <p:extLst>
      <p:ext uri="{BB962C8B-B14F-4D97-AF65-F5344CB8AC3E}">
        <p14:creationId xmlns:p14="http://schemas.microsoft.com/office/powerpoint/2010/main" val="23916155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0132" y="4767263"/>
            <a:ext cx="4676172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#ClearDataClearImpact</a:t>
            </a:r>
          </a:p>
        </p:txBody>
      </p:sp>
    </p:spTree>
    <p:extLst>
      <p:ext uri="{BB962C8B-B14F-4D97-AF65-F5344CB8AC3E}">
        <p14:creationId xmlns:p14="http://schemas.microsoft.com/office/powerpoint/2010/main" val="22173490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0132" y="4767263"/>
            <a:ext cx="4676172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#ClearDataClearImpact</a:t>
            </a:r>
          </a:p>
        </p:txBody>
      </p:sp>
    </p:spTree>
    <p:extLst>
      <p:ext uri="{BB962C8B-B14F-4D97-AF65-F5344CB8AC3E}">
        <p14:creationId xmlns:p14="http://schemas.microsoft.com/office/powerpoint/2010/main" val="4224263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7CF86AEA-23B8-D847-A3D2-25B6A12213D0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62" y="0"/>
            <a:ext cx="9134475" cy="51435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0100" y="0"/>
            <a:ext cx="7886700" cy="99417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0100" y="1111250"/>
            <a:ext cx="7886700" cy="352147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76304" y="4767263"/>
            <a:ext cx="1204216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>
                <a:solidFill>
                  <a:schemeClr val="tx1"/>
                </a:solidFill>
              </a:defRPr>
            </a:lvl1pPr>
          </a:lstStyle>
          <a:p>
            <a:fld id="{A39D7527-A277-E24D-9A56-20081ADC979C}" type="datetime1">
              <a:rPr lang="en-US" smtClean="0"/>
              <a:pPr/>
              <a:t>1/7/26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0132" y="4767263"/>
            <a:ext cx="4676172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0520" y="4767263"/>
            <a:ext cx="306280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>
                <a:solidFill>
                  <a:schemeClr val="tx1"/>
                </a:solidFill>
              </a:defRPr>
            </a:lvl1pPr>
          </a:lstStyle>
          <a:p>
            <a:fld id="{EB4FF9C4-EEBF-D24D-8A4E-C0B9CCE3F97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 descr="A blue and yellow logo  Description automatically generated">
            <a:extLst>
              <a:ext uri="{FF2B5EF4-FFF2-40B4-BE49-F238E27FC236}">
                <a16:creationId xmlns:a16="http://schemas.microsoft.com/office/drawing/2014/main" id="{D73A5207-C22D-484A-6399-36FEDB1D2583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773986" y="4737101"/>
            <a:ext cx="796887" cy="273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711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700" r:id="rId2"/>
    <p:sldLayoutId id="2147483706" r:id="rId3"/>
    <p:sldLayoutId id="2147483701" r:id="rId4"/>
    <p:sldLayoutId id="2147483702" r:id="rId5"/>
    <p:sldLayoutId id="2147483705" r:id="rId6"/>
    <p:sldLayoutId id="2147483703" r:id="rId7"/>
    <p:sldLayoutId id="2147483704" r:id="rId8"/>
    <p:sldLayoutId id="2147483689" r:id="rId9"/>
    <p:sldLayoutId id="2147483676" r:id="rId10"/>
    <p:sldLayoutId id="2147483690" r:id="rId11"/>
    <p:sldLayoutId id="2147483691" r:id="rId12"/>
    <p:sldLayoutId id="2147483678" r:id="rId13"/>
    <p:sldLayoutId id="2147483687" r:id="rId14"/>
    <p:sldLayoutId id="2147483688" r:id="rId15"/>
    <p:sldLayoutId id="2147483680" r:id="rId16"/>
    <p:sldLayoutId id="2147483681" r:id="rId17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910">
          <p15:clr>
            <a:srgbClr val="F26B43"/>
          </p15:clr>
        </p15:guide>
        <p15:guide id="2" pos="5472">
          <p15:clr>
            <a:srgbClr val="F26B43"/>
          </p15:clr>
        </p15:guide>
        <p15:guide id="3" pos="504">
          <p15:clr>
            <a:srgbClr val="F26B43"/>
          </p15:clr>
        </p15:guide>
        <p15:guide id="4" pos="3054">
          <p15:clr>
            <a:srgbClr val="F26B43"/>
          </p15:clr>
        </p15:guide>
        <p15:guide id="5" pos="3198">
          <p15:clr>
            <a:srgbClr val="F26B43"/>
          </p15:clr>
        </p15:guide>
        <p15:guide id="6" pos="288">
          <p15:clr>
            <a:srgbClr val="F26B43"/>
          </p15:clr>
        </p15:guide>
        <p15:guide id="7" orient="horz" pos="70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996E2-6A29-8DF2-5DF9-827B369B03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The AC/DC Framework</a:t>
            </a:r>
            <a:br>
              <a:rPr lang="en-GB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80BDFC-5994-CF85-584F-C7363A760E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Analysis Concepts &amp; Derivation Concepts for </a:t>
            </a:r>
            <a:r>
              <a:rPr lang="da-DK" dirty="0"/>
              <a:t>Analysis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15472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A879D90-4E5A-B24E-BCE1-A85BA18A7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Agenda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B7D71CD-9C0C-FE4C-87FD-8BC3AEF856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5760" indent="-182880" algn="l">
              <a:buChar char="•"/>
            </a:pPr>
            <a:r>
              <a:rPr dirty="0"/>
              <a:t>The Problem: Hardcoded </a:t>
            </a:r>
            <a:r>
              <a:rPr dirty="0" err="1"/>
              <a:t>ADaM</a:t>
            </a:r>
            <a:r>
              <a:rPr dirty="0"/>
              <a:t> Programs</a:t>
            </a:r>
            <a:endParaRPr lang="en-US" dirty="0"/>
          </a:p>
          <a:p>
            <a:pPr marL="365760" indent="-182880" algn="l">
              <a:buChar char="•"/>
            </a:pPr>
            <a:r>
              <a:rPr dirty="0"/>
              <a:t>The Analytical Data Model: Semantic Vocabulary</a:t>
            </a:r>
          </a:p>
          <a:p>
            <a:pPr marL="365760" indent="-182880" algn="l">
              <a:buChar char="•"/>
            </a:pPr>
            <a:r>
              <a:rPr dirty="0"/>
              <a:t>AC/DC Templates: Reusable Patterns (SDMX Cubes)</a:t>
            </a:r>
          </a:p>
          <a:p>
            <a:pPr marL="365760" indent="-182880" algn="l">
              <a:buChar char="•"/>
            </a:pPr>
            <a:r>
              <a:rPr dirty="0"/>
              <a:t>AC/DC Instances: Study-Specific Bindings</a:t>
            </a:r>
          </a:p>
          <a:p>
            <a:pPr marL="365760" indent="-182880" algn="l">
              <a:buChar char="•"/>
            </a:pPr>
            <a:r>
              <a:rPr dirty="0"/>
              <a:t>Three-Layer Resolution: Concept → </a:t>
            </a:r>
            <a:r>
              <a:rPr dirty="0" err="1"/>
              <a:t>ADaM</a:t>
            </a:r>
            <a:r>
              <a:rPr dirty="0"/>
              <a:t> Class → Study</a:t>
            </a:r>
          </a:p>
          <a:p>
            <a:pPr marL="365760" indent="-182880">
              <a:buChar char="•"/>
            </a:pPr>
            <a:r>
              <a:rPr lang="en-GB" dirty="0"/>
              <a:t>Both Directions - Derivation Concepts &amp; Analysis Concepts </a:t>
            </a:r>
          </a:p>
        </p:txBody>
      </p:sp>
    </p:spTree>
    <p:extLst>
      <p:ext uri="{BB962C8B-B14F-4D97-AF65-F5344CB8AC3E}">
        <p14:creationId xmlns:p14="http://schemas.microsoft.com/office/powerpoint/2010/main" val="1129089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D9AE8-0E1B-2740-A95B-81DDAC2FC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9AC96-36D4-5E48-A3EC-AAD817F3E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Why Current </a:t>
            </a:r>
            <a:r>
              <a:rPr dirty="0" err="1"/>
              <a:t>ADaM</a:t>
            </a:r>
            <a:r>
              <a:rPr dirty="0"/>
              <a:t> </a:t>
            </a:r>
            <a:r>
              <a:rPr lang="da-DK" dirty="0"/>
              <a:t>and Output </a:t>
            </a:r>
            <a:r>
              <a:rPr dirty="0"/>
              <a:t>Programming Doesn't Scale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05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D6A95-13ED-604F-AA65-8144C0F66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t>Everything is Hardcoded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80A91-8A58-D34B-9C3A-DBCC37353B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b="1" dirty="0"/>
              <a:t>A typical ANCOVA program:</a:t>
            </a:r>
          </a:p>
          <a:p>
            <a:pPr marL="0" indent="0">
              <a:buNone/>
            </a:pPr>
            <a:endParaRPr b="1" dirty="0"/>
          </a:p>
          <a:p>
            <a:pPr marL="365760" indent="-182880" algn="l">
              <a:buChar char="•"/>
            </a:pPr>
            <a:r>
              <a:rPr dirty="0"/>
              <a:t>proc mixed data=</a:t>
            </a:r>
            <a:r>
              <a:rPr dirty="0" err="1"/>
              <a:t>adam.adqsadas</a:t>
            </a:r>
            <a:r>
              <a:rPr dirty="0"/>
              <a:t>;</a:t>
            </a:r>
          </a:p>
          <a:p>
            <a:pPr marL="731520" lvl="1" indent="-182880" algn="l">
              <a:buChar char="•"/>
            </a:pPr>
            <a:r>
              <a:rPr dirty="0"/>
              <a:t>  where PARAMCD="ACTOT11" and EFFFL="Y";</a:t>
            </a:r>
          </a:p>
          <a:p>
            <a:pPr marL="731520" lvl="1" indent="-182880" algn="l">
              <a:buChar char="•"/>
            </a:pPr>
            <a:r>
              <a:rPr dirty="0"/>
              <a:t>  model CHG = BASE SITEID TRTP;</a:t>
            </a:r>
          </a:p>
          <a:p>
            <a:pPr marL="365760" indent="-182880" algn="l">
              <a:buChar char="•"/>
            </a:pPr>
            <a:r>
              <a:rPr dirty="0"/>
              <a:t>run;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b="1" dirty="0"/>
              <a:t>What's embedded in </a:t>
            </a:r>
            <a:r>
              <a:rPr sz="1600" b="1" dirty="0"/>
              <a:t>the</a:t>
            </a:r>
            <a:r>
              <a:rPr b="1" dirty="0"/>
              <a:t> code:</a:t>
            </a:r>
          </a:p>
          <a:p>
            <a:pPr marL="365760" indent="-182880" algn="l">
              <a:buChar char="•"/>
            </a:pPr>
            <a:r>
              <a:rPr dirty="0"/>
              <a:t>Dataset name: </a:t>
            </a:r>
            <a:r>
              <a:rPr dirty="0" err="1"/>
              <a:t>adqsadas</a:t>
            </a:r>
            <a:endParaRPr dirty="0"/>
          </a:p>
          <a:p>
            <a:pPr marL="365760" indent="-182880" algn="l">
              <a:buChar char="•"/>
            </a:pPr>
            <a:r>
              <a:rPr dirty="0"/>
              <a:t>Variable names: CHG, BASE, TRTP, SITEID</a:t>
            </a:r>
          </a:p>
          <a:p>
            <a:pPr marL="365760" indent="-182880" algn="l">
              <a:buChar char="•"/>
            </a:pPr>
            <a:r>
              <a:rPr dirty="0"/>
              <a:t>Filter conditions: PARAMCD, EFFFL values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Different parameter? → Copy-paste, change values</a:t>
            </a:r>
          </a:p>
          <a:p>
            <a:pPr marL="0" indent="0">
              <a:buNone/>
            </a:pPr>
            <a:r>
              <a:rPr dirty="0"/>
              <a:t>Different study? → Rewrite everything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0CA00-99F7-3E44-A839-0402F441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0132" y="4767263"/>
            <a:ext cx="4676172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dirty="0"/>
              <a:t>#</a:t>
            </a:r>
            <a:r>
              <a:rPr dirty="0" err="1"/>
              <a:t>ClearDataClearImpact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40463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CD6AF-2974-98A8-E658-BBED9248F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 automated approach </a:t>
            </a:r>
            <a:br>
              <a:rPr lang="en-GB" dirty="0"/>
            </a:br>
            <a:r>
              <a:rPr lang="en-GB" dirty="0"/>
              <a:t>– tied to specific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DBACC-847D-352D-E9D4-BADDE634B9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0100" y="1111251"/>
            <a:ext cx="3819525" cy="22250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100" b="1" dirty="0"/>
              <a:t>YAML + R Code References</a:t>
            </a:r>
          </a:p>
          <a:p>
            <a:pPr marL="0" indent="0">
              <a:buNone/>
            </a:pP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table:</a:t>
            </a:r>
          </a:p>
          <a:p>
            <a:pPr marL="0" indent="0">
              <a:buNone/>
            </a:pP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name: ADSL</a:t>
            </a:r>
          </a:p>
          <a:p>
            <a:pPr marL="0" indent="0">
              <a:buNone/>
            </a:pP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filter_domain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- dm: '!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is.na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(AGE)'  </a:t>
            </a:r>
            <a:r>
              <a:rPr lang="en-GB" sz="11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R syntax</a:t>
            </a:r>
          </a:p>
          <a:p>
            <a:pPr marL="0" indent="0">
              <a:buNone/>
            </a:pP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column_action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AGE_GRP1:</a:t>
            </a:r>
          </a:p>
          <a:p>
            <a:pPr marL="0" indent="0">
              <a:buNone/>
            </a:pP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code_id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 "age_group_01.R" </a:t>
            </a:r>
            <a:r>
              <a:rPr lang="en-GB" sz="11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code file</a:t>
            </a:r>
          </a:p>
          <a:p>
            <a:pPr marL="0" indent="0">
              <a:buNone/>
            </a:pPr>
            <a:endParaRPr lang="en-GB" sz="11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F2C28-04E4-F389-E3D2-80C414912B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76824" y="1111251"/>
            <a:ext cx="3609975" cy="22250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100" b="1" dirty="0"/>
              <a:t>Domain-Specific Language (DSL)</a:t>
            </a:r>
          </a:p>
          <a:p>
            <a:pPr marL="0" indent="0">
              <a:buNone/>
            </a:pP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if DM.DTHFL = 'Y' </a:t>
            </a:r>
          </a:p>
          <a:p>
            <a:pPr marL="0" indent="0">
              <a:buNone/>
            </a:pP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and the latest of </a:t>
            </a:r>
          </a:p>
          <a:p>
            <a:pPr marL="0" indent="0">
              <a:buNone/>
            </a:pP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([ADSL.LSTALVDT + 1 day, ADSL.DTHDTC])</a:t>
            </a:r>
          </a:p>
          <a:p>
            <a:pPr marL="0" indent="0">
              <a:buNone/>
            </a:pP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is not later than 2023-07-01,</a:t>
            </a:r>
          </a:p>
          <a:p>
            <a:pPr marL="0" indent="0">
              <a:buNone/>
            </a:pP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then set to the latest of </a:t>
            </a:r>
          </a:p>
          <a:p>
            <a:pPr marL="0" indent="0">
              <a:buNone/>
            </a:pP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([ADSL.LSTALVDT + 1 day, ADSL.DTHDTC]),</a:t>
            </a:r>
          </a:p>
          <a:p>
            <a:pPr marL="0" indent="0">
              <a:buNone/>
            </a:pP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else set to blank.</a:t>
            </a:r>
          </a:p>
          <a:p>
            <a:pPr marL="0" indent="0">
              <a:buNone/>
            </a:pPr>
            <a:endParaRPr lang="en-GB" sz="11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C845D3-0289-1119-0859-F9F74F6DC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t>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1E59E5-FB3D-A3BE-0A90-9975CDB219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#</a:t>
            </a:r>
            <a:r>
              <a:rPr lang="en-US" dirty="0" err="1"/>
              <a:t>ClearDataClearImpact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AC3EAD-3C68-9973-CC64-D2AA90494865}"/>
              </a:ext>
            </a:extLst>
          </p:cNvPr>
          <p:cNvSpPr txBox="1"/>
          <p:nvPr/>
        </p:nvSpPr>
        <p:spPr>
          <a:xfrm>
            <a:off x="819625" y="3274142"/>
            <a:ext cx="3800000" cy="324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dirty="0"/>
              <a:t>Example from PHUSE EU 2025, Paper SM04</a:t>
            </a:r>
          </a:p>
          <a:p>
            <a:r>
              <a:rPr lang="en-GB" sz="800" i="1" dirty="0"/>
              <a:t>Matthew Phelps, Nicolai Skov Johnsen, Novo Nordisk</a:t>
            </a:r>
          </a:p>
        </p:txBody>
      </p:sp>
      <p:sp>
        <p:nvSpPr>
          <p:cNvPr id="8" name="TextBox 13">
            <a:extLst>
              <a:ext uri="{FF2B5EF4-FFF2-40B4-BE49-F238E27FC236}">
                <a16:creationId xmlns:a16="http://schemas.microsoft.com/office/drawing/2014/main" id="{BE256B44-9B31-ECF8-2588-45C405910AB3}"/>
              </a:ext>
            </a:extLst>
          </p:cNvPr>
          <p:cNvSpPr txBox="1"/>
          <p:nvPr/>
        </p:nvSpPr>
        <p:spPr>
          <a:xfrm>
            <a:off x="5076823" y="3274142"/>
            <a:ext cx="3609975" cy="324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/>
              <a:t>Example from PHUSE EU 2023, Paper DH12</a:t>
            </a:r>
          </a:p>
          <a:p>
            <a:r>
              <a:rPr lang="en-GB" sz="800" i="1" dirty="0"/>
              <a:t>Kang Zhao, AstraZeneca</a:t>
            </a: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EC3A00C4-6B70-8A55-D7EF-82914F3656C9}"/>
              </a:ext>
            </a:extLst>
          </p:cNvPr>
          <p:cNvSpPr txBox="1"/>
          <p:nvPr/>
        </p:nvSpPr>
        <p:spPr>
          <a:xfrm>
            <a:off x="1761536" y="3674871"/>
            <a:ext cx="562092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b="1" dirty="0">
                <a:solidFill>
                  <a:srgbClr val="FF0000"/>
                </a:solidFill>
              </a:rPr>
              <a:t>Common Problems</a:t>
            </a:r>
            <a:r>
              <a:rPr lang="en-GB" sz="1000" b="1" dirty="0"/>
              <a:t>:</a:t>
            </a:r>
            <a:endParaRPr lang="en-GB" sz="1000" dirty="0"/>
          </a:p>
          <a:p>
            <a:r>
              <a:rPr lang="en-GB" sz="1000" b="1" dirty="0"/>
              <a:t>Clever solutions, but proprietary:</a:t>
            </a:r>
            <a:r>
              <a:rPr lang="en-GB" sz="1000" dirty="0"/>
              <a:t> Each company invents its own format</a:t>
            </a:r>
          </a:p>
          <a:p>
            <a:r>
              <a:rPr lang="en-GB" sz="1000" b="1" dirty="0"/>
              <a:t>Platform-specific:</a:t>
            </a:r>
            <a:r>
              <a:rPr lang="en-GB" sz="1000" dirty="0"/>
              <a:t> Tied to R ecosystem or custom interpreters</a:t>
            </a:r>
          </a:p>
          <a:p>
            <a:r>
              <a:rPr lang="en-GB" sz="1000" b="1" dirty="0"/>
              <a:t>Spec ≠ Code:</a:t>
            </a:r>
            <a:r>
              <a:rPr lang="en-GB" sz="1000" dirty="0"/>
              <a:t> Logic hidden in external code-files (YAML) or requires custom parser (DSL)</a:t>
            </a:r>
          </a:p>
          <a:p>
            <a:r>
              <a:rPr lang="en-GB" sz="1000" b="1" dirty="0"/>
              <a:t>Not portable:</a:t>
            </a:r>
            <a:r>
              <a:rPr lang="en-GB" sz="1000" dirty="0"/>
              <a:t> Can't be shared across companies or tools</a:t>
            </a:r>
          </a:p>
          <a:p>
            <a:r>
              <a:rPr lang="en-GB" sz="1000" b="1" dirty="0"/>
              <a:t>Missing intent:</a:t>
            </a:r>
            <a:r>
              <a:rPr lang="en-GB" sz="1000" dirty="0"/>
              <a:t> Tells us HOW to compute, but not the analytical purpose</a:t>
            </a:r>
          </a:p>
        </p:txBody>
      </p:sp>
    </p:spTree>
    <p:extLst>
      <p:ext uri="{BB962C8B-B14F-4D97-AF65-F5344CB8AC3E}">
        <p14:creationId xmlns:p14="http://schemas.microsoft.com/office/powerpoint/2010/main" val="578848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D9AE8-0E1B-2740-A95B-81DDAC2FC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The AC/DC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9AC96-36D4-5E48-A3EC-AAD817F3E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Separating "What" from "How" from "Where"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Derivation and Analysis - Functions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00100" y="1111250"/>
                <a:ext cx="7886700" cy="352147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An a</a:t>
                </a:r>
                <a:r>
                  <a:rPr lang="en-US" noProof="0" dirty="0" err="1"/>
                  <a:t>nalysis</a:t>
                </a:r>
                <a:r>
                  <a:rPr lang="en-US" noProof="0" dirty="0"/>
                  <a:t> or a derivation share the same fundamental structure: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𝑶𝑼𝑻𝑷𝑼𝑻</m:t>
                      </m:r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 =  </m:t>
                      </m:r>
                      <m:r>
                        <a:rPr lang="en-US" sz="2800" b="1" i="1" dirty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2800" b="1" i="1" dirty="0">
                          <a:latin typeface="Cambria Math" panose="02040503050406030204" pitchFamily="18" charset="0"/>
                        </a:rPr>
                        <m:t> ( </m:t>
                      </m:r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𝑰𝑵𝑷𝑼𝑻</m:t>
                      </m:r>
                      <m:r>
                        <a:rPr lang="en-US" sz="28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f is a transformation/function/method applied of an input to provide an output</a:t>
                </a:r>
              </a:p>
              <a:p>
                <a:pPr marL="0" indent="0" algn="ctr">
                  <a:buNone/>
                </a:pPr>
                <a:endParaRPr lang="en-US" sz="2800" b="1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00100" y="1111250"/>
                <a:ext cx="7886700" cy="3521473"/>
              </a:xfrm>
              <a:blipFill>
                <a:blip r:embed="rId2"/>
                <a:stretch>
                  <a:fillRect l="-1768" t="-3237" r="-3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0132" y="4767263"/>
            <a:ext cx="4676172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dirty="0"/>
              <a:t>#ClearDataClearImpact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D5D9A-2100-DB18-4C74-ABA830B21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9D216-3AE5-A4AB-59F9-402B8714A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The AC/DC Model: A Function Over Data Cubes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7BD06A-4E0C-5F2A-4BAF-6E116AB391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00100" y="1111250"/>
                <a:ext cx="7886700" cy="3521473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US" noProof="0" dirty="0"/>
                  <a:t>Analysis Concepts and Derivation Concepts use </a:t>
                </a:r>
                <a:r>
                  <a:rPr lang="en-US" dirty="0"/>
                  <a:t>a CUBE structure as input and output</a:t>
                </a:r>
                <a:r>
                  <a:rPr lang="en-US" noProof="0" dirty="0"/>
                  <a:t>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2600" b="1" i="1" smtClean="0">
                          <a:latin typeface="Cambria Math" panose="02040503050406030204" pitchFamily="18" charset="0"/>
                        </a:rPr>
                        <m:t>𝒐𝒖𝒕𝒑𝒖𝒕</m:t>
                      </m:r>
                      <m:r>
                        <a:rPr lang="da-DK" sz="2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sz="2600" b="1" i="1" smtClean="0">
                          <a:latin typeface="Cambria Math" panose="02040503050406030204" pitchFamily="18" charset="0"/>
                        </a:rPr>
                        <m:t>𝒄𝒖𝒃𝒆</m:t>
                      </m:r>
                      <m:r>
                        <a:rPr lang="da-DK" sz="2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sz="26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da-DK" sz="2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600" b="1" i="1" smtClean="0">
                              <a:latin typeface="Cambria Math" panose="02040503050406030204" pitchFamily="18" charset="0"/>
                            </a:rPr>
                            <m:t>𝒊𝒏𝒑𝒖𝒕</m:t>
                          </m:r>
                          <m:r>
                            <a:rPr lang="da-DK" sz="26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a-DK" sz="2600" b="1" i="1" smtClean="0">
                              <a:latin typeface="Cambria Math" panose="02040503050406030204" pitchFamily="18" charset="0"/>
                            </a:rPr>
                            <m:t>𝒄𝒖𝒃𝒆</m:t>
                          </m:r>
                        </m:e>
                      </m:d>
                    </m:oMath>
                  </m:oMathPara>
                </a14:m>
                <a:endParaRPr lang="en-US" sz="2600" b="1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Derivation Concept (DC):</a:t>
                </a:r>
              </a:p>
              <a:p>
                <a:r>
                  <a:rPr lang="en-US" dirty="0"/>
                  <a:t>change_value = subtract(analysis_value, baseline_value)</a:t>
                </a:r>
              </a:p>
              <a:p>
                <a:r>
                  <a:rPr lang="en-US" i="1" dirty="0"/>
                  <a:t>Simple transformation of measures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Analysis Concept (AC):</a:t>
                </a:r>
              </a:p>
              <a:p>
                <a:r>
                  <a:rPr lang="en-US" dirty="0"/>
                  <a:t>lsmean, p_value = ANCOVA(change_value, baseline_value, treatment)</a:t>
                </a:r>
              </a:p>
              <a:p>
                <a:r>
                  <a:rPr lang="en-US" i="1" dirty="0"/>
                  <a:t>Statistical operation producing results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Key: Both INPUT and OUTPUT are defined as SDMX Data Cubes </a:t>
                </a:r>
              </a:p>
              <a:p>
                <a:pPr marL="0" indent="0">
                  <a:buNone/>
                </a:pPr>
                <a:r>
                  <a:rPr lang="en-US" b="1" dirty="0"/>
                  <a:t>— a standard structure with precise semantics.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7BD06A-4E0C-5F2A-4BAF-6E116AB391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00100" y="1111250"/>
                <a:ext cx="7886700" cy="3521473"/>
              </a:xfrm>
              <a:blipFill>
                <a:blip r:embed="rId2"/>
                <a:stretch>
                  <a:fillRect l="-1286" t="-3237" b="-10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3AA425-1263-A603-0C6E-75FEA6D99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C0E785-18C6-B647-9FC1-44C9A07DCF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00132" y="4767263"/>
            <a:ext cx="4676172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dirty="0"/>
              <a:t>#ClearDataClearImpact</a:t>
            </a:r>
          </a:p>
        </p:txBody>
      </p:sp>
    </p:spTree>
    <p:extLst>
      <p:ext uri="{BB962C8B-B14F-4D97-AF65-F5344CB8AC3E}">
        <p14:creationId xmlns:p14="http://schemas.microsoft.com/office/powerpoint/2010/main" val="2314067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t>The SDMX Data Cube: Three Component 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0100" y="1111250"/>
            <a:ext cx="7886700" cy="3521473"/>
          </a:xfrm>
        </p:spPr>
        <p:txBody>
          <a:bodyPr>
            <a:normAutofit fontScale="62000" lnSpcReduction="20000"/>
          </a:bodyPr>
          <a:lstStyle/>
          <a:p>
            <a:pPr marL="0" indent="0">
              <a:buNone/>
            </a:pPr>
            <a:r>
              <a:rPr lang="en-US" noProof="0" dirty="0"/>
              <a:t>Each component has a defined role that determines how it participates in operations: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DIMENSION</a:t>
            </a:r>
          </a:p>
          <a:p>
            <a:r>
              <a:rPr lang="en-US" dirty="0"/>
              <a:t>Identifies the observation — the “coordinates” in the cube</a:t>
            </a:r>
          </a:p>
          <a:p>
            <a:r>
              <a:rPr lang="en-US" i="1" dirty="0"/>
              <a:t>Examples: subject, visit, parameter, treatment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MEASURE</a:t>
            </a:r>
          </a:p>
          <a:p>
            <a:r>
              <a:rPr lang="en-US" dirty="0"/>
              <a:t>The observed/computed value at that point — numeric quantities</a:t>
            </a:r>
          </a:p>
          <a:p>
            <a:r>
              <a:rPr lang="en-US" i="1" dirty="0"/>
              <a:t>Examples: analysis_value, baseline_value, change_value, lsmean, p_value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ATTRIBUTE</a:t>
            </a:r>
          </a:p>
          <a:p>
            <a:r>
              <a:rPr lang="en-US" dirty="0"/>
              <a:t>Metadata that qualifies but does not identify — context and flags</a:t>
            </a:r>
          </a:p>
          <a:p>
            <a:r>
              <a:rPr lang="en-US" i="1" dirty="0"/>
              <a:t>Examples: population_flag, baseline_flag, unit, reason_for_exclusion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Why SDMX? </a:t>
            </a:r>
            <a:r>
              <a:rPr lang="en-US" dirty="0"/>
              <a:t>ISO standard (17369) for statistical data exchange. </a:t>
            </a:r>
          </a:p>
          <a:p>
            <a:pPr marL="0" indent="0">
              <a:buNone/>
            </a:pPr>
            <a:r>
              <a:rPr lang="en-US" dirty="0"/>
              <a:t>The roles are not arbitrary — they have standardized meaning across tools and platforms.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0132" y="4767263"/>
            <a:ext cx="4676172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dirty="0"/>
              <a:t>#ClearDataClearImpact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t>Slices: Subsetting the Cube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0100" y="1111250"/>
            <a:ext cx="7886700" cy="3521473"/>
          </a:xfrm>
        </p:spPr>
        <p:txBody>
          <a:bodyPr>
            <a:normAutofit fontScale="92000" lnSpcReduction="10000"/>
          </a:bodyPr>
          <a:lstStyle/>
          <a:p>
            <a:pPr marL="0" indent="0">
              <a:buNone/>
            </a:pPr>
            <a:r>
              <a:rPr lang="en-US" noProof="0" dirty="0"/>
              <a:t>A </a:t>
            </a:r>
            <a:r>
              <a:rPr lang="en-US" b="1" noProof="0" dirty="0"/>
              <a:t>Slice</a:t>
            </a:r>
            <a:r>
              <a:rPr lang="en-US" noProof="0" dirty="0"/>
              <a:t> fixes certain dimensions or attributes to create a subset of the cube.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Full Cube (all data):</a:t>
            </a:r>
          </a:p>
          <a:p>
            <a:r>
              <a:rPr lang="en-US" dirty="0"/>
              <a:t>Dimensions: subject, visit, parameter, treatment</a:t>
            </a:r>
          </a:p>
          <a:p>
            <a:r>
              <a:rPr lang="en-US" dirty="0"/>
              <a:t>Measures: analysis_value, baseline_value, change_value</a:t>
            </a:r>
          </a:p>
          <a:p>
            <a:r>
              <a:rPr lang="en-US" dirty="0"/>
              <a:t>Attributes: population_flag, baseline_flag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Slice (analysis context):</a:t>
            </a:r>
          </a:p>
          <a:p>
            <a:r>
              <a:rPr lang="en-US" dirty="0"/>
              <a:t>parameter = “ADAS-Cog(11)”</a:t>
            </a:r>
          </a:p>
          <a:p>
            <a:r>
              <a:rPr lang="en-US" dirty="0"/>
              <a:t>visit = “Week 24”</a:t>
            </a:r>
          </a:p>
          <a:p>
            <a:r>
              <a:rPr lang="en-US" dirty="0"/>
              <a:t>population_flag = “Y” (efficacy population)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0132" y="4767263"/>
            <a:ext cx="4676172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dirty="0"/>
              <a:t>#ClearDataClearImpact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t>Machine-Executable: Roles Define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0100" y="1111250"/>
            <a:ext cx="7886700" cy="3521473"/>
          </a:xfrm>
        </p:spPr>
        <p:txBody>
          <a:bodyPr>
            <a:normAutofit fontScale="67500" lnSpcReduction="20000"/>
          </a:bodyPr>
          <a:lstStyle/>
          <a:p>
            <a:pPr marL="0" indent="0">
              <a:buNone/>
            </a:pPr>
            <a:r>
              <a:rPr lang="en-US" noProof="0" dirty="0"/>
              <a:t>Each SDMX role has inherent computational semantics — no pseudo-code needed: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SDMX Role → Code Generation Operation</a:t>
            </a:r>
          </a:p>
          <a:p>
            <a:r>
              <a:rPr lang="en-US" dirty="0"/>
              <a:t>DIMENSION → GROUP BY / BY statement / stratification axis</a:t>
            </a:r>
          </a:p>
          <a:p>
            <a:r>
              <a:rPr lang="en-US" dirty="0"/>
              <a:t>MEASURE (input) → Function arguments / MODEL variables</a:t>
            </a:r>
          </a:p>
          <a:p>
            <a:r>
              <a:rPr lang="en-US" dirty="0"/>
              <a:t>MEASURE (output) → Return values / result columns</a:t>
            </a:r>
          </a:p>
          <a:p>
            <a:r>
              <a:rPr lang="en-US" dirty="0"/>
              <a:t>ATTRIBUTE (slice) → WHERE clause / filter condition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Why This Works:</a:t>
            </a:r>
          </a:p>
          <a:p>
            <a:r>
              <a:rPr lang="en-US" b="1" dirty="0"/>
              <a:t>Declarative, Not Procedural: </a:t>
            </a:r>
            <a:r>
              <a:rPr lang="en-US" dirty="0"/>
              <a:t>You specify the structure of input/output, not the steps</a:t>
            </a:r>
          </a:p>
          <a:p>
            <a:r>
              <a:rPr lang="en-US" b="1" dirty="0"/>
              <a:t>Platform Independent: </a:t>
            </a:r>
            <a:r>
              <a:rPr lang="en-US" dirty="0"/>
              <a:t>Same cube definition generates SAS, R, or Python</a:t>
            </a:r>
          </a:p>
          <a:p>
            <a:r>
              <a:rPr lang="en-US" b="1" dirty="0"/>
              <a:t>Unambiguous Semantics: </a:t>
            </a:r>
            <a:r>
              <a:rPr lang="en-US" dirty="0"/>
              <a:t>A generator knows exactly what to do with DIMENSION vs MEASURE</a:t>
            </a:r>
          </a:p>
          <a:p>
            <a:r>
              <a:rPr lang="en-US" b="1" dirty="0"/>
              <a:t>ISO Standardized: </a:t>
            </a:r>
            <a:r>
              <a:rPr lang="en-US" dirty="0"/>
              <a:t>SDMX (ISO 17369) is used by statistical agencies worldwide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The cube structure IS the specification. Roles carry meaning; a generator traverses the structure and emits code.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0132" y="4767263"/>
            <a:ext cx="4676172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dirty="0"/>
              <a:t>#ClearDataClearImpact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D6A95-13ED-604F-AA65-8144C0F66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t>Three-Layer Architecture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80A91-8A58-D34B-9C3A-DBCC37353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100" y="1111250"/>
            <a:ext cx="7886700" cy="352147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noProof="0" dirty="0"/>
              <a:t>Layer 1: AC/DC Instance – the derivation/analysis logic</a:t>
            </a:r>
          </a:p>
          <a:p>
            <a:pPr marL="0" indent="0">
              <a:buNone/>
            </a:pPr>
            <a:r>
              <a:rPr lang="en-US" noProof="0" dirty="0"/>
              <a:t>"What am I deriving/analyzing" </a:t>
            </a:r>
          </a:p>
          <a:p>
            <a:r>
              <a:rPr lang="en-US" noProof="0" dirty="0"/>
              <a:t>template based on semantic concepts (</a:t>
            </a:r>
            <a:r>
              <a:rPr lang="en-US" noProof="0" dirty="0" err="1"/>
              <a:t>change_value</a:t>
            </a:r>
            <a:r>
              <a:rPr lang="en-US" noProof="0" dirty="0"/>
              <a:t>, </a:t>
            </a:r>
            <a:r>
              <a:rPr lang="en-US" noProof="0" dirty="0" err="1"/>
              <a:t>baseline_value</a:t>
            </a:r>
            <a:r>
              <a:rPr lang="en-US" noProof="0" dirty="0"/>
              <a:t>)</a:t>
            </a:r>
          </a:p>
          <a:p>
            <a:r>
              <a:rPr lang="en-US" noProof="0" dirty="0"/>
              <a:t>references the Analytical Data Model via IS_A relationships</a:t>
            </a:r>
          </a:p>
          <a:p>
            <a:pPr marL="0" indent="0">
              <a:buNone/>
            </a:pPr>
            <a:endParaRPr lang="en-US" sz="1600" noProof="0" dirty="0"/>
          </a:p>
          <a:p>
            <a:pPr marL="0" indent="0">
              <a:buNone/>
            </a:pPr>
            <a:r>
              <a:rPr lang="en-US" b="1" noProof="0" dirty="0"/>
              <a:t>Layer 2: Analytical Data Model</a:t>
            </a:r>
          </a:p>
          <a:p>
            <a:pPr marL="0" indent="0">
              <a:buNone/>
            </a:pPr>
            <a:r>
              <a:rPr lang="en-US" noProof="0" dirty="0"/>
              <a:t>”Definitions of analytical concepts and their relationships, if any</a:t>
            </a:r>
          </a:p>
          <a:p>
            <a:r>
              <a:rPr lang="en-US" dirty="0"/>
              <a:t>s</a:t>
            </a:r>
            <a:r>
              <a:rPr lang="en-US" noProof="0" dirty="0" err="1"/>
              <a:t>tudy</a:t>
            </a:r>
            <a:r>
              <a:rPr lang="en-US" noProof="0" dirty="0"/>
              <a:t>-independent</a:t>
            </a:r>
          </a:p>
          <a:p>
            <a:r>
              <a:rPr lang="en-US" dirty="0"/>
              <a:t>g</a:t>
            </a:r>
            <a:r>
              <a:rPr lang="en-US" noProof="0" dirty="0" err="1"/>
              <a:t>eneric</a:t>
            </a:r>
            <a:r>
              <a:rPr lang="en-US" noProof="0" dirty="0"/>
              <a:t> definition of </a:t>
            </a:r>
            <a:r>
              <a:rPr lang="en-US" noProof="0" dirty="0" err="1"/>
              <a:t>change_value</a:t>
            </a:r>
            <a:r>
              <a:rPr lang="en-US" noProof="0" dirty="0"/>
              <a:t>, </a:t>
            </a:r>
            <a:r>
              <a:rPr lang="en-US" noProof="0" dirty="0" err="1"/>
              <a:t>baseline_value</a:t>
            </a:r>
            <a:r>
              <a:rPr lang="en-US" noProof="0" dirty="0"/>
              <a:t>, treatment, </a:t>
            </a:r>
            <a:r>
              <a:rPr lang="en-US" noProof="0" dirty="0" err="1"/>
              <a:t>LSMean</a:t>
            </a:r>
            <a:r>
              <a:rPr lang="en-US" noProof="0" dirty="0"/>
              <a:t>, p-value, min, max, mean…</a:t>
            </a:r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r>
              <a:rPr lang="en-US" b="1" noProof="0" dirty="0"/>
              <a:t>Layer 3: Implementation/presentation layer</a:t>
            </a:r>
          </a:p>
          <a:p>
            <a:pPr marL="0" indent="0">
              <a:buNone/>
            </a:pPr>
            <a:r>
              <a:rPr lang="en-US" noProof="0" dirty="0"/>
              <a:t>"Where is my data?" — Study-specific</a:t>
            </a:r>
          </a:p>
          <a:p>
            <a:r>
              <a:rPr lang="en-US" dirty="0"/>
              <a:t>How does my presentation layer relate to the Analytical Data Model – the mapping</a:t>
            </a:r>
            <a:endParaRPr lang="en-US" noProof="0" dirty="0"/>
          </a:p>
          <a:p>
            <a:pPr marL="0" indent="0">
              <a:buNone/>
            </a:pPr>
            <a:r>
              <a:rPr lang="en-US" dirty="0" err="1"/>
              <a:t>change_value</a:t>
            </a:r>
            <a:r>
              <a:rPr lang="en-US" dirty="0"/>
              <a:t> </a:t>
            </a:r>
            <a:r>
              <a:rPr lang="en-GB" dirty="0"/>
              <a:t>←</a:t>
            </a:r>
            <a:r>
              <a:rPr lang="en-US" dirty="0"/>
              <a:t>  </a:t>
            </a:r>
            <a:r>
              <a:rPr lang="en-US" noProof="0" dirty="0"/>
              <a:t>CHG </a:t>
            </a:r>
            <a:r>
              <a:rPr lang="en-GB" dirty="0"/>
              <a:t>←</a:t>
            </a:r>
            <a:r>
              <a:rPr lang="en-US" noProof="0" dirty="0"/>
              <a:t> ADQSADAS.CHG, </a:t>
            </a:r>
          </a:p>
          <a:p>
            <a:pPr marL="0" indent="0">
              <a:buNone/>
            </a:pPr>
            <a:r>
              <a:rPr lang="en-GB" dirty="0"/>
              <a:t>treatment ← TRT01P ← ADQSADAS.TRT01P </a:t>
            </a:r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r>
              <a:rPr lang="en-US" b="1" noProof="0" dirty="0"/>
              <a:t>Same analysis, different study? Only Layer 3 changes.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0CA00-99F7-3E44-A839-0402F441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0132" y="4767263"/>
            <a:ext cx="4676172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dirty="0"/>
              <a:t>#</a:t>
            </a:r>
            <a:r>
              <a:rPr dirty="0" err="1"/>
              <a:t>ClearDataClearImpact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D6A95-13ED-604F-AA65-8144C0F66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t>AC/DC Templates: Reusable Patterns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80A91-8A58-D34B-9C3A-DBCC37353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100" y="1119981"/>
            <a:ext cx="7886700" cy="3521473"/>
          </a:xfrm>
          <a:noFill/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b="1" dirty="0"/>
              <a:t>Templates assign SDMX cube roles to concepts:</a:t>
            </a:r>
          </a:p>
          <a:p>
            <a:pPr marL="0" indent="0">
              <a:buNone/>
            </a:pPr>
            <a:endParaRPr sz="1600" b="1" dirty="0"/>
          </a:p>
          <a:p>
            <a:pPr marL="0" indent="0">
              <a:buNone/>
            </a:pPr>
            <a:r>
              <a:rPr b="1" dirty="0"/>
              <a:t>Template: </a:t>
            </a:r>
            <a:r>
              <a:rPr b="1" dirty="0" err="1"/>
              <a:t>T_DC_ChangeFromBaseline</a:t>
            </a:r>
            <a:endParaRPr b="1" dirty="0"/>
          </a:p>
          <a:p>
            <a:pPr marL="0" indent="0">
              <a:buNone/>
            </a:pPr>
            <a:r>
              <a:rPr dirty="0"/>
              <a:t>Input: subject, visit, parameter (dimension); </a:t>
            </a:r>
            <a:r>
              <a:rPr dirty="0" err="1"/>
              <a:t>analysis_value</a:t>
            </a:r>
            <a:r>
              <a:rPr dirty="0"/>
              <a:t>, </a:t>
            </a:r>
            <a:r>
              <a:rPr dirty="0" err="1"/>
              <a:t>baseline_value</a:t>
            </a:r>
            <a:r>
              <a:rPr dirty="0"/>
              <a:t> (measure)</a:t>
            </a:r>
          </a:p>
          <a:p>
            <a:pPr marL="0" indent="0">
              <a:buNone/>
            </a:pPr>
            <a:r>
              <a:rPr dirty="0"/>
              <a:t>Output: </a:t>
            </a:r>
            <a:r>
              <a:rPr dirty="0" err="1"/>
              <a:t>change_value</a:t>
            </a:r>
            <a:r>
              <a:rPr dirty="0"/>
              <a:t> (measure)</a:t>
            </a:r>
          </a:p>
          <a:p>
            <a:pPr marL="0" indent="0">
              <a:buNone/>
            </a:pPr>
            <a:r>
              <a:rPr dirty="0"/>
              <a:t>Method: target = </a:t>
            </a:r>
            <a:r>
              <a:rPr dirty="0" err="1"/>
              <a:t>analysis_value</a:t>
            </a:r>
            <a:r>
              <a:rPr dirty="0"/>
              <a:t> - </a:t>
            </a:r>
            <a:r>
              <a:rPr dirty="0" err="1"/>
              <a:t>baseline_value</a:t>
            </a:r>
            <a:endParaRPr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b="1" dirty="0"/>
              <a:t>Template: T_AC_ANCOVA</a:t>
            </a:r>
          </a:p>
          <a:p>
            <a:pPr marL="0" indent="0">
              <a:buNone/>
            </a:pPr>
            <a:r>
              <a:rPr dirty="0"/>
              <a:t>Input: subject (dimension); treatment, site (dimension/factor)</a:t>
            </a:r>
          </a:p>
          <a:p>
            <a:pPr marL="0" indent="0">
              <a:buNone/>
            </a:pPr>
            <a:r>
              <a:rPr dirty="0"/>
              <a:t>Input: </a:t>
            </a:r>
            <a:r>
              <a:rPr dirty="0" err="1"/>
              <a:t>change_value</a:t>
            </a:r>
            <a:r>
              <a:rPr dirty="0"/>
              <a:t> (measure/dependent); </a:t>
            </a:r>
            <a:r>
              <a:rPr dirty="0" err="1"/>
              <a:t>baseline_value</a:t>
            </a:r>
            <a:r>
              <a:rPr dirty="0"/>
              <a:t> (measure/covariate)</a:t>
            </a:r>
          </a:p>
          <a:p>
            <a:pPr marL="0" indent="0">
              <a:buNone/>
            </a:pPr>
            <a:r>
              <a:rPr dirty="0"/>
              <a:t>Output: </a:t>
            </a:r>
            <a:r>
              <a:rPr dirty="0" err="1"/>
              <a:t>lsmean</a:t>
            </a:r>
            <a:r>
              <a:rPr dirty="0"/>
              <a:t>, se, </a:t>
            </a:r>
            <a:r>
              <a:rPr dirty="0" err="1"/>
              <a:t>ci_lower</a:t>
            </a:r>
            <a:r>
              <a:rPr dirty="0"/>
              <a:t>, </a:t>
            </a:r>
            <a:r>
              <a:rPr dirty="0" err="1"/>
              <a:t>ci_upper</a:t>
            </a:r>
            <a:r>
              <a:rPr dirty="0"/>
              <a:t> (measure)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b="1" dirty="0"/>
              <a:t>Key insight:</a:t>
            </a:r>
          </a:p>
          <a:p>
            <a:pPr marL="0" indent="0">
              <a:buNone/>
            </a:pPr>
            <a:r>
              <a:rPr dirty="0"/>
              <a:t>Concepts come from Analytical Data Model</a:t>
            </a:r>
          </a:p>
          <a:p>
            <a:pPr marL="0" indent="0">
              <a:buNone/>
            </a:pPr>
            <a:r>
              <a:rPr dirty="0"/>
              <a:t>Roles (dimension, measure, factor, dependent) come from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0CA00-99F7-3E44-A839-0402F441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0132" y="4767263"/>
            <a:ext cx="4676172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t>#ClearDataClearImpact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D06E7-9EE3-189C-7D9C-0B4B152CE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framework - conceptually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C28590-4D24-DB01-A75D-06E170E33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t>14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C20A63-38E5-2C92-3118-7A04F00E6B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#</a:t>
            </a:r>
            <a:r>
              <a:rPr lang="en-US" dirty="0" err="1"/>
              <a:t>ClearDataClearImpact</a:t>
            </a:r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E5BA104-B5C1-566E-A790-A61C53608534}"/>
              </a:ext>
            </a:extLst>
          </p:cNvPr>
          <p:cNvSpPr/>
          <p:nvPr/>
        </p:nvSpPr>
        <p:spPr>
          <a:xfrm>
            <a:off x="800100" y="1167688"/>
            <a:ext cx="2702011" cy="327865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sz="1200" dirty="0">
                <a:solidFill>
                  <a:schemeClr val="accent1"/>
                </a:solidFill>
              </a:rPr>
              <a:t>Analysis/derivation specification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291BBC8-83E8-E8DC-75D5-A46BE9ACF4E9}"/>
              </a:ext>
            </a:extLst>
          </p:cNvPr>
          <p:cNvSpPr/>
          <p:nvPr/>
        </p:nvSpPr>
        <p:spPr>
          <a:xfrm>
            <a:off x="3915315" y="1169770"/>
            <a:ext cx="2030061" cy="327865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sz="1200" dirty="0">
                <a:solidFill>
                  <a:schemeClr val="accent2">
                    <a:lumMod val="50000"/>
                  </a:schemeClr>
                </a:solidFill>
              </a:rPr>
              <a:t>Analytical Data Model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F797E4D-D32F-6E95-9F97-07B524AAB1BB}"/>
              </a:ext>
            </a:extLst>
          </p:cNvPr>
          <p:cNvSpPr/>
          <p:nvPr/>
        </p:nvSpPr>
        <p:spPr>
          <a:xfrm>
            <a:off x="6358580" y="1167687"/>
            <a:ext cx="2702011" cy="3278659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sz="1200" dirty="0">
                <a:solidFill>
                  <a:schemeClr val="accent3"/>
                </a:solidFill>
              </a:rPr>
              <a:t>Standard/Study Implementation</a:t>
            </a:r>
          </a:p>
        </p:txBody>
      </p:sp>
      <p:cxnSp>
        <p:nvCxnSpPr>
          <p:cNvPr id="9" name="Curved Connector 8">
            <a:extLst>
              <a:ext uri="{FF2B5EF4-FFF2-40B4-BE49-F238E27FC236}">
                <a16:creationId xmlns:a16="http://schemas.microsoft.com/office/drawing/2014/main" id="{635ED4C4-0920-3F9E-FE9A-FE18464C29D6}"/>
              </a:ext>
            </a:extLst>
          </p:cNvPr>
          <p:cNvCxnSpPr>
            <a:cxnSpLocks/>
            <a:stCxn id="26" idx="3"/>
            <a:endCxn id="92" idx="1"/>
          </p:cNvCxnSpPr>
          <p:nvPr/>
        </p:nvCxnSpPr>
        <p:spPr>
          <a:xfrm flipV="1">
            <a:off x="3377722" y="2088113"/>
            <a:ext cx="1145380" cy="481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8C5ECFA-A2F0-3BC3-5EFD-B63EAC0AC6B6}"/>
              </a:ext>
            </a:extLst>
          </p:cNvPr>
          <p:cNvSpPr txBox="1"/>
          <p:nvPr/>
        </p:nvSpPr>
        <p:spPr>
          <a:xfrm>
            <a:off x="3930049" y="1866141"/>
            <a:ext cx="4443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050" dirty="0" err="1">
                <a:solidFill>
                  <a:schemeClr val="accent2">
                    <a:lumMod val="50000"/>
                  </a:schemeClr>
                </a:solidFill>
              </a:rPr>
              <a:t>is_a</a:t>
            </a:r>
            <a:endParaRPr lang="en-GB" sz="105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1E8236-DA78-5C64-76E3-36ECED208FEF}"/>
              </a:ext>
            </a:extLst>
          </p:cNvPr>
          <p:cNvSpPr txBox="1"/>
          <p:nvPr/>
        </p:nvSpPr>
        <p:spPr>
          <a:xfrm>
            <a:off x="5440880" y="1851057"/>
            <a:ext cx="4443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050" dirty="0" err="1">
                <a:solidFill>
                  <a:schemeClr val="accent2">
                    <a:lumMod val="50000"/>
                  </a:schemeClr>
                </a:solidFill>
              </a:rPr>
              <a:t>is_a</a:t>
            </a:r>
            <a:endParaRPr lang="en-GB" sz="105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EEB8B33-3E14-97B2-1174-2BE05801D6AC}"/>
              </a:ext>
            </a:extLst>
          </p:cNvPr>
          <p:cNvSpPr/>
          <p:nvPr/>
        </p:nvSpPr>
        <p:spPr>
          <a:xfrm>
            <a:off x="946455" y="1698431"/>
            <a:ext cx="594804" cy="3107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AC/DC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D13ED4B9-D737-1AC2-5DE2-32C9721F6697}"/>
              </a:ext>
            </a:extLst>
          </p:cNvPr>
          <p:cNvSpPr/>
          <p:nvPr/>
        </p:nvSpPr>
        <p:spPr>
          <a:xfrm>
            <a:off x="946455" y="2555197"/>
            <a:ext cx="594804" cy="3107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Method</a:t>
            </a:r>
          </a:p>
        </p:txBody>
      </p: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5DC800B1-C268-3C15-88F1-DC97264B3BA3}"/>
              </a:ext>
            </a:extLst>
          </p:cNvPr>
          <p:cNvCxnSpPr>
            <a:cxnSpLocks/>
            <a:stCxn id="18" idx="0"/>
            <a:endCxn id="17" idx="2"/>
          </p:cNvCxnSpPr>
          <p:nvPr/>
        </p:nvCxnSpPr>
        <p:spPr>
          <a:xfrm rot="5400000" flipH="1" flipV="1">
            <a:off x="970834" y="2282174"/>
            <a:ext cx="546047" cy="12700"/>
          </a:xfrm>
          <a:prstGeom prst="curvedConnector3">
            <a:avLst/>
          </a:prstGeom>
          <a:ln cap="rnd">
            <a:miter lim="800000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15E25D77-F980-9EFF-877A-406EE2F069AA}"/>
              </a:ext>
            </a:extLst>
          </p:cNvPr>
          <p:cNvSpPr/>
          <p:nvPr/>
        </p:nvSpPr>
        <p:spPr>
          <a:xfrm>
            <a:off x="1809808" y="2054455"/>
            <a:ext cx="594804" cy="3107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Input Cube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4463FBDF-13D9-1B90-EBE9-E379808C0A2C}"/>
              </a:ext>
            </a:extLst>
          </p:cNvPr>
          <p:cNvSpPr/>
          <p:nvPr/>
        </p:nvSpPr>
        <p:spPr>
          <a:xfrm>
            <a:off x="1809808" y="3082048"/>
            <a:ext cx="594804" cy="3107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Output Cube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DD283D98-A7F0-D2F8-4BEE-C5AC77323BBB}"/>
              </a:ext>
            </a:extLst>
          </p:cNvPr>
          <p:cNvSpPr/>
          <p:nvPr/>
        </p:nvSpPr>
        <p:spPr>
          <a:xfrm>
            <a:off x="946455" y="3210813"/>
            <a:ext cx="594804" cy="3107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Slice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41627F2F-FF20-1EEA-529E-610A0ED8CF19}"/>
              </a:ext>
            </a:extLst>
          </p:cNvPr>
          <p:cNvSpPr/>
          <p:nvPr/>
        </p:nvSpPr>
        <p:spPr>
          <a:xfrm>
            <a:off x="2782918" y="1937565"/>
            <a:ext cx="594804" cy="3107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/>
              <a:t>Dimension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4F8BADD9-526A-81C6-3FC5-8333925EBA28}"/>
              </a:ext>
            </a:extLst>
          </p:cNvPr>
          <p:cNvSpPr/>
          <p:nvPr/>
        </p:nvSpPr>
        <p:spPr>
          <a:xfrm>
            <a:off x="2782918" y="3433241"/>
            <a:ext cx="594804" cy="3107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/>
              <a:t>Attribute</a:t>
            </a:r>
          </a:p>
        </p:txBody>
      </p: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D7ACE31E-6C38-F2CB-4B45-F4C55FB22136}"/>
              </a:ext>
            </a:extLst>
          </p:cNvPr>
          <p:cNvCxnSpPr>
            <a:cxnSpLocks/>
            <a:stCxn id="18" idx="3"/>
            <a:endCxn id="21" idx="1"/>
          </p:cNvCxnSpPr>
          <p:nvPr/>
        </p:nvCxnSpPr>
        <p:spPr>
          <a:xfrm flipV="1">
            <a:off x="1541259" y="2209815"/>
            <a:ext cx="268549" cy="500742"/>
          </a:xfrm>
          <a:prstGeom prst="curvedConnector3">
            <a:avLst>
              <a:gd name="adj1" fmla="val 50000"/>
            </a:avLst>
          </a:prstGeom>
          <a:ln cap="rnd">
            <a:miter lim="800000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urved Connector 31">
            <a:extLst>
              <a:ext uri="{FF2B5EF4-FFF2-40B4-BE49-F238E27FC236}">
                <a16:creationId xmlns:a16="http://schemas.microsoft.com/office/drawing/2014/main" id="{5EF508A9-64B9-488D-36FF-4F80B1B0961E}"/>
              </a:ext>
            </a:extLst>
          </p:cNvPr>
          <p:cNvCxnSpPr>
            <a:cxnSpLocks/>
            <a:stCxn id="18" idx="3"/>
            <a:endCxn id="22" idx="1"/>
          </p:cNvCxnSpPr>
          <p:nvPr/>
        </p:nvCxnSpPr>
        <p:spPr>
          <a:xfrm>
            <a:off x="1541259" y="2710557"/>
            <a:ext cx="268549" cy="526851"/>
          </a:xfrm>
          <a:prstGeom prst="curvedConnector3">
            <a:avLst>
              <a:gd name="adj1" fmla="val 50000"/>
            </a:avLst>
          </a:prstGeom>
          <a:ln cap="rnd">
            <a:miter lim="800000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urved Connector 34">
            <a:extLst>
              <a:ext uri="{FF2B5EF4-FFF2-40B4-BE49-F238E27FC236}">
                <a16:creationId xmlns:a16="http://schemas.microsoft.com/office/drawing/2014/main" id="{6757806C-368F-6A25-40F2-233408B9A398}"/>
              </a:ext>
            </a:extLst>
          </p:cNvPr>
          <p:cNvCxnSpPr>
            <a:cxnSpLocks/>
            <a:stCxn id="21" idx="3"/>
            <a:endCxn id="26" idx="1"/>
          </p:cNvCxnSpPr>
          <p:nvPr/>
        </p:nvCxnSpPr>
        <p:spPr>
          <a:xfrm flipV="1">
            <a:off x="2404612" y="2092925"/>
            <a:ext cx="378306" cy="116890"/>
          </a:xfrm>
          <a:prstGeom prst="curvedConnector3">
            <a:avLst>
              <a:gd name="adj1" fmla="val 50000"/>
            </a:avLst>
          </a:prstGeom>
          <a:ln cap="rnd">
            <a:miter lim="800000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urved Connector 37">
            <a:extLst>
              <a:ext uri="{FF2B5EF4-FFF2-40B4-BE49-F238E27FC236}">
                <a16:creationId xmlns:a16="http://schemas.microsoft.com/office/drawing/2014/main" id="{49B2CD8F-CAB5-6E1C-DAD5-3089181A36ED}"/>
              </a:ext>
            </a:extLst>
          </p:cNvPr>
          <p:cNvCxnSpPr>
            <a:cxnSpLocks/>
            <a:stCxn id="21" idx="3"/>
            <a:endCxn id="27" idx="1"/>
          </p:cNvCxnSpPr>
          <p:nvPr/>
        </p:nvCxnSpPr>
        <p:spPr>
          <a:xfrm>
            <a:off x="2404612" y="2209815"/>
            <a:ext cx="378306" cy="630948"/>
          </a:xfrm>
          <a:prstGeom prst="curvedConnector3">
            <a:avLst>
              <a:gd name="adj1" fmla="val 50000"/>
            </a:avLst>
          </a:prstGeom>
          <a:ln cap="rnd">
            <a:miter lim="800000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urved Connector 40">
            <a:extLst>
              <a:ext uri="{FF2B5EF4-FFF2-40B4-BE49-F238E27FC236}">
                <a16:creationId xmlns:a16="http://schemas.microsoft.com/office/drawing/2014/main" id="{5D4A67CF-459A-C392-B0E0-3858836B4F48}"/>
              </a:ext>
            </a:extLst>
          </p:cNvPr>
          <p:cNvCxnSpPr>
            <a:cxnSpLocks/>
            <a:stCxn id="21" idx="3"/>
            <a:endCxn id="28" idx="1"/>
          </p:cNvCxnSpPr>
          <p:nvPr/>
        </p:nvCxnSpPr>
        <p:spPr>
          <a:xfrm>
            <a:off x="2404612" y="2209815"/>
            <a:ext cx="378306" cy="1378786"/>
          </a:xfrm>
          <a:prstGeom prst="curvedConnector3">
            <a:avLst>
              <a:gd name="adj1" fmla="val 50000"/>
            </a:avLst>
          </a:prstGeom>
          <a:ln cap="rnd">
            <a:miter lim="800000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urved Connector 43">
            <a:extLst>
              <a:ext uri="{FF2B5EF4-FFF2-40B4-BE49-F238E27FC236}">
                <a16:creationId xmlns:a16="http://schemas.microsoft.com/office/drawing/2014/main" id="{08C1CBAD-29FD-AB3A-E390-9F4087F1A25D}"/>
              </a:ext>
            </a:extLst>
          </p:cNvPr>
          <p:cNvCxnSpPr>
            <a:cxnSpLocks/>
            <a:stCxn id="22" idx="3"/>
            <a:endCxn id="26" idx="1"/>
          </p:cNvCxnSpPr>
          <p:nvPr/>
        </p:nvCxnSpPr>
        <p:spPr>
          <a:xfrm flipV="1">
            <a:off x="2404612" y="2092925"/>
            <a:ext cx="378306" cy="1144483"/>
          </a:xfrm>
          <a:prstGeom prst="curvedConnector3">
            <a:avLst>
              <a:gd name="adj1" fmla="val 50000"/>
            </a:avLst>
          </a:prstGeom>
          <a:ln cap="rnd">
            <a:miter lim="800000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urved Connector 44">
            <a:extLst>
              <a:ext uri="{FF2B5EF4-FFF2-40B4-BE49-F238E27FC236}">
                <a16:creationId xmlns:a16="http://schemas.microsoft.com/office/drawing/2014/main" id="{620886D8-C343-D9F2-381A-64453E25033A}"/>
              </a:ext>
            </a:extLst>
          </p:cNvPr>
          <p:cNvCxnSpPr>
            <a:cxnSpLocks/>
            <a:stCxn id="22" idx="3"/>
            <a:endCxn id="28" idx="1"/>
          </p:cNvCxnSpPr>
          <p:nvPr/>
        </p:nvCxnSpPr>
        <p:spPr>
          <a:xfrm>
            <a:off x="2404612" y="3237408"/>
            <a:ext cx="378306" cy="351193"/>
          </a:xfrm>
          <a:prstGeom prst="curvedConnector3">
            <a:avLst>
              <a:gd name="adj1" fmla="val 50000"/>
            </a:avLst>
          </a:prstGeom>
          <a:ln cap="rnd">
            <a:miter lim="800000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urved Connector 45">
            <a:extLst>
              <a:ext uri="{FF2B5EF4-FFF2-40B4-BE49-F238E27FC236}">
                <a16:creationId xmlns:a16="http://schemas.microsoft.com/office/drawing/2014/main" id="{65246D82-2D6D-D4E0-6145-A2FB5DF29B23}"/>
              </a:ext>
            </a:extLst>
          </p:cNvPr>
          <p:cNvCxnSpPr>
            <a:cxnSpLocks/>
            <a:stCxn id="22" idx="3"/>
            <a:endCxn id="27" idx="1"/>
          </p:cNvCxnSpPr>
          <p:nvPr/>
        </p:nvCxnSpPr>
        <p:spPr>
          <a:xfrm flipV="1">
            <a:off x="2404612" y="2840763"/>
            <a:ext cx="378306" cy="396645"/>
          </a:xfrm>
          <a:prstGeom prst="curvedConnector3">
            <a:avLst>
              <a:gd name="adj1" fmla="val 50000"/>
            </a:avLst>
          </a:prstGeom>
          <a:ln cap="rnd">
            <a:miter lim="800000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urved Connector 77">
            <a:extLst>
              <a:ext uri="{FF2B5EF4-FFF2-40B4-BE49-F238E27FC236}">
                <a16:creationId xmlns:a16="http://schemas.microsoft.com/office/drawing/2014/main" id="{324BFC58-3BE4-F562-9466-8C6D4DDB3A02}"/>
              </a:ext>
            </a:extLst>
          </p:cNvPr>
          <p:cNvCxnSpPr>
            <a:cxnSpLocks/>
            <a:stCxn id="25" idx="3"/>
            <a:endCxn id="22" idx="1"/>
          </p:cNvCxnSpPr>
          <p:nvPr/>
        </p:nvCxnSpPr>
        <p:spPr>
          <a:xfrm flipV="1">
            <a:off x="1541259" y="3237408"/>
            <a:ext cx="268549" cy="128765"/>
          </a:xfrm>
          <a:prstGeom prst="curvedConnector3">
            <a:avLst>
              <a:gd name="adj1" fmla="val 50000"/>
            </a:avLst>
          </a:prstGeom>
          <a:ln cap="rnd">
            <a:miter lim="800000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urved Connector 80">
            <a:extLst>
              <a:ext uri="{FF2B5EF4-FFF2-40B4-BE49-F238E27FC236}">
                <a16:creationId xmlns:a16="http://schemas.microsoft.com/office/drawing/2014/main" id="{CF82924A-FCB7-DF6B-AAAD-0F3360B745D0}"/>
              </a:ext>
            </a:extLst>
          </p:cNvPr>
          <p:cNvCxnSpPr>
            <a:cxnSpLocks/>
            <a:stCxn id="25" idx="3"/>
            <a:endCxn id="21" idx="1"/>
          </p:cNvCxnSpPr>
          <p:nvPr/>
        </p:nvCxnSpPr>
        <p:spPr>
          <a:xfrm flipV="1">
            <a:off x="1541259" y="2209815"/>
            <a:ext cx="268549" cy="1156358"/>
          </a:xfrm>
          <a:prstGeom prst="curvedConnector3">
            <a:avLst>
              <a:gd name="adj1" fmla="val 50000"/>
            </a:avLst>
          </a:prstGeom>
          <a:ln cap="rnd">
            <a:miter lim="800000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95B58E88-68BE-3E17-3B5F-3525620856DF}"/>
              </a:ext>
            </a:extLst>
          </p:cNvPr>
          <p:cNvSpPr/>
          <p:nvPr/>
        </p:nvSpPr>
        <p:spPr>
          <a:xfrm>
            <a:off x="4523102" y="1932753"/>
            <a:ext cx="594804" cy="310719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/>
              <a:t>Concept</a:t>
            </a:r>
          </a:p>
        </p:txBody>
      </p: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222102D0-FE97-73F2-F485-915E76CD40B2}"/>
              </a:ext>
            </a:extLst>
          </p:cNvPr>
          <p:cNvSpPr/>
          <p:nvPr/>
        </p:nvSpPr>
        <p:spPr>
          <a:xfrm>
            <a:off x="4504802" y="2677443"/>
            <a:ext cx="594804" cy="310719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/>
              <a:t>Concept</a:t>
            </a:r>
          </a:p>
        </p:txBody>
      </p: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FD50188E-82CA-1118-61CA-257BC6351911}"/>
              </a:ext>
            </a:extLst>
          </p:cNvPr>
          <p:cNvSpPr/>
          <p:nvPr/>
        </p:nvSpPr>
        <p:spPr>
          <a:xfrm>
            <a:off x="4504802" y="3432769"/>
            <a:ext cx="594804" cy="310719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/>
              <a:t>Concept</a:t>
            </a:r>
          </a:p>
        </p:txBody>
      </p:sp>
      <p:cxnSp>
        <p:nvCxnSpPr>
          <p:cNvPr id="99" name="Curved Connector 98">
            <a:extLst>
              <a:ext uri="{FF2B5EF4-FFF2-40B4-BE49-F238E27FC236}">
                <a16:creationId xmlns:a16="http://schemas.microsoft.com/office/drawing/2014/main" id="{E426F983-A135-A87E-97FA-1438993A2D87}"/>
              </a:ext>
            </a:extLst>
          </p:cNvPr>
          <p:cNvCxnSpPr>
            <a:cxnSpLocks/>
            <a:stCxn id="27" idx="3"/>
            <a:endCxn id="93" idx="1"/>
          </p:cNvCxnSpPr>
          <p:nvPr/>
        </p:nvCxnSpPr>
        <p:spPr>
          <a:xfrm flipV="1">
            <a:off x="3377722" y="2832803"/>
            <a:ext cx="1127080" cy="796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urved Connector 101">
            <a:extLst>
              <a:ext uri="{FF2B5EF4-FFF2-40B4-BE49-F238E27FC236}">
                <a16:creationId xmlns:a16="http://schemas.microsoft.com/office/drawing/2014/main" id="{64CC11AE-380B-F07D-8FA7-112494D6A43E}"/>
              </a:ext>
            </a:extLst>
          </p:cNvPr>
          <p:cNvCxnSpPr>
            <a:cxnSpLocks/>
            <a:stCxn id="28" idx="3"/>
            <a:endCxn id="94" idx="1"/>
          </p:cNvCxnSpPr>
          <p:nvPr/>
        </p:nvCxnSpPr>
        <p:spPr>
          <a:xfrm flipV="1">
            <a:off x="3377722" y="3588129"/>
            <a:ext cx="1127080" cy="47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880D5179-55E7-DE51-01EB-F78D03461610}"/>
              </a:ext>
            </a:extLst>
          </p:cNvPr>
          <p:cNvSpPr/>
          <p:nvPr/>
        </p:nvSpPr>
        <p:spPr>
          <a:xfrm>
            <a:off x="2782918" y="2685403"/>
            <a:ext cx="594804" cy="3107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/>
              <a:t>Measure</a:t>
            </a:r>
          </a:p>
        </p:txBody>
      </p:sp>
      <p:sp>
        <p:nvSpPr>
          <p:cNvPr id="167" name="Rounded Rectangle 166">
            <a:extLst>
              <a:ext uri="{FF2B5EF4-FFF2-40B4-BE49-F238E27FC236}">
                <a16:creationId xmlns:a16="http://schemas.microsoft.com/office/drawing/2014/main" id="{F66C2853-735A-B32B-C799-F8C3C87B2806}"/>
              </a:ext>
            </a:extLst>
          </p:cNvPr>
          <p:cNvSpPr/>
          <p:nvPr/>
        </p:nvSpPr>
        <p:spPr>
          <a:xfrm>
            <a:off x="6710473" y="1853790"/>
            <a:ext cx="594804" cy="310719"/>
          </a:xfrm>
          <a:prstGeom prst="roundRect">
            <a:avLst/>
          </a:prstGeom>
          <a:solidFill>
            <a:schemeClr val="accent3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 err="1"/>
              <a:t>ADaM</a:t>
            </a:r>
            <a:r>
              <a:rPr lang="en-GB" sz="600" dirty="0"/>
              <a:t> Standard Variable</a:t>
            </a:r>
          </a:p>
        </p:txBody>
      </p:sp>
      <p:sp>
        <p:nvSpPr>
          <p:cNvPr id="168" name="Rounded Rectangle 167">
            <a:extLst>
              <a:ext uri="{FF2B5EF4-FFF2-40B4-BE49-F238E27FC236}">
                <a16:creationId xmlns:a16="http://schemas.microsoft.com/office/drawing/2014/main" id="{B4378404-4071-D206-1A87-B0B9E04F6E1B}"/>
              </a:ext>
            </a:extLst>
          </p:cNvPr>
          <p:cNvSpPr/>
          <p:nvPr/>
        </p:nvSpPr>
        <p:spPr>
          <a:xfrm>
            <a:off x="7602679" y="1692524"/>
            <a:ext cx="594804" cy="310719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 err="1"/>
              <a:t>ADaM</a:t>
            </a:r>
            <a:r>
              <a:rPr lang="en-GB" sz="600" dirty="0"/>
              <a:t> Sponsor Variable</a:t>
            </a:r>
          </a:p>
        </p:txBody>
      </p:sp>
      <p:sp>
        <p:nvSpPr>
          <p:cNvPr id="169" name="Rounded Rectangle 168">
            <a:extLst>
              <a:ext uri="{FF2B5EF4-FFF2-40B4-BE49-F238E27FC236}">
                <a16:creationId xmlns:a16="http://schemas.microsoft.com/office/drawing/2014/main" id="{A14DEAC8-2BE9-FE75-23CC-96360661ADDB}"/>
              </a:ext>
            </a:extLst>
          </p:cNvPr>
          <p:cNvSpPr/>
          <p:nvPr/>
        </p:nvSpPr>
        <p:spPr>
          <a:xfrm>
            <a:off x="8402640" y="2046151"/>
            <a:ext cx="594804" cy="310719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 err="1"/>
              <a:t>ADaM</a:t>
            </a:r>
            <a:r>
              <a:rPr lang="en-GB" sz="600" dirty="0"/>
              <a:t> Sponsor Dataset</a:t>
            </a:r>
          </a:p>
        </p:txBody>
      </p:sp>
      <p:sp>
        <p:nvSpPr>
          <p:cNvPr id="170" name="Rounded Rectangle 169">
            <a:extLst>
              <a:ext uri="{FF2B5EF4-FFF2-40B4-BE49-F238E27FC236}">
                <a16:creationId xmlns:a16="http://schemas.microsoft.com/office/drawing/2014/main" id="{19A18A40-B5B4-EE1D-F25B-47D9F28098EC}"/>
              </a:ext>
            </a:extLst>
          </p:cNvPr>
          <p:cNvSpPr/>
          <p:nvPr/>
        </p:nvSpPr>
        <p:spPr>
          <a:xfrm>
            <a:off x="6714624" y="2226522"/>
            <a:ext cx="594804" cy="310719"/>
          </a:xfrm>
          <a:prstGeom prst="roundRect">
            <a:avLst/>
          </a:prstGeom>
          <a:solidFill>
            <a:schemeClr val="accent3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 err="1"/>
              <a:t>ADaM</a:t>
            </a:r>
            <a:r>
              <a:rPr lang="en-GB" sz="600" dirty="0"/>
              <a:t> Standard Variable</a:t>
            </a:r>
          </a:p>
        </p:txBody>
      </p:sp>
      <p:sp>
        <p:nvSpPr>
          <p:cNvPr id="172" name="Rounded Rectangle 171">
            <a:extLst>
              <a:ext uri="{FF2B5EF4-FFF2-40B4-BE49-F238E27FC236}">
                <a16:creationId xmlns:a16="http://schemas.microsoft.com/office/drawing/2014/main" id="{FF88711C-3B72-0E9C-B510-F2BFED34DE81}"/>
              </a:ext>
            </a:extLst>
          </p:cNvPr>
          <p:cNvSpPr/>
          <p:nvPr/>
        </p:nvSpPr>
        <p:spPr>
          <a:xfrm>
            <a:off x="7602679" y="2046151"/>
            <a:ext cx="594804" cy="310719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 err="1"/>
              <a:t>ADaM</a:t>
            </a:r>
            <a:r>
              <a:rPr lang="en-GB" sz="600" dirty="0"/>
              <a:t> Sponsor Variable</a:t>
            </a:r>
          </a:p>
        </p:txBody>
      </p:sp>
      <p:sp>
        <p:nvSpPr>
          <p:cNvPr id="173" name="Rounded Rectangle 172">
            <a:extLst>
              <a:ext uri="{FF2B5EF4-FFF2-40B4-BE49-F238E27FC236}">
                <a16:creationId xmlns:a16="http://schemas.microsoft.com/office/drawing/2014/main" id="{F80DD00F-30E8-4AF6-1088-F99047BCB8CE}"/>
              </a:ext>
            </a:extLst>
          </p:cNvPr>
          <p:cNvSpPr/>
          <p:nvPr/>
        </p:nvSpPr>
        <p:spPr>
          <a:xfrm>
            <a:off x="7602679" y="2441361"/>
            <a:ext cx="594804" cy="310719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 err="1"/>
              <a:t>ADaM</a:t>
            </a:r>
            <a:r>
              <a:rPr lang="en-GB" sz="600" dirty="0"/>
              <a:t> Sponsor Variable</a:t>
            </a:r>
          </a:p>
        </p:txBody>
      </p:sp>
      <p:cxnSp>
        <p:nvCxnSpPr>
          <p:cNvPr id="174" name="Curved Connector 173">
            <a:extLst>
              <a:ext uri="{FF2B5EF4-FFF2-40B4-BE49-F238E27FC236}">
                <a16:creationId xmlns:a16="http://schemas.microsoft.com/office/drawing/2014/main" id="{458C293C-2474-D3BB-E51C-CDBE26ED9C9E}"/>
              </a:ext>
            </a:extLst>
          </p:cNvPr>
          <p:cNvCxnSpPr>
            <a:cxnSpLocks/>
            <a:stCxn id="169" idx="1"/>
            <a:endCxn id="168" idx="3"/>
          </p:cNvCxnSpPr>
          <p:nvPr/>
        </p:nvCxnSpPr>
        <p:spPr>
          <a:xfrm rot="10800000">
            <a:off x="8197484" y="1847885"/>
            <a:ext cx="205157" cy="353627"/>
          </a:xfrm>
          <a:prstGeom prst="curvedConnector3">
            <a:avLst>
              <a:gd name="adj1" fmla="val 50000"/>
            </a:avLst>
          </a:prstGeom>
          <a:ln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Curved Connector 176">
            <a:extLst>
              <a:ext uri="{FF2B5EF4-FFF2-40B4-BE49-F238E27FC236}">
                <a16:creationId xmlns:a16="http://schemas.microsoft.com/office/drawing/2014/main" id="{44052915-A687-F024-D4B3-13B07524C91A}"/>
              </a:ext>
            </a:extLst>
          </p:cNvPr>
          <p:cNvCxnSpPr>
            <a:cxnSpLocks/>
            <a:stCxn id="169" idx="1"/>
            <a:endCxn id="172" idx="3"/>
          </p:cNvCxnSpPr>
          <p:nvPr/>
        </p:nvCxnSpPr>
        <p:spPr>
          <a:xfrm rot="10800000">
            <a:off x="8197484" y="2201511"/>
            <a:ext cx="205157" cy="12700"/>
          </a:xfrm>
          <a:prstGeom prst="curvedConnector3">
            <a:avLst>
              <a:gd name="adj1" fmla="val 50000"/>
            </a:avLst>
          </a:prstGeom>
          <a:ln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Curved Connector 179">
            <a:extLst>
              <a:ext uri="{FF2B5EF4-FFF2-40B4-BE49-F238E27FC236}">
                <a16:creationId xmlns:a16="http://schemas.microsoft.com/office/drawing/2014/main" id="{34B8A817-8CA7-235B-A4BD-94BDE828D4AD}"/>
              </a:ext>
            </a:extLst>
          </p:cNvPr>
          <p:cNvCxnSpPr>
            <a:cxnSpLocks/>
            <a:stCxn id="169" idx="1"/>
            <a:endCxn id="173" idx="3"/>
          </p:cNvCxnSpPr>
          <p:nvPr/>
        </p:nvCxnSpPr>
        <p:spPr>
          <a:xfrm rot="10800000" flipV="1">
            <a:off x="8197484" y="2201511"/>
            <a:ext cx="205157" cy="395210"/>
          </a:xfrm>
          <a:prstGeom prst="curvedConnector3">
            <a:avLst>
              <a:gd name="adj1" fmla="val 50000"/>
            </a:avLst>
          </a:prstGeom>
          <a:ln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Curved Connector 185">
            <a:extLst>
              <a:ext uri="{FF2B5EF4-FFF2-40B4-BE49-F238E27FC236}">
                <a16:creationId xmlns:a16="http://schemas.microsoft.com/office/drawing/2014/main" id="{02DD08F3-421A-0C0F-2AA9-0F078C9793E2}"/>
              </a:ext>
            </a:extLst>
          </p:cNvPr>
          <p:cNvCxnSpPr>
            <a:cxnSpLocks/>
            <a:stCxn id="173" idx="1"/>
            <a:endCxn id="170" idx="3"/>
          </p:cNvCxnSpPr>
          <p:nvPr/>
        </p:nvCxnSpPr>
        <p:spPr>
          <a:xfrm rot="10800000">
            <a:off x="7309429" y="2381883"/>
            <a:ext cx="293251" cy="214839"/>
          </a:xfrm>
          <a:prstGeom prst="curvedConnector3">
            <a:avLst>
              <a:gd name="adj1" fmla="val 50000"/>
            </a:avLst>
          </a:prstGeom>
          <a:ln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Curved Connector 188">
            <a:extLst>
              <a:ext uri="{FF2B5EF4-FFF2-40B4-BE49-F238E27FC236}">
                <a16:creationId xmlns:a16="http://schemas.microsoft.com/office/drawing/2014/main" id="{6592C3E8-7209-A378-0CE9-93CB2DE355B7}"/>
              </a:ext>
            </a:extLst>
          </p:cNvPr>
          <p:cNvCxnSpPr>
            <a:cxnSpLocks/>
            <a:stCxn id="168" idx="1"/>
            <a:endCxn id="167" idx="3"/>
          </p:cNvCxnSpPr>
          <p:nvPr/>
        </p:nvCxnSpPr>
        <p:spPr>
          <a:xfrm rot="10800000" flipV="1">
            <a:off x="7305277" y="1847884"/>
            <a:ext cx="297402" cy="161266"/>
          </a:xfrm>
          <a:prstGeom prst="curvedConnector3">
            <a:avLst>
              <a:gd name="adj1" fmla="val 50000"/>
            </a:avLst>
          </a:prstGeom>
          <a:ln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Curved Connector 191">
            <a:extLst>
              <a:ext uri="{FF2B5EF4-FFF2-40B4-BE49-F238E27FC236}">
                <a16:creationId xmlns:a16="http://schemas.microsoft.com/office/drawing/2014/main" id="{E15F5760-3291-C6E0-7E05-426EE1B42D17}"/>
              </a:ext>
            </a:extLst>
          </p:cNvPr>
          <p:cNvCxnSpPr>
            <a:cxnSpLocks/>
            <a:stCxn id="172" idx="1"/>
            <a:endCxn id="167" idx="3"/>
          </p:cNvCxnSpPr>
          <p:nvPr/>
        </p:nvCxnSpPr>
        <p:spPr>
          <a:xfrm rot="10800000">
            <a:off x="7305277" y="2009151"/>
            <a:ext cx="297402" cy="192361"/>
          </a:xfrm>
          <a:prstGeom prst="curvedConnector3">
            <a:avLst>
              <a:gd name="adj1" fmla="val 50000"/>
            </a:avLst>
          </a:prstGeom>
          <a:ln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Curved Connector 194">
            <a:extLst>
              <a:ext uri="{FF2B5EF4-FFF2-40B4-BE49-F238E27FC236}">
                <a16:creationId xmlns:a16="http://schemas.microsoft.com/office/drawing/2014/main" id="{C1F30A6A-F170-3D5B-AC93-2EC712B2C620}"/>
              </a:ext>
            </a:extLst>
          </p:cNvPr>
          <p:cNvCxnSpPr>
            <a:cxnSpLocks/>
            <a:stCxn id="167" idx="1"/>
            <a:endCxn id="92" idx="3"/>
          </p:cNvCxnSpPr>
          <p:nvPr/>
        </p:nvCxnSpPr>
        <p:spPr>
          <a:xfrm rot="10800000" flipV="1">
            <a:off x="5117907" y="2009149"/>
            <a:ext cx="1592567" cy="7896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Rounded Rectangle 209">
            <a:extLst>
              <a:ext uri="{FF2B5EF4-FFF2-40B4-BE49-F238E27FC236}">
                <a16:creationId xmlns:a16="http://schemas.microsoft.com/office/drawing/2014/main" id="{DDAF385E-20C5-5AAA-F517-00CA72E46301}"/>
              </a:ext>
            </a:extLst>
          </p:cNvPr>
          <p:cNvSpPr/>
          <p:nvPr/>
        </p:nvSpPr>
        <p:spPr>
          <a:xfrm>
            <a:off x="8402640" y="3366173"/>
            <a:ext cx="563365" cy="310719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/>
              <a:t>Analysis Output Dataset</a:t>
            </a:r>
          </a:p>
        </p:txBody>
      </p:sp>
      <p:sp>
        <p:nvSpPr>
          <p:cNvPr id="211" name="Rounded Rectangle 210">
            <a:extLst>
              <a:ext uri="{FF2B5EF4-FFF2-40B4-BE49-F238E27FC236}">
                <a16:creationId xmlns:a16="http://schemas.microsoft.com/office/drawing/2014/main" id="{25A35903-F04E-FA1A-CE7C-D985CB9423E8}"/>
              </a:ext>
            </a:extLst>
          </p:cNvPr>
          <p:cNvSpPr/>
          <p:nvPr/>
        </p:nvSpPr>
        <p:spPr>
          <a:xfrm>
            <a:off x="6580883" y="2988162"/>
            <a:ext cx="632424" cy="310719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/>
              <a:t>Dimension Component</a:t>
            </a:r>
            <a:endParaRPr lang="en-GB" sz="400" dirty="0"/>
          </a:p>
        </p:txBody>
      </p:sp>
      <p:sp>
        <p:nvSpPr>
          <p:cNvPr id="212" name="Rounded Rectangle 211">
            <a:extLst>
              <a:ext uri="{FF2B5EF4-FFF2-40B4-BE49-F238E27FC236}">
                <a16:creationId xmlns:a16="http://schemas.microsoft.com/office/drawing/2014/main" id="{56AC64E6-6698-42D3-2DFA-706CB1999758}"/>
              </a:ext>
            </a:extLst>
          </p:cNvPr>
          <p:cNvSpPr/>
          <p:nvPr/>
        </p:nvSpPr>
        <p:spPr>
          <a:xfrm>
            <a:off x="6580883" y="3471782"/>
            <a:ext cx="632424" cy="310719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/>
              <a:t>Measure Component</a:t>
            </a:r>
            <a:endParaRPr lang="en-GB" sz="400" dirty="0"/>
          </a:p>
        </p:txBody>
      </p:sp>
      <p:sp>
        <p:nvSpPr>
          <p:cNvPr id="213" name="Rounded Rectangle 212">
            <a:extLst>
              <a:ext uri="{FF2B5EF4-FFF2-40B4-BE49-F238E27FC236}">
                <a16:creationId xmlns:a16="http://schemas.microsoft.com/office/drawing/2014/main" id="{88B6CB0E-D625-7B42-0314-4AB93CB3C414}"/>
              </a:ext>
            </a:extLst>
          </p:cNvPr>
          <p:cNvSpPr/>
          <p:nvPr/>
        </p:nvSpPr>
        <p:spPr>
          <a:xfrm>
            <a:off x="6580883" y="3900216"/>
            <a:ext cx="632424" cy="310719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/>
              <a:t>Attribute Component</a:t>
            </a:r>
            <a:endParaRPr lang="en-GB" sz="400" dirty="0"/>
          </a:p>
        </p:txBody>
      </p:sp>
      <p:cxnSp>
        <p:nvCxnSpPr>
          <p:cNvPr id="214" name="Curved Connector 213">
            <a:extLst>
              <a:ext uri="{FF2B5EF4-FFF2-40B4-BE49-F238E27FC236}">
                <a16:creationId xmlns:a16="http://schemas.microsoft.com/office/drawing/2014/main" id="{3FC45425-48C1-B6AC-1291-B78D50EF2F05}"/>
              </a:ext>
            </a:extLst>
          </p:cNvPr>
          <p:cNvCxnSpPr>
            <a:cxnSpLocks/>
            <a:stCxn id="210" idx="1"/>
            <a:endCxn id="211" idx="3"/>
          </p:cNvCxnSpPr>
          <p:nvPr/>
        </p:nvCxnSpPr>
        <p:spPr>
          <a:xfrm rot="10800000">
            <a:off x="7213308" y="3143523"/>
            <a:ext cx="1189333" cy="378011"/>
          </a:xfrm>
          <a:prstGeom prst="curvedConnector3">
            <a:avLst>
              <a:gd name="adj1" fmla="val 50000"/>
            </a:avLst>
          </a:prstGeom>
          <a:ln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Curved Connector 216">
            <a:extLst>
              <a:ext uri="{FF2B5EF4-FFF2-40B4-BE49-F238E27FC236}">
                <a16:creationId xmlns:a16="http://schemas.microsoft.com/office/drawing/2014/main" id="{37F68ED0-384B-A05B-9FB1-F59D238CBA3E}"/>
              </a:ext>
            </a:extLst>
          </p:cNvPr>
          <p:cNvCxnSpPr>
            <a:cxnSpLocks/>
            <a:stCxn id="210" idx="1"/>
            <a:endCxn id="212" idx="3"/>
          </p:cNvCxnSpPr>
          <p:nvPr/>
        </p:nvCxnSpPr>
        <p:spPr>
          <a:xfrm rot="10800000" flipV="1">
            <a:off x="7213308" y="3521532"/>
            <a:ext cx="1189333" cy="105609"/>
          </a:xfrm>
          <a:prstGeom prst="curvedConnector3">
            <a:avLst>
              <a:gd name="adj1" fmla="val 50000"/>
            </a:avLst>
          </a:prstGeom>
          <a:ln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Curved Connector 219">
            <a:extLst>
              <a:ext uri="{FF2B5EF4-FFF2-40B4-BE49-F238E27FC236}">
                <a16:creationId xmlns:a16="http://schemas.microsoft.com/office/drawing/2014/main" id="{825A7A62-09B2-D6F4-5110-DDA9A2A46C42}"/>
              </a:ext>
            </a:extLst>
          </p:cNvPr>
          <p:cNvCxnSpPr>
            <a:cxnSpLocks/>
            <a:stCxn id="210" idx="1"/>
            <a:endCxn id="213" idx="3"/>
          </p:cNvCxnSpPr>
          <p:nvPr/>
        </p:nvCxnSpPr>
        <p:spPr>
          <a:xfrm rot="10800000" flipV="1">
            <a:off x="7213308" y="3521532"/>
            <a:ext cx="1189333" cy="534043"/>
          </a:xfrm>
          <a:prstGeom prst="curvedConnector3">
            <a:avLst>
              <a:gd name="adj1" fmla="val 50000"/>
            </a:avLst>
          </a:prstGeom>
          <a:ln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Curved Connector 222">
            <a:extLst>
              <a:ext uri="{FF2B5EF4-FFF2-40B4-BE49-F238E27FC236}">
                <a16:creationId xmlns:a16="http://schemas.microsoft.com/office/drawing/2014/main" id="{913B2684-7D5F-CE9D-0537-6713147FC64A}"/>
              </a:ext>
            </a:extLst>
          </p:cNvPr>
          <p:cNvCxnSpPr>
            <a:cxnSpLocks/>
            <a:stCxn id="211" idx="1"/>
            <a:endCxn id="92" idx="3"/>
          </p:cNvCxnSpPr>
          <p:nvPr/>
        </p:nvCxnSpPr>
        <p:spPr>
          <a:xfrm rot="10800000">
            <a:off x="5117907" y="2088114"/>
            <a:ext cx="1462977" cy="105540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Curved Connector 225">
            <a:extLst>
              <a:ext uri="{FF2B5EF4-FFF2-40B4-BE49-F238E27FC236}">
                <a16:creationId xmlns:a16="http://schemas.microsoft.com/office/drawing/2014/main" id="{D3C881AE-CB1F-7C12-4BBD-F3A201EA082F}"/>
              </a:ext>
            </a:extLst>
          </p:cNvPr>
          <p:cNvCxnSpPr>
            <a:cxnSpLocks/>
            <a:stCxn id="212" idx="1"/>
            <a:endCxn id="93" idx="3"/>
          </p:cNvCxnSpPr>
          <p:nvPr/>
        </p:nvCxnSpPr>
        <p:spPr>
          <a:xfrm rot="10800000">
            <a:off x="5099607" y="2832804"/>
            <a:ext cx="1481277" cy="79433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Curved Connector 229">
            <a:extLst>
              <a:ext uri="{FF2B5EF4-FFF2-40B4-BE49-F238E27FC236}">
                <a16:creationId xmlns:a16="http://schemas.microsoft.com/office/drawing/2014/main" id="{3F372F83-B2E5-85FF-75F7-3D631447B4B6}"/>
              </a:ext>
            </a:extLst>
          </p:cNvPr>
          <p:cNvCxnSpPr>
            <a:cxnSpLocks/>
            <a:stCxn id="213" idx="1"/>
            <a:endCxn id="94" idx="3"/>
          </p:cNvCxnSpPr>
          <p:nvPr/>
        </p:nvCxnSpPr>
        <p:spPr>
          <a:xfrm rot="10800000">
            <a:off x="5099607" y="3588130"/>
            <a:ext cx="1481277" cy="46744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Curved Connector 283">
            <a:extLst>
              <a:ext uri="{FF2B5EF4-FFF2-40B4-BE49-F238E27FC236}">
                <a16:creationId xmlns:a16="http://schemas.microsoft.com/office/drawing/2014/main" id="{2C8669FE-A73E-0EB9-8DE0-A7327531D254}"/>
              </a:ext>
            </a:extLst>
          </p:cNvPr>
          <p:cNvCxnSpPr>
            <a:cxnSpLocks/>
            <a:stCxn id="170" idx="1"/>
            <a:endCxn id="93" idx="3"/>
          </p:cNvCxnSpPr>
          <p:nvPr/>
        </p:nvCxnSpPr>
        <p:spPr>
          <a:xfrm rot="10800000" flipV="1">
            <a:off x="5099606" y="2381881"/>
            <a:ext cx="1615018" cy="45092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85290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D6A95-13ED-604F-AA65-8144C0F66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t>The Analytical Data Model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80A91-8A58-D34B-9C3A-DBCC37353B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b="1" dirty="0"/>
              <a:t>The semantic vocabulary — concepts that AC/DCs reference:</a:t>
            </a:r>
          </a:p>
          <a:p>
            <a:pPr marL="0" indent="0">
              <a:buNone/>
            </a:pPr>
            <a:endParaRPr sz="1600" b="1" dirty="0"/>
          </a:p>
          <a:p>
            <a:pPr marL="0" indent="0">
              <a:buNone/>
            </a:pPr>
            <a:r>
              <a:rPr b="1" dirty="0"/>
              <a:t>Concepts (standard-agnostic):</a:t>
            </a:r>
          </a:p>
          <a:p>
            <a:pPr marL="0" indent="0">
              <a:buNone/>
            </a:pPr>
            <a:r>
              <a:rPr dirty="0"/>
              <a:t>subject, parameter, visit, treatment, site</a:t>
            </a:r>
          </a:p>
          <a:p>
            <a:pPr marL="0" indent="0">
              <a:buNone/>
            </a:pPr>
            <a:r>
              <a:rPr dirty="0" err="1"/>
              <a:t>analysis_value</a:t>
            </a:r>
            <a:r>
              <a:rPr dirty="0"/>
              <a:t>, </a:t>
            </a:r>
            <a:r>
              <a:rPr dirty="0" err="1"/>
              <a:t>baseline_value</a:t>
            </a:r>
            <a:r>
              <a:rPr dirty="0"/>
              <a:t>, </a:t>
            </a:r>
            <a:r>
              <a:rPr dirty="0" err="1"/>
              <a:t>change_value</a:t>
            </a:r>
            <a:endParaRPr dirty="0"/>
          </a:p>
          <a:p>
            <a:pPr marL="0" indent="0">
              <a:buNone/>
            </a:pPr>
            <a:r>
              <a:rPr dirty="0" err="1"/>
              <a:t>population_flag</a:t>
            </a:r>
            <a:r>
              <a:rPr dirty="0"/>
              <a:t>, </a:t>
            </a:r>
            <a:r>
              <a:rPr dirty="0" err="1"/>
              <a:t>baseline_flag</a:t>
            </a:r>
            <a:endParaRPr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b="1" dirty="0"/>
              <a:t>Semantic relationships:</a:t>
            </a:r>
          </a:p>
          <a:p>
            <a:pPr marL="0" indent="0">
              <a:buNone/>
            </a:pPr>
            <a:r>
              <a:rPr dirty="0" err="1"/>
              <a:t>change_value</a:t>
            </a:r>
            <a:r>
              <a:rPr dirty="0"/>
              <a:t> </a:t>
            </a:r>
            <a:r>
              <a:rPr dirty="0" err="1"/>
              <a:t>derived_from</a:t>
            </a:r>
            <a:r>
              <a:rPr dirty="0"/>
              <a:t> (</a:t>
            </a:r>
            <a:r>
              <a:rPr dirty="0" err="1"/>
              <a:t>analysis_value</a:t>
            </a:r>
            <a:r>
              <a:rPr dirty="0"/>
              <a:t>, </a:t>
            </a:r>
            <a:r>
              <a:rPr dirty="0" err="1"/>
              <a:t>baseline_value</a:t>
            </a:r>
            <a:r>
              <a:rPr dirty="0"/>
              <a:t>)</a:t>
            </a:r>
          </a:p>
          <a:p>
            <a:pPr marL="0" indent="0">
              <a:buNone/>
            </a:pPr>
            <a:r>
              <a:rPr dirty="0" err="1"/>
              <a:t>baseline_value</a:t>
            </a:r>
            <a:r>
              <a:rPr dirty="0"/>
              <a:t> </a:t>
            </a:r>
            <a:r>
              <a:rPr dirty="0" err="1"/>
              <a:t>identified_by</a:t>
            </a:r>
            <a:r>
              <a:rPr dirty="0"/>
              <a:t> (subject, parameter, </a:t>
            </a:r>
            <a:r>
              <a:rPr dirty="0" err="1"/>
              <a:t>baseline_flag</a:t>
            </a:r>
            <a:r>
              <a:rPr dirty="0"/>
              <a:t>)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b="1" dirty="0"/>
              <a:t>No cube roles here — roles are assigned by Templates:</a:t>
            </a:r>
          </a:p>
          <a:p>
            <a:pPr marL="0" indent="0">
              <a:buNone/>
            </a:pPr>
            <a:r>
              <a:rPr dirty="0"/>
              <a:t>The Template's SDMX cube decides whether 'treatment' is a dimension or a factor, whether '</a:t>
            </a:r>
            <a:r>
              <a:rPr dirty="0" err="1"/>
              <a:t>change_value</a:t>
            </a:r>
            <a:r>
              <a:rPr dirty="0"/>
              <a:t>' is a dependent measure or an output.</a:t>
            </a:r>
          </a:p>
          <a:p>
            <a:pPr marL="0" indent="0">
              <a:buNone/>
            </a:pPr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0CA00-99F7-3E44-A839-0402F441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0132" y="4767263"/>
            <a:ext cx="4676172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t>#ClearDataClearImpact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D9AE8-0E1B-2740-A95B-81DDAC2FC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From Template to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9AC96-36D4-5E48-A3EC-AAD817F3E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AC/DC Instances &amp; Resolution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D6A95-13ED-604F-AA65-8144C0F66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t>AC/DC Instances: Study-Specific Bindings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80A91-8A58-D34B-9C3A-DBCC37353BA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b="1" dirty="0"/>
              <a:t>An Instance instantiates a Template for a specific context:</a:t>
            </a:r>
          </a:p>
          <a:p>
            <a:pPr marL="0" indent="0">
              <a:buNone/>
            </a:pPr>
            <a:endParaRPr b="1" dirty="0"/>
          </a:p>
          <a:p>
            <a:pPr marL="0" indent="0">
              <a:buNone/>
            </a:pPr>
            <a:r>
              <a:rPr b="1" dirty="0"/>
              <a:t>Instance: S_AC_001</a:t>
            </a:r>
          </a:p>
          <a:p>
            <a:pPr marL="0" indent="0">
              <a:buNone/>
            </a:pPr>
            <a:r>
              <a:rPr dirty="0"/>
              <a:t>Based on: T_AC_ANCOVA (template)</a:t>
            </a:r>
          </a:p>
          <a:p>
            <a:pPr marL="0" indent="0">
              <a:buNone/>
            </a:pPr>
            <a:endParaRPr sz="1600" dirty="0"/>
          </a:p>
          <a:p>
            <a:pPr marL="0" indent="0">
              <a:buNone/>
            </a:pPr>
            <a:r>
              <a:rPr b="1" dirty="0"/>
              <a:t>Cube Slice (fixed values via attributes):</a:t>
            </a:r>
          </a:p>
          <a:p>
            <a:pPr marL="365760" indent="-182880" algn="l">
              <a:buChar char="•"/>
            </a:pPr>
            <a:r>
              <a:rPr dirty="0"/>
              <a:t>parameter = "ADAS-Cog(11)"</a:t>
            </a:r>
          </a:p>
          <a:p>
            <a:pPr marL="365760" indent="-182880" algn="l">
              <a:buChar char="•"/>
            </a:pPr>
            <a:r>
              <a:rPr dirty="0"/>
              <a:t>visit = "Week 24"</a:t>
            </a:r>
          </a:p>
          <a:p>
            <a:pPr marL="365760" indent="-182880" algn="l">
              <a:buChar char="•"/>
            </a:pPr>
            <a:r>
              <a:rPr dirty="0" err="1"/>
              <a:t>population_flag</a:t>
            </a:r>
            <a:r>
              <a:rPr dirty="0"/>
              <a:t> = "Y" (efficacy population)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en-US" b="1" dirty="0"/>
              <a:t>This is how AC/DC Instances work:</a:t>
            </a:r>
          </a:p>
          <a:p>
            <a:r>
              <a:rPr lang="en-US" dirty="0"/>
              <a:t>The Template defines the cube structure (what dimensions and measures exist)</a:t>
            </a:r>
          </a:p>
          <a:p>
            <a:r>
              <a:rPr lang="en-US" dirty="0"/>
              <a:t>The Instance creates a Slice by fixing specific values for the analysis context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Same Template, different Slice = different analysis (e.g., Week 12 instead of Week 24)</a:t>
            </a:r>
          </a:p>
          <a:p>
            <a:pPr marL="0" indent="0">
              <a:buNone/>
            </a:pPr>
            <a:endParaRPr lang="da-DK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883601-BD5C-5ECC-2037-9D43835377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76824" y="1111250"/>
            <a:ext cx="3819525" cy="352147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GB" b="1" dirty="0"/>
              <a:t>The instance references concepts from Analytical Data Model:</a:t>
            </a:r>
          </a:p>
          <a:p>
            <a:pPr marL="0" indent="0">
              <a:buNone/>
            </a:pPr>
            <a:r>
              <a:rPr lang="en-GB" dirty="0" err="1"/>
              <a:t>change_value</a:t>
            </a:r>
            <a:r>
              <a:rPr lang="en-GB" dirty="0"/>
              <a:t> IS_A concept (template assigns role: dependent)</a:t>
            </a:r>
          </a:p>
          <a:p>
            <a:pPr marL="0" indent="0">
              <a:buNone/>
            </a:pPr>
            <a:r>
              <a:rPr lang="en-GB" dirty="0" err="1"/>
              <a:t>baseline_value</a:t>
            </a:r>
            <a:r>
              <a:rPr lang="en-GB" dirty="0"/>
              <a:t> IS_A concept (template assigns role: covariate)</a:t>
            </a:r>
          </a:p>
          <a:p>
            <a:pPr marL="0" indent="0">
              <a:buNone/>
            </a:pPr>
            <a:r>
              <a:rPr lang="en-GB" dirty="0"/>
              <a:t>treatment IS_A concept (template assigns role: factor)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Template defines structure; Instance binds to specific context.</a:t>
            </a:r>
          </a:p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0CA00-99F7-3E44-A839-0402F441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t>#ClearDataClearImpact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D6A95-13ED-604F-AA65-8144C0F66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Resolution: Concept → </a:t>
            </a:r>
            <a:r>
              <a:rPr dirty="0" err="1"/>
              <a:t>ADaM</a:t>
            </a:r>
            <a:r>
              <a:rPr dirty="0"/>
              <a:t> Class → Study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80A91-8A58-D34B-9C3A-DBCC37353B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b="1" dirty="0"/>
              <a:t>Instance S_AC_001 specifies:</a:t>
            </a:r>
          </a:p>
          <a:p>
            <a:pPr marL="0" indent="0">
              <a:buNone/>
            </a:pPr>
            <a:r>
              <a:rPr sz="1600" dirty="0"/>
              <a:t>formula</a:t>
            </a:r>
            <a:r>
              <a:rPr dirty="0"/>
              <a:t>: </a:t>
            </a:r>
            <a:r>
              <a:rPr dirty="0" err="1"/>
              <a:t>change_value</a:t>
            </a:r>
            <a:r>
              <a:rPr dirty="0"/>
              <a:t> ~ </a:t>
            </a:r>
            <a:r>
              <a:rPr dirty="0" err="1"/>
              <a:t>baseline_value</a:t>
            </a:r>
            <a:r>
              <a:rPr dirty="0"/>
              <a:t> + site + treatment</a:t>
            </a:r>
          </a:p>
          <a:p>
            <a:pPr marL="0" indent="0">
              <a:buNone/>
            </a:pPr>
            <a:r>
              <a:rPr dirty="0"/>
              <a:t>filter: parameter="ADAS-Cog(11)", </a:t>
            </a:r>
            <a:r>
              <a:rPr dirty="0" err="1"/>
              <a:t>population_flag</a:t>
            </a:r>
            <a:r>
              <a:rPr dirty="0"/>
              <a:t>="Y"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b="1" dirty="0"/>
              <a:t>Layer 2 (</a:t>
            </a:r>
            <a:r>
              <a:rPr b="1" dirty="0" err="1"/>
              <a:t>ADaM</a:t>
            </a:r>
            <a:r>
              <a:rPr b="1" dirty="0"/>
              <a:t> </a:t>
            </a:r>
            <a:r>
              <a:rPr lang="da-DK" b="1" dirty="0"/>
              <a:t>Standard</a:t>
            </a:r>
            <a:r>
              <a:rPr b="1" dirty="0"/>
              <a:t> mapping):</a:t>
            </a:r>
          </a:p>
          <a:p>
            <a:pPr marL="365760" indent="-182880" algn="l">
              <a:buChar char="•"/>
            </a:pPr>
            <a:r>
              <a:rPr dirty="0" err="1"/>
              <a:t>change_value</a:t>
            </a:r>
            <a:r>
              <a:rPr dirty="0"/>
              <a:t> → CHG</a:t>
            </a:r>
          </a:p>
          <a:p>
            <a:pPr marL="365760" indent="-182880" algn="l">
              <a:buChar char="•"/>
            </a:pPr>
            <a:r>
              <a:rPr dirty="0" err="1"/>
              <a:t>baseline_value</a:t>
            </a:r>
            <a:r>
              <a:rPr dirty="0"/>
              <a:t> → BASE</a:t>
            </a:r>
          </a:p>
          <a:p>
            <a:pPr marL="365760" indent="-182880" algn="l">
              <a:buChar char="•"/>
            </a:pPr>
            <a:r>
              <a:rPr dirty="0"/>
              <a:t>treatment → TRT01P</a:t>
            </a:r>
          </a:p>
          <a:p>
            <a:pPr marL="365760" indent="-182880" algn="l">
              <a:buChar char="•"/>
            </a:pPr>
            <a:r>
              <a:rPr dirty="0"/>
              <a:t>site → SITEID</a:t>
            </a:r>
          </a:p>
          <a:p>
            <a:pPr marL="365760" indent="-182880" algn="l">
              <a:buChar char="•"/>
            </a:pPr>
            <a:r>
              <a:rPr dirty="0"/>
              <a:t>parameter → PARAMCD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b="1" dirty="0"/>
              <a:t>Layer 3 (Sponsor </a:t>
            </a:r>
            <a:r>
              <a:rPr b="1" dirty="0" err="1"/>
              <a:t>ADaM</a:t>
            </a:r>
            <a:r>
              <a:rPr b="1" dirty="0"/>
              <a:t> mapping):</a:t>
            </a:r>
          </a:p>
          <a:p>
            <a:pPr marL="365760" indent="-182880" algn="l">
              <a:buChar char="•"/>
            </a:pPr>
            <a:r>
              <a:rPr dirty="0"/>
              <a:t>CHG → ADQSADAS.CHG</a:t>
            </a:r>
          </a:p>
          <a:p>
            <a:pPr marL="365760" indent="-182880" algn="l">
              <a:buChar char="•"/>
            </a:pPr>
            <a:r>
              <a:rPr dirty="0"/>
              <a:t>BASE → ADQSADAS.BASE</a:t>
            </a:r>
          </a:p>
          <a:p>
            <a:pPr marL="365760" indent="-182880" algn="l">
              <a:buChar char="•"/>
            </a:pPr>
            <a:r>
              <a:rPr dirty="0"/>
              <a:t>TRT01P → ADQSADAS.TRT01P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b="1" dirty="0"/>
              <a:t>Resolved: model CHG ~ BASE + SITEID + TRT01P from ADQSADAS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0CA00-99F7-3E44-A839-0402F441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0132" y="4767263"/>
            <a:ext cx="4676172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t>#ClearDataClearImpact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D9AE8-0E1B-2740-A95B-81DDAC2FC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Both Directions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9AC96-36D4-5E48-A3EC-AAD817F3E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Derivation Concepts &amp; Analysis Concepts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D6A95-13ED-604F-AA65-8144C0F66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t>Derivation Concepts (DC): ADaM Variable Derivations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80A91-8A58-D34B-9C3A-DBCC37353B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b="1" dirty="0"/>
              <a:t>Instead of 500-line monolithic programs:</a:t>
            </a:r>
          </a:p>
          <a:p>
            <a:pPr marL="0" indent="0">
              <a:buNone/>
            </a:pPr>
            <a:r>
              <a:rPr dirty="0"/>
              <a:t>CHG = AVAL - BASE; /* buried in code */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sz="1900" b="1" dirty="0"/>
              <a:t>Define atomic, composable derivations</a:t>
            </a:r>
            <a:r>
              <a:rPr b="1" dirty="0"/>
              <a:t>:</a:t>
            </a:r>
          </a:p>
          <a:p>
            <a:pPr marL="0" indent="0">
              <a:buNone/>
            </a:pPr>
            <a:endParaRPr b="1" dirty="0"/>
          </a:p>
          <a:p>
            <a:pPr marL="0" indent="0">
              <a:buNone/>
            </a:pPr>
            <a:r>
              <a:rPr b="1" dirty="0"/>
              <a:t>DC Instance: S_DC_004 (based on </a:t>
            </a:r>
            <a:r>
              <a:rPr b="1" dirty="0" err="1"/>
              <a:t>T_DC_ChangeFromBaseline</a:t>
            </a:r>
            <a:r>
              <a:rPr b="1" dirty="0"/>
              <a:t>)</a:t>
            </a:r>
          </a:p>
          <a:p>
            <a:pPr marL="365760" indent="-182880" algn="l">
              <a:buChar char="•"/>
            </a:pPr>
            <a:r>
              <a:rPr dirty="0"/>
              <a:t>Input concepts: </a:t>
            </a:r>
            <a:r>
              <a:rPr dirty="0" err="1"/>
              <a:t>analysis_value</a:t>
            </a:r>
            <a:r>
              <a:rPr dirty="0"/>
              <a:t>, </a:t>
            </a:r>
            <a:r>
              <a:rPr dirty="0" err="1"/>
              <a:t>baseline_value</a:t>
            </a:r>
            <a:endParaRPr dirty="0"/>
          </a:p>
          <a:p>
            <a:pPr marL="365760" indent="-182880" algn="l">
              <a:buChar char="•"/>
            </a:pPr>
            <a:r>
              <a:rPr dirty="0"/>
              <a:t>Output concept: </a:t>
            </a:r>
            <a:r>
              <a:rPr dirty="0" err="1"/>
              <a:t>change_value</a:t>
            </a:r>
            <a:endParaRPr dirty="0"/>
          </a:p>
          <a:p>
            <a:pPr marL="365760" indent="-182880" algn="l">
              <a:buChar char="•"/>
            </a:pPr>
            <a:r>
              <a:rPr dirty="0"/>
              <a:t>Formula: target = </a:t>
            </a:r>
            <a:r>
              <a:rPr dirty="0" err="1"/>
              <a:t>analysis_value</a:t>
            </a:r>
            <a:r>
              <a:rPr dirty="0"/>
              <a:t> - </a:t>
            </a:r>
            <a:r>
              <a:rPr dirty="0" err="1"/>
              <a:t>baseline_value</a:t>
            </a:r>
            <a:endParaRPr dirty="0"/>
          </a:p>
          <a:p>
            <a:pPr marL="365760" indent="-182880" algn="l">
              <a:buChar char="•"/>
            </a:pPr>
            <a:r>
              <a:rPr dirty="0"/>
              <a:t>Depends on: S_DC_001 (AVAL), S_DC_003 (BASE)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b="1" dirty="0"/>
              <a:t>Benefits:</a:t>
            </a:r>
          </a:p>
          <a:p>
            <a:pPr marL="365760" indent="-182880" algn="l">
              <a:buChar char="•"/>
            </a:pPr>
            <a:r>
              <a:rPr dirty="0"/>
              <a:t>Explicit dependency graph</a:t>
            </a:r>
          </a:p>
          <a:p>
            <a:pPr marL="365760" indent="-182880" algn="l">
              <a:buChar char="•"/>
            </a:pPr>
            <a:r>
              <a:rPr dirty="0"/>
              <a:t>Reusable across studies (same template, different Layer 3)</a:t>
            </a:r>
          </a:p>
          <a:p>
            <a:pPr marL="365760" indent="-182880" algn="l">
              <a:buChar char="•"/>
            </a:pPr>
            <a:r>
              <a:rPr dirty="0"/>
              <a:t>Automatic traceability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0CA00-99F7-3E44-A839-0402F441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0132" y="4767263"/>
            <a:ext cx="4676172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dirty="0"/>
              <a:t>#</a:t>
            </a:r>
            <a:r>
              <a:rPr dirty="0" err="1"/>
              <a:t>ClearDataClearImpact</a:t>
            </a: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D6A95-13ED-604F-AA65-8144C0F66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t>Analysis Concepts (AC): Complex Analyses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80A91-8A58-D34B-9C3A-DBCC37353B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1200" b="1" dirty="0"/>
              <a:t>For statistical operations beyond simple derivations:</a:t>
            </a:r>
          </a:p>
          <a:p>
            <a:pPr marL="0" indent="0">
              <a:buNone/>
            </a:pPr>
            <a:endParaRPr sz="1200" b="1" dirty="0"/>
          </a:p>
          <a:p>
            <a:pPr marL="0" indent="0">
              <a:buNone/>
            </a:pPr>
            <a:r>
              <a:rPr sz="1200" b="1" dirty="0"/>
              <a:t>AC Instance: S_AC_001 (based on T_AC_ANCOVA)</a:t>
            </a:r>
          </a:p>
          <a:p>
            <a:pPr marL="0" indent="0">
              <a:buNone/>
            </a:pPr>
            <a:endParaRPr sz="1200" b="1" dirty="0"/>
          </a:p>
          <a:p>
            <a:pPr marL="0" indent="0">
              <a:buNone/>
            </a:pPr>
            <a:r>
              <a:rPr sz="1200" b="1" dirty="0"/>
              <a:t>Template's cube roles map to statistical operations:</a:t>
            </a:r>
          </a:p>
          <a:p>
            <a:pPr marL="365760" indent="-182880" algn="l">
              <a:buChar char="•"/>
            </a:pPr>
            <a:r>
              <a:rPr sz="1200" dirty="0"/>
              <a:t>Concept with role=dimension (factor) → CLASS variables</a:t>
            </a:r>
          </a:p>
          <a:p>
            <a:pPr marL="365760" indent="-182880" algn="l">
              <a:buChar char="•"/>
            </a:pPr>
            <a:r>
              <a:rPr sz="1200" dirty="0"/>
              <a:t>Concept with role=measure (dependent) → MODEL left side</a:t>
            </a:r>
          </a:p>
          <a:p>
            <a:pPr marL="365760" indent="-182880" algn="l">
              <a:buChar char="•"/>
            </a:pPr>
            <a:r>
              <a:rPr sz="1200" dirty="0"/>
              <a:t>Concept with role=measure (covariate) → MODEL right side</a:t>
            </a:r>
          </a:p>
          <a:p>
            <a:pPr marL="365760" indent="-182880" algn="l">
              <a:buChar char="•"/>
            </a:pPr>
            <a:r>
              <a:rPr sz="1200" dirty="0"/>
              <a:t>Concept with fixed value (slice) → WHERE clause</a:t>
            </a:r>
          </a:p>
          <a:p>
            <a:pPr marL="0" indent="0">
              <a:buNone/>
            </a:pPr>
            <a:endParaRPr sz="1200" dirty="0"/>
          </a:p>
          <a:p>
            <a:pPr marL="0" indent="0">
              <a:buNone/>
            </a:pPr>
            <a:r>
              <a:rPr sz="1200" b="1" dirty="0"/>
              <a:t>Output cube contains results:</a:t>
            </a:r>
          </a:p>
          <a:p>
            <a:pPr marL="0" indent="0">
              <a:buNone/>
            </a:pPr>
            <a:r>
              <a:rPr sz="1200" dirty="0" err="1"/>
              <a:t>lsmean</a:t>
            </a:r>
            <a:r>
              <a:rPr sz="1200" dirty="0"/>
              <a:t>, </a:t>
            </a:r>
            <a:r>
              <a:rPr sz="1200" dirty="0" err="1"/>
              <a:t>lsmean_se</a:t>
            </a:r>
            <a:r>
              <a:rPr sz="1200" dirty="0"/>
              <a:t>, </a:t>
            </a:r>
            <a:r>
              <a:rPr sz="1200" dirty="0" err="1"/>
              <a:t>ci_lower</a:t>
            </a:r>
            <a:r>
              <a:rPr sz="1200" dirty="0"/>
              <a:t>, </a:t>
            </a:r>
            <a:r>
              <a:rPr sz="1200" dirty="0" err="1"/>
              <a:t>ci_upper</a:t>
            </a:r>
            <a:r>
              <a:rPr sz="1200" dirty="0"/>
              <a:t>, </a:t>
            </a:r>
            <a:r>
              <a:rPr sz="1200" dirty="0" err="1"/>
              <a:t>p_value</a:t>
            </a:r>
            <a:endParaRPr sz="1200" dirty="0"/>
          </a:p>
          <a:p>
            <a:pPr marL="0" indent="0">
              <a:buNone/>
            </a:pPr>
            <a:r>
              <a:rPr sz="1200" dirty="0"/>
              <a:t>Same template handles ADAS-Cog, MMSE, any efficacy endpoint — only the slice changes.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0CA00-99F7-3E44-A839-0402F441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0132" y="4767263"/>
            <a:ext cx="4676172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t>#ClearDataClearImpact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D6A95-13ED-604F-AA65-8144C0F66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t>Bidirectional Traceability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80A91-8A58-D34B-9C3A-DBCC37353B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1200" b="1" dirty="0"/>
              <a:t>At SAP Writing Time (Top-Down):</a:t>
            </a:r>
          </a:p>
          <a:p>
            <a:pPr marL="0" indent="0">
              <a:buNone/>
            </a:pPr>
            <a:r>
              <a:rPr sz="1200" dirty="0"/>
              <a:t>1. Author defines: "ANCOVA of change from baseline in ADAS-Cog(11)"</a:t>
            </a:r>
          </a:p>
          <a:p>
            <a:pPr marL="0" indent="0">
              <a:buNone/>
            </a:pPr>
            <a:r>
              <a:rPr sz="1200" dirty="0"/>
              <a:t>2. System identifies required concepts: </a:t>
            </a:r>
            <a:r>
              <a:rPr sz="1200" dirty="0" err="1"/>
              <a:t>change_value</a:t>
            </a:r>
            <a:r>
              <a:rPr sz="1200" dirty="0"/>
              <a:t>, </a:t>
            </a:r>
            <a:r>
              <a:rPr sz="1200" dirty="0" err="1"/>
              <a:t>baseline_value</a:t>
            </a:r>
            <a:endParaRPr sz="1200" dirty="0"/>
          </a:p>
          <a:p>
            <a:pPr marL="0" indent="0">
              <a:buNone/>
            </a:pPr>
            <a:r>
              <a:rPr sz="1200" dirty="0"/>
              <a:t>3. System surfaces DC requirements: CHG needs BASE needs ABLFL</a:t>
            </a:r>
          </a:p>
          <a:p>
            <a:pPr marL="0" indent="0">
              <a:buNone/>
            </a:pPr>
            <a:r>
              <a:rPr sz="1200" dirty="0"/>
              <a:t>4. </a:t>
            </a:r>
            <a:r>
              <a:rPr sz="1200" dirty="0" err="1"/>
              <a:t>ADaM</a:t>
            </a:r>
            <a:r>
              <a:rPr sz="1200" dirty="0"/>
              <a:t> specs generated from the dependency graph</a:t>
            </a:r>
          </a:p>
          <a:p>
            <a:pPr marL="0" indent="0">
              <a:buNone/>
            </a:pPr>
            <a:endParaRPr sz="1200" dirty="0"/>
          </a:p>
          <a:p>
            <a:pPr marL="0" indent="0">
              <a:buNone/>
            </a:pPr>
            <a:r>
              <a:rPr sz="1200" b="1" dirty="0"/>
              <a:t>At Submission Time (Bottom-Up):</a:t>
            </a:r>
          </a:p>
          <a:p>
            <a:pPr marL="0" indent="0">
              <a:buNone/>
            </a:pPr>
            <a:r>
              <a:rPr sz="1200" dirty="0"/>
              <a:t>Reviewer: "How was the LS Mean difference of -3.2 calculated?"</a:t>
            </a:r>
          </a:p>
          <a:p>
            <a:pPr marL="0" indent="0">
              <a:buNone/>
            </a:pPr>
            <a:r>
              <a:rPr sz="1200" b="1" dirty="0"/>
              <a:t>System traces:</a:t>
            </a:r>
          </a:p>
          <a:p>
            <a:pPr marL="365760" indent="-182880" algn="l">
              <a:buChar char="•"/>
            </a:pPr>
            <a:r>
              <a:rPr sz="1200" dirty="0"/>
              <a:t>Result (-3.2) → S_AC_001 (ANCOVA)</a:t>
            </a:r>
          </a:p>
          <a:p>
            <a:pPr marL="731520" lvl="1" indent="-182880" algn="l">
              <a:buChar char="•"/>
            </a:pPr>
            <a:r>
              <a:rPr sz="1050" dirty="0"/>
              <a:t>→ Input: ADQSADAS.CHG</a:t>
            </a:r>
          </a:p>
          <a:p>
            <a:pPr marL="731520" lvl="1" indent="-182880" algn="l">
              <a:buChar char="•"/>
            </a:pPr>
            <a:r>
              <a:rPr sz="1050" dirty="0"/>
              <a:t>→ Derived by: S_DC_004 (</a:t>
            </a:r>
            <a:r>
              <a:rPr sz="1050" dirty="0" err="1"/>
              <a:t>ChangeFromBaseline</a:t>
            </a:r>
            <a:r>
              <a:rPr sz="1050" dirty="0"/>
              <a:t>)</a:t>
            </a:r>
          </a:p>
          <a:p>
            <a:pPr marL="731520" lvl="1" indent="-182880" algn="l">
              <a:buChar char="•"/>
            </a:pPr>
            <a:r>
              <a:rPr sz="1050" dirty="0"/>
              <a:t>→ Sources: AVAL, BASE</a:t>
            </a:r>
          </a:p>
          <a:p>
            <a:pPr marL="0" indent="0">
              <a:buNone/>
            </a:pPr>
            <a:r>
              <a:rPr sz="1200" dirty="0"/>
              <a:t>The same metadata supports both directions.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0CA00-99F7-3E44-A839-0402F441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0132" y="4767263"/>
            <a:ext cx="4676172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t>#ClearDataClearImpact</a:t>
            </a:r>
          </a:p>
        </p:txBody>
      </p:sp>
      <p:pic>
        <p:nvPicPr>
          <p:cNvPr id="4" name="Picture 3" descr="A screenshot of a diagram  AI-generated content may be incorrect.">
            <a:extLst>
              <a:ext uri="{FF2B5EF4-FFF2-40B4-BE49-F238E27FC236}">
                <a16:creationId xmlns:a16="http://schemas.microsoft.com/office/drawing/2014/main" id="{B5A91370-18FC-BC46-695D-CBB0232136B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1445" y="1939608"/>
            <a:ext cx="3769949" cy="28276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DISC-1 1">
      <a:dk1>
        <a:srgbClr val="134678"/>
      </a:dk1>
      <a:lt1>
        <a:srgbClr val="FFFFFF"/>
      </a:lt1>
      <a:dk2>
        <a:srgbClr val="515349"/>
      </a:dk2>
      <a:lt2>
        <a:srgbClr val="F5F5F5"/>
      </a:lt2>
      <a:accent1>
        <a:srgbClr val="134678"/>
      </a:accent1>
      <a:accent2>
        <a:srgbClr val="A1D0CA"/>
      </a:accent2>
      <a:accent3>
        <a:srgbClr val="C94543"/>
      </a:accent3>
      <a:accent4>
        <a:srgbClr val="EDAA00"/>
      </a:accent4>
      <a:accent5>
        <a:srgbClr val="553278"/>
      </a:accent5>
      <a:accent6>
        <a:srgbClr val="40B3E5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5_Events-Slide-Template_CDISC-Staff_v4.pptx" id="{FC5671AF-E8C3-4A45-B01C-9ECD26A83B7F}" vid="{B4BDB1CE-3FE9-4318-B55C-55F720F10BC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7D794EB48E7144959FE534A5ED3D9A" ma:contentTypeVersion="13" ma:contentTypeDescription="Create a new document." ma:contentTypeScope="" ma:versionID="332ebed6bf1f21540ac8ed4139e2af2e">
  <xsd:schema xmlns:xsd="http://www.w3.org/2001/XMLSchema" xmlns:xs="http://www.w3.org/2001/XMLSchema" xmlns:p="http://schemas.microsoft.com/office/2006/metadata/properties" xmlns:ns2="98eacbea-7562-4a40-a7f2-e999cdc0cec5" xmlns:ns3="75bf9804-c18d-470a-a27f-eeaf4abcd247" targetNamespace="http://schemas.microsoft.com/office/2006/metadata/properties" ma:root="true" ma:fieldsID="9643d50ff51ef4e8f7efba950a0a6c6b" ns2:_="" ns3:_="">
    <xsd:import namespace="98eacbea-7562-4a40-a7f2-e999cdc0cec5"/>
    <xsd:import namespace="75bf9804-c18d-470a-a27f-eeaf4abcd24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eacbea-7562-4a40-a7f2-e999cdc0ce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a6b7e412-6c7f-44cd-93fc-1283bc8f8f7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bf9804-c18d-470a-a27f-eeaf4abcd247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32440c8f-637a-4f66-b4f6-bf5ca76e88b3}" ma:internalName="TaxCatchAll" ma:showField="CatchAllData" ma:web="75bf9804-c18d-470a-a27f-eeaf4abcd24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LengthInSeconds xmlns="98eacbea-7562-4a40-a7f2-e999cdc0cec5" xsi:nil="true"/>
    <lcf76f155ced4ddcb4097134ff3c332f xmlns="98eacbea-7562-4a40-a7f2-e999cdc0cec5">
      <Terms xmlns="http://schemas.microsoft.com/office/infopath/2007/PartnerControls"/>
    </lcf76f155ced4ddcb4097134ff3c332f>
    <TaxCatchAll xmlns="75bf9804-c18d-470a-a27f-eeaf4abcd247" xsi:nil="true"/>
  </documentManagement>
</p:properties>
</file>

<file path=customXml/itemProps1.xml><?xml version="1.0" encoding="utf-8"?>
<ds:datastoreItem xmlns:ds="http://schemas.openxmlformats.org/officeDocument/2006/customXml" ds:itemID="{3B69330B-154C-43B9-AAF7-1A571867C6C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9A0DB44-58DC-4864-B5DB-6A708BBC184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eacbea-7562-4a40-a7f2-e999cdc0cec5"/>
    <ds:schemaRef ds:uri="75bf9804-c18d-470a-a27f-eeaf4abcd24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B3EAD0D-AD33-4DE9-A04C-ADBA8D81216E}">
  <ds:schemaRefs>
    <ds:schemaRef ds:uri="http://purl.org/dc/elements/1.1/"/>
    <ds:schemaRef ds:uri="http://www.w3.org/XML/1998/namespace"/>
    <ds:schemaRef ds:uri="http://schemas.microsoft.com/office/infopath/2007/PartnerControls"/>
    <ds:schemaRef ds:uri="42fd8685-662d-4ea0-adda-db2055aa5e88"/>
    <ds:schemaRef ds:uri="http://schemas.microsoft.com/office/2006/documentManagement/types"/>
    <ds:schemaRef ds:uri="http://purl.org/dc/terms/"/>
    <ds:schemaRef ds:uri="http://schemas.microsoft.com/office/2006/metadata/properties"/>
    <ds:schemaRef ds:uri="http://schemas.openxmlformats.org/package/2006/metadata/core-properties"/>
    <ds:schemaRef ds:uri="6cd05e2c-1080-4123-b907-f31487dbd913"/>
    <ds:schemaRef ds:uri="http://purl.org/dc/dcmitype/"/>
    <ds:schemaRef ds:uri="e4bfa1c1-cbed-43b5-9d42-fe24faecfd28"/>
    <ds:schemaRef ds:uri="6942efca-e753-43c0-b995-a96645848828"/>
    <ds:schemaRef ds:uri="98eacbea-7562-4a40-a7f2-e999cdc0cec5"/>
    <ds:schemaRef ds:uri="75bf9804-c18d-470a-a27f-eeaf4abcd24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6589</TotalTime>
  <Words>2067</Words>
  <Application>Microsoft Macintosh PowerPoint</Application>
  <PresentationFormat>On-screen Show (16:9)</PresentationFormat>
  <Paragraphs>319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Cambria Math</vt:lpstr>
      <vt:lpstr>Courier New</vt:lpstr>
      <vt:lpstr>Office Theme</vt:lpstr>
      <vt:lpstr>The AC/DC Framework </vt:lpstr>
      <vt:lpstr>Agenda</vt:lpstr>
      <vt:lpstr>The Problem</vt:lpstr>
      <vt:lpstr>Everything is Hardcoded</vt:lpstr>
      <vt:lpstr>An automated approach  – tied to specific language</vt:lpstr>
      <vt:lpstr>The AC/DC Solution</vt:lpstr>
      <vt:lpstr>Derivation and Analysis - Functions</vt:lpstr>
      <vt:lpstr>The AC/DC Model: A Function Over Data Cubes</vt:lpstr>
      <vt:lpstr>The SDMX Data Cube: Three Component Types</vt:lpstr>
      <vt:lpstr>Slices: Subsetting the Cube</vt:lpstr>
      <vt:lpstr>Machine-Executable: Roles Define Operations</vt:lpstr>
      <vt:lpstr>Three-Layer Architecture</vt:lpstr>
      <vt:lpstr>AC/DC Templates: Reusable Patterns</vt:lpstr>
      <vt:lpstr>The framework - conceptually</vt:lpstr>
      <vt:lpstr>The Analytical Data Model</vt:lpstr>
      <vt:lpstr>From Template to Study</vt:lpstr>
      <vt:lpstr>AC/DC Instances: Study-Specific Bindings</vt:lpstr>
      <vt:lpstr>Resolution: Concept → ADaM Class → Study</vt:lpstr>
      <vt:lpstr>Both Directions</vt:lpstr>
      <vt:lpstr>Derivation Concepts (DC): ADaM Variable Derivations</vt:lpstr>
      <vt:lpstr>Analysis Concepts (AC): Complex Analyses</vt:lpstr>
      <vt:lpstr>Bidirectional Traceability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Melissa Kirwin</dc:creator>
  <cp:lastModifiedBy>Kirsten Langendorf</cp:lastModifiedBy>
  <cp:revision>9</cp:revision>
  <dcterms:created xsi:type="dcterms:W3CDTF">2025-01-22T00:21:32Z</dcterms:created>
  <dcterms:modified xsi:type="dcterms:W3CDTF">2026-01-10T10:09:29Z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0x010100D47D794EB48E7144959FE534A5ED3D9A</vt:lpwstr>
  </property>
  <property fmtid="{D5CDD505-2E9C-101B-9397-08002B2CF9AE}" pid="3" name="SharedWithUsers">
    <vt:lpwstr>51;#Sheila Leaman</vt:lpwstr>
  </property>
  <property fmtid="{D5CDD505-2E9C-101B-9397-08002B2CF9AE}" pid="4" name="xd_ProgID">
    <vt:lpwstr/>
  </property>
  <property fmtid="{D5CDD505-2E9C-101B-9397-08002B2CF9AE}" pid="5" name="ComplianceAssetId">
    <vt:lpwstr/>
  </property>
  <property fmtid="{D5CDD505-2E9C-101B-9397-08002B2CF9AE}" pid="6" name="TemplateUrl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xd_Signature">
    <vt:bool>false</vt:bool>
  </property>
  <property fmtid="{D5CDD505-2E9C-101B-9397-08002B2CF9AE}" pid="10" name="MediaServiceImageTags">
    <vt:lpwstr/>
  </property>
</Properties>
</file>