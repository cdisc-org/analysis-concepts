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slideLayouts/slideLayout6.xml" ContentType="application/vnd.openxmlformats-officedocument.presentationml.slideLayou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webextensions/webextension1.xml" ContentType="application/vnd.ms-office.webextension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webextensions/taskpanes.xml" ContentType="application/vnd.ms-office.webextensiontaskpan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1"/>
  </p:sldMasterIdLst>
  <p:notesMasterIdLst>
    <p:notesMasterId r:id="rId18"/>
  </p:notesMasterIdLst>
  <p:sldIdLst>
    <p:sldId id="283" r:id="rId2"/>
    <p:sldId id="284" r:id="rId3"/>
    <p:sldId id="315" r:id="rId4"/>
    <p:sldId id="258" r:id="rId5"/>
    <p:sldId id="310" r:id="rId6"/>
    <p:sldId id="285" r:id="rId7"/>
    <p:sldId id="325" r:id="rId8"/>
    <p:sldId id="259" r:id="rId9"/>
    <p:sldId id="261" r:id="rId10"/>
    <p:sldId id="262" r:id="rId11"/>
    <p:sldId id="263" r:id="rId12"/>
    <p:sldId id="264" r:id="rId13"/>
    <p:sldId id="267" r:id="rId14"/>
    <p:sldId id="335" r:id="rId15"/>
    <p:sldId id="311" r:id="rId16"/>
    <p:sldId id="324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8235"/>
    <a:srgbClr val="3B8EA5"/>
    <a:srgbClr val="EDA832"/>
    <a:srgbClr val="EBF5E0"/>
    <a:srgbClr val="1B3A5C"/>
    <a:srgbClr val="EBF0F5"/>
    <a:srgbClr val="FFF2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–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200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1689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4E17163-B04C-C34A-8000-FDF58C3633A6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72313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A794A-2825-660F-4A4B-164081894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08137D-6310-0B0B-D138-5FF40CEDAD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55902B-0F49-B6FE-FE95-816A8D3701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310D9A-3E65-3D9A-D24C-B0919F47B3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9830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078FFEE-EA0C-5E4A-B1D2-8213F7094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CC4787D-0744-8047-A68C-F117D26CFC58}"/>
              </a:ext>
            </a:extLst>
          </p:cNvPr>
          <p:cNvSpPr/>
          <p:nvPr userDrawn="1"/>
        </p:nvSpPr>
        <p:spPr>
          <a:xfrm>
            <a:off x="1648918" y="1139639"/>
            <a:ext cx="7495082" cy="23246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7690" y="1154590"/>
            <a:ext cx="6781830" cy="1362472"/>
          </a:xfrm>
        </p:spPr>
        <p:txBody>
          <a:bodyPr anchor="ctr">
            <a:normAutofit/>
          </a:bodyPr>
          <a:lstStyle>
            <a:lvl1pPr algn="l">
              <a:defRPr sz="24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77690" y="2648262"/>
            <a:ext cx="6781830" cy="600472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5" name="Picture 4" descr="A blue and yellow logo  Description automatically generated">
            <a:extLst>
              <a:ext uri="{FF2B5EF4-FFF2-40B4-BE49-F238E27FC236}">
                <a16:creationId xmlns:a16="http://schemas.microsoft.com/office/drawing/2014/main" id="{3EB9E325-CA01-8194-3510-EF94D192606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58640" y="3679814"/>
            <a:ext cx="1186088" cy="407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77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ityscape with a blue and white banner  Description automatically generated">
            <a:extLst>
              <a:ext uri="{FF2B5EF4-FFF2-40B4-BE49-F238E27FC236}">
                <a16:creationId xmlns:a16="http://schemas.microsoft.com/office/drawing/2014/main" id="{11184E1C-5903-A0FE-BE24-EE2A6CB19F4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32078540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in the background  Description automatically generated">
            <a:extLst>
              <a:ext uri="{FF2B5EF4-FFF2-40B4-BE49-F238E27FC236}">
                <a16:creationId xmlns:a16="http://schemas.microsoft.com/office/drawing/2014/main" id="{60AF726E-8299-5D06-FD26-96E5806BCA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1795161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bridge with lights and a city in the background  Description automatically generated">
            <a:extLst>
              <a:ext uri="{FF2B5EF4-FFF2-40B4-BE49-F238E27FC236}">
                <a16:creationId xmlns:a16="http://schemas.microsoft.com/office/drawing/2014/main" id="{F4FDD1C3-541D-7013-126F-49BDD97083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1609533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skyline  Description automatically generated">
            <a:extLst>
              <a:ext uri="{FF2B5EF4-FFF2-40B4-BE49-F238E27FC236}">
                <a16:creationId xmlns:a16="http://schemas.microsoft.com/office/drawing/2014/main" id="{C983A9DE-9882-CE38-3621-312EFD172DE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1754861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anner with a city skyline and text  Description automatically generated">
            <a:extLst>
              <a:ext uri="{FF2B5EF4-FFF2-40B4-BE49-F238E27FC236}">
                <a16:creationId xmlns:a16="http://schemas.microsoft.com/office/drawing/2014/main" id="{17CDE7A5-1733-0FAC-77B6-F23D6864A5F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16223402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anner with a city in the background  Description automatically generated">
            <a:extLst>
              <a:ext uri="{FF2B5EF4-FFF2-40B4-BE49-F238E27FC236}">
                <a16:creationId xmlns:a16="http://schemas.microsoft.com/office/drawing/2014/main" id="{2CC0345B-E6E3-F42F-444B-276DEA3E0BF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48200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1276289B-55C8-40FA-889A-2AECA774D21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048267" y="3962400"/>
            <a:ext cx="5625378" cy="397578"/>
          </a:xfrm>
        </p:spPr>
        <p:txBody>
          <a:bodyPr anchor="ctr">
            <a:normAutofit/>
          </a:bodyPr>
          <a:lstStyle>
            <a:lvl1pPr algn="r">
              <a:defRPr sz="2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8FBB06B2-CEED-4837-A8D1-3F28461021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92550" y="4359979"/>
            <a:ext cx="4781095" cy="783522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2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Presented by John Smith, Job Title, Department, Company Name</a:t>
            </a:r>
          </a:p>
          <a:p>
            <a:r>
              <a:rPr lang="en-US" dirty="0"/>
              <a:t>Day Month 2020</a:t>
            </a:r>
          </a:p>
        </p:txBody>
      </p:sp>
    </p:spTree>
    <p:extLst>
      <p:ext uri="{BB962C8B-B14F-4D97-AF65-F5344CB8AC3E}">
        <p14:creationId xmlns:p14="http://schemas.microsoft.com/office/powerpoint/2010/main" val="2576272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903408-9362-EC46-8776-E9E810266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409DADF-D9E6-A04F-8A80-7622E2E18903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342900" indent="-334963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385763" indent="-15121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2pPr>
            <a:lvl3pPr marL="560785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3pPr>
            <a:lvl4pPr marL="731044" indent="-175022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4pPr>
            <a:lvl5pPr marL="901304" indent="-170260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28565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2752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6103351-EB45-234F-8697-DE91E666400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DDB1314-0315-DB4C-AE95-AFD46FB209DC}"/>
              </a:ext>
            </a:extLst>
          </p:cNvPr>
          <p:cNvSpPr/>
          <p:nvPr userDrawn="1"/>
        </p:nvSpPr>
        <p:spPr>
          <a:xfrm>
            <a:off x="1562470" y="0"/>
            <a:ext cx="758153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41864" y="273845"/>
            <a:ext cx="6644935" cy="2101242"/>
          </a:xfrm>
        </p:spPr>
        <p:txBody>
          <a:bodyPr anchor="b"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41864" y="2551580"/>
            <a:ext cx="6644935" cy="2081143"/>
          </a:xfrm>
        </p:spPr>
        <p:txBody>
          <a:bodyPr/>
          <a:lstStyle>
            <a:lvl1pPr marL="0" indent="0">
              <a:buFont typeface="+mj-lt"/>
              <a:buNone/>
              <a:tabLst/>
              <a:defRPr sz="1800">
                <a:solidFill>
                  <a:schemeClr val="bg1"/>
                </a:solidFill>
              </a:defRPr>
            </a:lvl1pPr>
            <a:lvl2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2pPr>
            <a:lvl3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3pPr>
            <a:lvl4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4pPr>
            <a:lvl5pPr marL="4763" indent="0">
              <a:buFont typeface="+mj-lt"/>
              <a:buNone/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6729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losing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EC5F5DB-D0B7-B844-A4AC-647C44C65C8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7790" y="273845"/>
            <a:ext cx="6078069" cy="2101242"/>
          </a:xfrm>
        </p:spPr>
        <p:txBody>
          <a:bodyPr anchor="b"/>
          <a:lstStyle>
            <a:lvl1pPr>
              <a:defRPr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7790" y="2551580"/>
            <a:ext cx="6078069" cy="175216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tabLst/>
              <a:defRPr sz="900">
                <a:solidFill>
                  <a:schemeClr val="tx1"/>
                </a:solidFill>
              </a:defRPr>
            </a:lvl1pPr>
            <a:lvl2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2pPr>
            <a:lvl3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3pPr>
            <a:lvl4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4pPr>
            <a:lvl5pPr marL="133350" indent="-128588">
              <a:buFont typeface="Arial" panose="020B0604020202020204" pitchFamily="34" charset="0"/>
              <a:buChar char="•"/>
              <a:tabLst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1A794-C745-1542-AC4C-A0D07A44D2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37791" y="4457700"/>
            <a:ext cx="1076325" cy="342000"/>
          </a:xfrm>
          <a:prstGeom prst="rect">
            <a:avLst/>
          </a:prstGeom>
        </p:spPr>
      </p:pic>
      <p:pic>
        <p:nvPicPr>
          <p:cNvPr id="4" name="Picture 3" descr="A blue and yellow logo  Description automatically generated">
            <a:extLst>
              <a:ext uri="{FF2B5EF4-FFF2-40B4-BE49-F238E27FC236}">
                <a16:creationId xmlns:a16="http://schemas.microsoft.com/office/drawing/2014/main" id="{83BE5696-CFD9-4C98-EA2C-157023C01BF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21121" y="4447883"/>
            <a:ext cx="1227358" cy="421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0224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76824" y="1111250"/>
            <a:ext cx="360997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12323908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3819525" cy="35214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76826" y="1111250"/>
            <a:ext cx="3609975" cy="352147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26205485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-Content-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0100" y="1111250"/>
            <a:ext cx="7886699" cy="141007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BAEBCE6-AA93-4D42-8917-B9241C3EF63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73054" y="2576794"/>
            <a:ext cx="2413747" cy="1875864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39C0675-53BD-004E-9C2E-1C9D24D3896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85927" y="2576794"/>
            <a:ext cx="5687128" cy="1875863"/>
          </a:xfrm>
          <a:solidFill>
            <a:schemeClr val="accent4"/>
          </a:solidFill>
        </p:spPr>
        <p:txBody>
          <a:bodyPr lIns="457200" tIns="274320" rIns="274320" bIns="274320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200"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520968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11038358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#ClearDataClearImpact</a:t>
            </a:r>
          </a:p>
        </p:txBody>
      </p:sp>
    </p:spTree>
    <p:extLst>
      <p:ext uri="{BB962C8B-B14F-4D97-AF65-F5344CB8AC3E}">
        <p14:creationId xmlns:p14="http://schemas.microsoft.com/office/powerpoint/2010/main" val="41745617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2523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7CF86AEA-23B8-D847-A3D2-25B6A12213D0}"/>
              </a:ext>
            </a:extLst>
          </p:cNvPr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62" y="0"/>
            <a:ext cx="9134475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00100" y="0"/>
            <a:ext cx="7886700" cy="994172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0100" y="1111250"/>
            <a:ext cx="7886700" cy="352147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6304" y="4767263"/>
            <a:ext cx="1204216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A39D7527-A277-E24D-9A56-20081ADC979C}" type="datetime1">
              <a:rPr lang="en-US" smtClean="0"/>
              <a:pPr/>
              <a:t>2/18/26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0132" y="4767263"/>
            <a:ext cx="4676172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 b="1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80520" y="4767263"/>
            <a:ext cx="306280" cy="27384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 b="1">
                <a:solidFill>
                  <a:schemeClr val="tx1"/>
                </a:solidFill>
              </a:defRPr>
            </a:lvl1pPr>
          </a:lstStyle>
          <a:p>
            <a:fld id="{EB4FF9C4-EEBF-D24D-8A4E-C0B9CCE3F97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A blue and yellow logo  Description automatically generated">
            <a:extLst>
              <a:ext uri="{FF2B5EF4-FFF2-40B4-BE49-F238E27FC236}">
                <a16:creationId xmlns:a16="http://schemas.microsoft.com/office/drawing/2014/main" id="{D73A5207-C22D-484A-6399-36FEDB1D2583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773986" y="4737101"/>
            <a:ext cx="796887" cy="273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3751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</p:sldLayoutIdLs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910">
          <p15:clr>
            <a:srgbClr val="F26B43"/>
          </p15:clr>
        </p15:guide>
        <p15:guide id="2" pos="5472">
          <p15:clr>
            <a:srgbClr val="F26B43"/>
          </p15:clr>
        </p15:guide>
        <p15:guide id="3" pos="504">
          <p15:clr>
            <a:srgbClr val="F26B43"/>
          </p15:clr>
        </p15:guide>
        <p15:guide id="4" pos="3054">
          <p15:clr>
            <a:srgbClr val="F26B43"/>
          </p15:clr>
        </p15:guide>
        <p15:guide id="5" pos="3198">
          <p15:clr>
            <a:srgbClr val="F26B43"/>
          </p15:clr>
        </p15:guide>
        <p15:guide id="6" pos="288">
          <p15:clr>
            <a:srgbClr val="F26B43"/>
          </p15:clr>
        </p15:guide>
        <p15:guide id="7" orient="horz" pos="70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sv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11" Type="http://schemas.openxmlformats.org/officeDocument/2006/relationships/image" Target="../media/image21.svg"/><Relationship Id="rId5" Type="http://schemas.openxmlformats.org/officeDocument/2006/relationships/image" Target="../media/image15.sv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996E2-6A29-8DF2-5DF9-827B369B03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AC/DC Framework</a:t>
            </a:r>
            <a:r>
              <a:rPr lang="da-DK" dirty="0"/>
              <a:t> &amp; USDM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80BDFC-5994-CF85-584F-C7363A760E2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Analysis Concepts &amp; Derivation Concepts for Analysis</a:t>
            </a:r>
            <a:br>
              <a:rPr lang="da-DK" dirty="0"/>
            </a:br>
            <a:r>
              <a:rPr lang="en-US" dirty="0">
                <a:solidFill>
                  <a:srgbClr val="A8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Study Design to Statistical Execution</a:t>
            </a:r>
            <a:endParaRPr lang="en-US" dirty="0"/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54728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D9AE8-0E1B-2740-A95B-81DDAC2FCF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19AC96-36D4-5E48-A3EC-AAD817F3E0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605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A5CC1C-46D1-0DE8-7E6A-4BBAA6E01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Arial"/>
              </a:rPr>
              <a:t>Today's specification of analysis</a:t>
            </a:r>
            <a:endParaRPr lang="en-US" b="0">
              <a:solidFill>
                <a:srgbClr val="000000"/>
              </a:solidFill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51FFD-B3DF-7018-690C-B7C81CF8D90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 spcFirstLastPara="1" vert="horz" wrap="square" lIns="0" tIns="0" rIns="0" bIns="0" rtlCol="0" anchor="t" anchorCtr="0">
            <a:normAutofit/>
          </a:bodyPr>
          <a:lstStyle/>
          <a:p>
            <a:pPr marL="170974" indent="-170974">
              <a:buFont typeface="Wingdings,Sans-Serif" panose="020B0604020202020204" pitchFamily="34" charset="0"/>
              <a:buChar char="Ø"/>
            </a:pPr>
            <a:r>
              <a:rPr lang="en-US" sz="1400" dirty="0">
                <a:cs typeface="Arial"/>
              </a:rPr>
              <a:t>Written in plain text</a:t>
            </a:r>
          </a:p>
          <a:p>
            <a:pPr marL="513874" lvl="1" indent="-170974">
              <a:buFont typeface="Courier New,monospace" panose="020B0604020202020204" pitchFamily="34" charset="0"/>
              <a:buChar char="o"/>
            </a:pPr>
            <a:r>
              <a:rPr lang="en-US" sz="1200" dirty="0"/>
              <a:t>not machine readable</a:t>
            </a:r>
          </a:p>
          <a:p>
            <a:pPr marL="170974" indent="-170974">
              <a:buFont typeface="Wingdings,Sans-Serif" panose="020B0604020202020204" pitchFamily="34" charset="0"/>
              <a:buChar char="Ø"/>
            </a:pPr>
            <a:r>
              <a:rPr lang="en-US" sz="1400" dirty="0">
                <a:cs typeface="Arial"/>
              </a:rPr>
              <a:t>Some details are left out </a:t>
            </a:r>
          </a:p>
          <a:p>
            <a:pPr marL="513874" lvl="1" indent="-170974">
              <a:buFont typeface="Courier New,monospace" panose="020B0604020202020204" pitchFamily="34" charset="0"/>
              <a:buChar char="o"/>
            </a:pPr>
            <a:r>
              <a:rPr lang="en-US" sz="1200" dirty="0"/>
              <a:t>often (at best) retrievable from the analysis executable program/define.xml</a:t>
            </a:r>
          </a:p>
          <a:p>
            <a:pPr marL="513874" lvl="1" indent="-170974">
              <a:buFont typeface="Courier New,monospace" panose="020B0604020202020204" pitchFamily="34" charset="0"/>
              <a:buChar char="o"/>
            </a:pPr>
            <a:r>
              <a:rPr lang="en-US" sz="1200" dirty="0"/>
              <a:t>reason why regulators requires SAS programs to be submitted</a:t>
            </a:r>
          </a:p>
          <a:p>
            <a:pPr marL="170974" indent="-170974">
              <a:buFont typeface="Wingdings,Sans-Serif" panose="020B0604020202020204" pitchFamily="34" charset="0"/>
              <a:buChar char="Ø"/>
            </a:pPr>
            <a:r>
              <a:rPr lang="en-US" sz="1400" dirty="0">
                <a:cs typeface="Arial"/>
              </a:rPr>
              <a:t>Specifications are not software agnostic </a:t>
            </a:r>
          </a:p>
          <a:p>
            <a:pPr marL="513874" lvl="1" indent="-170974">
              <a:buFont typeface="Courier New,monospace" panose="020B0604020202020204" pitchFamily="34" charset="0"/>
              <a:buChar char="o"/>
            </a:pPr>
            <a:r>
              <a:rPr lang="en-US" sz="1200" dirty="0"/>
              <a:t>SAS versus R syntax</a:t>
            </a:r>
          </a:p>
          <a:p>
            <a:pPr marL="513874" lvl="1" indent="-170974">
              <a:buFont typeface="Courier New,monospace" panose="020B0604020202020204" pitchFamily="34" charset="0"/>
              <a:buChar char="o"/>
            </a:pPr>
            <a:r>
              <a:rPr lang="en-US" sz="1200" dirty="0"/>
              <a:t>different set of options</a:t>
            </a:r>
          </a:p>
          <a:p>
            <a:pPr marL="0" indent="0">
              <a:buNone/>
            </a:pPr>
            <a:endParaRPr lang="en-US" sz="1400" dirty="0">
              <a:cs typeface="Arial"/>
            </a:endParaRP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E98A071-FA6C-485C-1FC9-50AC20E33E8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4A0687-B9BF-7C07-30B6-581D866DD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D7EDE-C325-FE9E-D1A0-40570EF54A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prstGeom prst="rect">
            <a:avLst/>
          </a:prstGeom>
        </p:spPr>
        <p:txBody>
          <a:bodyPr vert="horz" lIns="0" tIns="0" rIns="0" bIns="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67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#ClearDataClearImpact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B674BC-C191-0F17-8815-88EA6A35AB27}"/>
              </a:ext>
            </a:extLst>
          </p:cNvPr>
          <p:cNvSpPr txBox="1"/>
          <p:nvPr/>
        </p:nvSpPr>
        <p:spPr>
          <a:xfrm>
            <a:off x="801322" y="4361343"/>
            <a:ext cx="2441499" cy="3117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788" dirty="0">
                <a:cs typeface="Arial"/>
              </a:rPr>
              <a:t>*know the document is old, but very likely the same is seen in newer documents</a:t>
            </a:r>
            <a:endParaRPr lang="en-US" sz="788" dirty="0"/>
          </a:p>
        </p:txBody>
      </p:sp>
      <p:graphicFrame>
        <p:nvGraphicFramePr>
          <p:cNvPr id="10" name="Google Shape;268;p21">
            <a:extLst>
              <a:ext uri="{FF2B5EF4-FFF2-40B4-BE49-F238E27FC236}">
                <a16:creationId xmlns:a16="http://schemas.microsoft.com/office/drawing/2014/main" id="{CCE67C74-86C5-D0BF-2AC3-DBB00A9841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98802060"/>
              </p:ext>
            </p:extLst>
          </p:nvPr>
        </p:nvGraphicFramePr>
        <p:xfrm>
          <a:off x="3887908" y="710773"/>
          <a:ext cx="5111025" cy="4078043"/>
        </p:xfrm>
        <a:graphic>
          <a:graphicData uri="http://schemas.openxmlformats.org/drawingml/2006/table">
            <a:tbl>
              <a:tblPr bandRow="1">
                <a:tableStyleId>{BC89EF96-8CEA-46FF-86C4-4CE0E7609802}</a:tableStyleId>
              </a:tblPr>
              <a:tblGrid>
                <a:gridCol w="33138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7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24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Primary analysis from CDISC pilot study*</a:t>
                      </a:r>
                      <a:endParaRPr dirty="0"/>
                    </a:p>
                  </a:txBody>
                  <a:tcPr marL="54175" marR="54175" marT="36125" marB="36125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25083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 b="1" u="none" strike="noStrike" cap="none">
                          <a:solidFill>
                            <a:srgbClr val="134678"/>
                          </a:solidFill>
                          <a:sym typeface="Arial"/>
                        </a:rPr>
                        <a:t>Issue</a:t>
                      </a:r>
                      <a:endParaRPr/>
                    </a:p>
                  </a:txBody>
                  <a:tcPr marL="54175" marR="54175" marT="36125" marB="36125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912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34678"/>
                          </a:solidFill>
                          <a:sym typeface="Arial"/>
                        </a:rPr>
                        <a:t>The primary analysis of the ADAS-Cog (11) at Week 24 will use the efficacy population with LOCF imputation for any missing values at Week 24.</a:t>
                      </a:r>
                      <a:endParaRPr sz="1000" b="0" i="0" u="none" strike="noStrike" cap="none">
                        <a:solidFill>
                          <a:srgbClr val="134678"/>
                        </a:solidFill>
                      </a:endParaRPr>
                    </a:p>
                  </a:txBody>
                  <a:tcPr marL="54175" marR="54175" marT="36125" marB="36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34678"/>
                          </a:solidFill>
                        </a:rPr>
                        <a:t>define.xml revealed that it was Change from baseline (CHG) that was analysed.</a:t>
                      </a:r>
                      <a:endParaRPr/>
                    </a:p>
                  </a:txBody>
                  <a:tcPr marL="54175" marR="54175" marT="36125" marB="361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13099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An ANCOVA model will be used with the </a:t>
                      </a:r>
                      <a:r>
                        <a:rPr lang="en-US" sz="10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baseline score</a:t>
                      </a: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, </a:t>
                      </a:r>
                      <a:r>
                        <a:rPr lang="en-US" sz="10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site</a:t>
                      </a: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, and </a:t>
                      </a:r>
                      <a:r>
                        <a:rPr lang="en-US" sz="10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treatment </a:t>
                      </a: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included as </a:t>
                      </a:r>
                      <a:r>
                        <a:rPr lang="en-US" sz="10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independent variables</a:t>
                      </a: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.</a:t>
                      </a:r>
                      <a:endParaRPr sz="1000" b="0" u="none" strike="noStrike" cap="none" dirty="0">
                        <a:solidFill>
                          <a:srgbClr val="134678"/>
                        </a:solidFill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 dirty="0">
                        <a:solidFill>
                          <a:srgbClr val="134678"/>
                        </a:solidFill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Treatment </a:t>
                      </a: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will be included as a </a:t>
                      </a:r>
                      <a:r>
                        <a:rPr lang="en-US" sz="10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continuous </a:t>
                      </a: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variable, and results for a </a:t>
                      </a:r>
                      <a:r>
                        <a:rPr lang="en-US" sz="10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test of dose response </a:t>
                      </a: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will be produced.</a:t>
                      </a:r>
                      <a:endParaRPr sz="1000" b="0" u="none" strike="noStrike" cap="none" dirty="0">
                        <a:solidFill>
                          <a:srgbClr val="134678"/>
                        </a:solidFill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endParaRPr sz="1000" b="1" u="none" strike="noStrike" cap="none" dirty="0">
                        <a:solidFill>
                          <a:srgbClr val="134678"/>
                        </a:solidFill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1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Interaction terms will not be investigated</a:t>
                      </a:r>
                      <a:r>
                        <a:rPr lang="en-US" sz="1000" b="0" u="none" strike="noStrike" cap="none" dirty="0">
                          <a:solidFill>
                            <a:srgbClr val="134678"/>
                          </a:solidFill>
                          <a:sym typeface="Arial"/>
                        </a:rPr>
                        <a:t>.</a:t>
                      </a:r>
                      <a:endParaRPr sz="1000" b="0" i="0" u="none" strike="noStrike" cap="none" dirty="0">
                        <a:solidFill>
                          <a:srgbClr val="13467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54175" marR="54175" marT="36125" marB="36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34678"/>
                          </a:solidFill>
                          <a:sym typeface="Arial"/>
                        </a:rPr>
                        <a:t>The define.xml specifies how the analysis is done in SAS, bot how to translate to R or other programming language?</a:t>
                      </a:r>
                      <a:endParaRPr/>
                    </a:p>
                  </a:txBody>
                  <a:tcPr marL="54175" marR="54175" marT="36125" marB="361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8440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34678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b="0" u="none" strike="noStrike" cap="none">
                          <a:solidFill>
                            <a:srgbClr val="134678"/>
                          </a:solidFill>
                          <a:sym typeface="Arial"/>
                        </a:rPr>
                        <a:t>If the test for </a:t>
                      </a:r>
                      <a:r>
                        <a:rPr lang="en-US" sz="1000" b="1" u="none" strike="noStrike" cap="none">
                          <a:solidFill>
                            <a:srgbClr val="134678"/>
                          </a:solidFill>
                          <a:sym typeface="Arial"/>
                        </a:rPr>
                        <a:t>dose response is statistically significant</a:t>
                      </a:r>
                      <a:r>
                        <a:rPr lang="en-US" sz="1000" b="0" u="none" strike="noStrike" cap="none">
                          <a:solidFill>
                            <a:srgbClr val="134678"/>
                          </a:solidFill>
                          <a:sym typeface="Arial"/>
                        </a:rPr>
                        <a:t>, pairwise comparisons among the 3 groups will be performed and evaluated at a significance level of 0.05.</a:t>
                      </a:r>
                      <a:endParaRPr sz="1000" b="0" i="0" u="none" strike="noStrike" cap="none">
                        <a:solidFill>
                          <a:srgbClr val="134678"/>
                        </a:solidFill>
                      </a:endParaRPr>
                    </a:p>
                  </a:txBody>
                  <a:tcPr marL="54175" marR="54175" marT="36125" marB="361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1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Arial"/>
                        <a:buNone/>
                      </a:pPr>
                      <a:r>
                        <a:rPr lang="en-US" sz="1000" u="none" strike="noStrike" cap="none" dirty="0"/>
                        <a:t>Pairwise estimates made – but test for dose response was significant (p &lt; 0.05)</a:t>
                      </a:r>
                      <a:endParaRPr sz="1000" b="0" i="0" u="none" strike="noStrike" cap="none" dirty="0">
                        <a:solidFill>
                          <a:srgbClr val="134678"/>
                        </a:solidFill>
                      </a:endParaRPr>
                    </a:p>
                  </a:txBody>
                  <a:tcPr marL="54175" marR="54175" marT="36125" marB="361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670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Hardcoded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914400" y="914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typical ANCOVA program: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914400" y="1280160"/>
            <a:ext cx="5029200" cy="1417320"/>
          </a:xfrm>
          <a:prstGeom prst="rect">
            <a:avLst/>
          </a:prstGeom>
          <a:solidFill>
            <a:srgbClr val="F5F7FA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1097280" y="13716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3B8E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 mixed </a:t>
            </a: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data=adam.adqsadas;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where PARAMCD="ACTOT11" and EFFFL="Y";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 CHG = BASE SITEID TRTP;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run;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embedded in the code: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name: adqsadas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names: CHG, BASE, TRTP, SITEID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conditions: PARAMCD, EFFFL values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00800" y="182880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43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parameter? → Copy-paste, change values</a:t>
            </a:r>
            <a:endParaRPr lang="en-US" sz="12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C43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study? → Rewrite everything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2" name="Text 34">
            <a:extLst>
              <a:ext uri="{FF2B5EF4-FFF2-40B4-BE49-F238E27FC236}">
                <a16:creationId xmlns:a16="http://schemas.microsoft.com/office/drawing/2014/main" id="{1BDA0A62-BD80-DA51-0B35-7B12910A33A6}"/>
              </a:ext>
            </a:extLst>
          </p:cNvPr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DCD6AF-2974-98A8-E658-BBED9248F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t>An automated approach – tied to specific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1DBACC-847D-352D-E9D4-BADDE634B9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100" b="1" dirty="0"/>
              <a:t>YAML + R Code References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table: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name: ADSL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filter_domain</a:t>
            </a:r>
            <a:r>
              <a:rPr sz="1100" dirty="0">
                <a:latin typeface="Courier New"/>
              </a:rPr>
              <a:t>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- dm: '!</a:t>
            </a:r>
            <a:r>
              <a:rPr sz="1100" dirty="0" err="1">
                <a:latin typeface="Courier New"/>
              </a:rPr>
              <a:t>is.na</a:t>
            </a:r>
            <a:r>
              <a:rPr sz="1100" dirty="0">
                <a:latin typeface="Courier New"/>
              </a:rPr>
              <a:t>(AGE)'  # R syntax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column_action</a:t>
            </a:r>
            <a:r>
              <a:rPr sz="1100" dirty="0">
                <a:latin typeface="Courier New"/>
              </a:rPr>
              <a:t>:</a:t>
            </a:r>
          </a:p>
          <a:p>
            <a:pPr marL="0" indent="0">
              <a:buNone/>
            </a:pPr>
            <a:r>
              <a:rPr sz="1100" dirty="0">
                <a:latin typeface="Courier New"/>
              </a:rPr>
              <a:t>AGE_GRP1:</a:t>
            </a:r>
          </a:p>
          <a:p>
            <a:pPr marL="0" indent="0">
              <a:buNone/>
            </a:pPr>
            <a:r>
              <a:rPr sz="1100" dirty="0" err="1">
                <a:latin typeface="Courier New"/>
              </a:rPr>
              <a:t>code_id</a:t>
            </a:r>
            <a:r>
              <a:rPr sz="1100" dirty="0">
                <a:latin typeface="Courier New"/>
              </a:rPr>
              <a:t>: "age_group_01.R" # code file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F2C28-04E4-F389-E3D2-80C414912B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100" b="1"/>
              <a:t>Domain-Specific Language (DSL)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if DM.DTHFL = 'Y'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and the latest of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([ADSL.LSTALVDT + 1 day, ADSL.DTHDTC])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is not later than 2023-07-01,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then set to the latest of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([ADSL.LSTALVDT + 1 day, ADSL.DTHDTC]),</a:t>
            </a:r>
          </a:p>
          <a:p>
            <a:pPr marL="0" indent="0">
              <a:buNone/>
            </a:pPr>
            <a:r>
              <a:rPr sz="1100">
                <a:latin typeface="Courier New"/>
              </a:rPr>
              <a:t>else set to blank.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845D3-0289-1119-0859-F9F74F6DC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4FF9C4-EEBF-D24D-8A4E-C0B9CCE3F975}" type="slidenum">
              <a:rPr kumimoji="0" lang="en-US" sz="800" b="1" i="0" u="none" strike="noStrike" kern="1200" cap="none" spc="0" normalizeH="0" baseline="0" noProof="0" smtClean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800" b="1" i="0" u="none" strike="noStrike" kern="1200" cap="none" spc="0" normalizeH="0" baseline="0" noProof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AC3EAD-3C68-9973-CC64-D2AA90494865}"/>
              </a:ext>
            </a:extLst>
          </p:cNvPr>
          <p:cNvSpPr txBox="1"/>
          <p:nvPr/>
        </p:nvSpPr>
        <p:spPr>
          <a:xfrm>
            <a:off x="800100" y="3035240"/>
            <a:ext cx="3800000" cy="3240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 from PHUSE EU 2025, Paper SM04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Matthew Phelps, Nicolai Skov Johnsen, Novo Nordisk</a:t>
            </a:r>
          </a:p>
        </p:txBody>
      </p:sp>
      <p:sp>
        <p:nvSpPr>
          <p:cNvPr id="8" name="TextBox 13">
            <a:extLst>
              <a:ext uri="{FF2B5EF4-FFF2-40B4-BE49-F238E27FC236}">
                <a16:creationId xmlns:a16="http://schemas.microsoft.com/office/drawing/2014/main" id="{BE256B44-9B31-ECF8-2588-45C405910AB3}"/>
              </a:ext>
            </a:extLst>
          </p:cNvPr>
          <p:cNvSpPr txBox="1"/>
          <p:nvPr/>
        </p:nvSpPr>
        <p:spPr>
          <a:xfrm>
            <a:off x="5076823" y="3035240"/>
            <a:ext cx="3609975" cy="324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1200" cap="none" spc="0" normalizeH="0" baseline="0" noProof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Example from PHUSE EU 2023, Paper DH12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1" u="none" strike="noStrike" kern="1200" cap="none" spc="0" normalizeH="0" baseline="0" noProof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Kang Zhao, AstraZeneca</a:t>
            </a:r>
          </a:p>
        </p:txBody>
      </p:sp>
      <p:sp>
        <p:nvSpPr>
          <p:cNvPr id="9" name="TextBox 14">
            <a:extLst>
              <a:ext uri="{FF2B5EF4-FFF2-40B4-BE49-F238E27FC236}">
                <a16:creationId xmlns:a16="http://schemas.microsoft.com/office/drawing/2014/main" id="{EC3A00C4-6B70-8A55-D7EF-82914F3656C9}"/>
              </a:ext>
            </a:extLst>
          </p:cNvPr>
          <p:cNvSpPr txBox="1"/>
          <p:nvPr/>
        </p:nvSpPr>
        <p:spPr>
          <a:xfrm>
            <a:off x="800100" y="3467155"/>
            <a:ext cx="458552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Common Problems:</a:t>
            </a:r>
            <a:endParaRPr kumimoji="0" lang="en-GB" sz="1000" b="0" i="0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Clever solutions, but proprietary: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Each company invents its own format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Platform-specific: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Tied to R ecosystem or custom interpreters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Spec ≠ Code: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Logic hidden in external code-files (YAML) or requires custom parser (DSL)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Not portable: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Can't be shared across companies or tools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1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Missing intent: </a:t>
            </a:r>
            <a:r>
              <a:rPr kumimoji="0" sz="1000" b="0" i="0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Tells us HOW to compute, but not the analytical purpose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12125F1-3B59-BA71-F6FB-423DA4330C14}"/>
              </a:ext>
            </a:extLst>
          </p:cNvPr>
          <p:cNvSpPr txBox="1"/>
          <p:nvPr/>
        </p:nvSpPr>
        <p:spPr>
          <a:xfrm>
            <a:off x="5405153" y="3636432"/>
            <a:ext cx="354230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0" i="1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…if every organisation builds their own LEGO system with proprietary brick sizes, we've just created a hundred incompatible toy boxes. Your bricks won't fit my castle…</a:t>
            </a:r>
            <a:r>
              <a:rPr kumimoji="0" lang="en-DK" sz="1200" b="0" i="1" u="none" strike="noStrike" kern="1200" cap="none" spc="0" normalizeH="0" baseline="0" noProof="0" dirty="0">
                <a:ln>
                  <a:noFill/>
                </a:ln>
                <a:solidFill>
                  <a:srgbClr val="134678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 </a:t>
            </a:r>
            <a:endParaRPr kumimoji="0" lang="en-GB" sz="1200" b="0" i="1" u="none" strike="noStrike" kern="1200" cap="none" spc="0" normalizeH="0" baseline="0" noProof="0" dirty="0">
              <a:ln>
                <a:noFill/>
              </a:ln>
              <a:solidFill>
                <a:srgbClr val="134678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8848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11D47-4629-0C11-A20E-5759E544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91333-7F30-B524-8024-4A05BC988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The </a:t>
            </a:r>
            <a:r>
              <a:rPr lang="da-DK" dirty="0"/>
              <a:t>Core Model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E35144-84EC-228E-657D-333B9DE55C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and Analysis as Functions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2124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7D88-58CB-5E33-C761-97A3FF768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Model flexibility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93711B-50BF-8125-8A8F-E8711C703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4FF9C4-EEBF-D24D-8A4E-C0B9CCE3F975}" type="slidenum">
              <a:rPr lang="en-US" smtClean="0"/>
              <a:t>7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8C4537-A890-F973-D308-5F7EA9D409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#ClearDataClearImpact</a:t>
            </a:r>
          </a:p>
          <a:p>
            <a:endParaRPr lang="en-US" dirty="0"/>
          </a:p>
        </p:txBody>
      </p:sp>
      <p:sp>
        <p:nvSpPr>
          <p:cNvPr id="20" name="Intro"/>
          <p:cNvSpPr txBox="1"/>
          <p:nvPr/>
        </p:nvSpPr>
        <p:spPr>
          <a:xfrm>
            <a:off x="800100" y="1041400"/>
            <a:ext cx="7886700" cy="3302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</a:rPr>
              <a:t>We want to develop a framework/model that allows for:</a:t>
            </a:r>
          </a:p>
        </p:txBody>
      </p:sp>
      <p:sp>
        <p:nvSpPr>
          <p:cNvPr id="21" name="Bullet 1"/>
          <p:cNvSpPr txBox="1"/>
          <p:nvPr/>
        </p:nvSpPr>
        <p:spPr>
          <a:xfrm>
            <a:off x="1333500" y="1371600"/>
            <a:ext cx="7302500" cy="5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</a:rPr>
              <a:t>Stepwise implementation, e.g. start with analysis and move to ADaM</a:t>
            </a:r>
          </a:p>
        </p:txBody>
      </p:sp>
      <p:sp>
        <p:nvSpPr>
          <p:cNvPr id="22" name="Bullet 2"/>
          <p:cNvSpPr txBox="1"/>
          <p:nvPr/>
        </p:nvSpPr>
        <p:spPr>
          <a:xfrm>
            <a:off x="1333500" y="1879600"/>
            <a:ext cx="7302500" cy="5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</a:rPr>
              <a:t>Different data presentation models at sponsor side, e.g. different ADaM model</a:t>
            </a:r>
          </a:p>
        </p:txBody>
      </p:sp>
      <p:sp>
        <p:nvSpPr>
          <p:cNvPr id="23" name="Bullet 3"/>
          <p:cNvSpPr txBox="1"/>
          <p:nvPr/>
        </p:nvSpPr>
        <p:spPr>
          <a:xfrm>
            <a:off x="1333500" y="2387600"/>
            <a:ext cx="7302500" cy="5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</a:rPr>
              <a:t>Use of USDM and Biomedical Concepts or not</a:t>
            </a:r>
          </a:p>
        </p:txBody>
      </p:sp>
      <p:sp>
        <p:nvSpPr>
          <p:cNvPr id="24" name="Bullet 4"/>
          <p:cNvSpPr txBox="1"/>
          <p:nvPr/>
        </p:nvSpPr>
        <p:spPr>
          <a:xfrm>
            <a:off x="1333500" y="2895600"/>
            <a:ext cx="7302500" cy="5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</a:rPr>
              <a:t>Specification of metadata for analysis that can support eSAP, at the time where ADaM model may not have been defined</a:t>
            </a:r>
          </a:p>
        </p:txBody>
      </p:sp>
      <p:sp>
        <p:nvSpPr>
          <p:cNvPr id="25" name="Bullet 5"/>
          <p:cNvSpPr txBox="1"/>
          <p:nvPr/>
        </p:nvSpPr>
        <p:spPr>
          <a:xfrm>
            <a:off x="1333500" y="3403600"/>
            <a:ext cx="7302500" cy="5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</a:rPr>
              <a:t>When ADaM model is known, provide input to ADaM specification, i.e. given a set of analyses which derivations are needed</a:t>
            </a:r>
          </a:p>
        </p:txBody>
      </p:sp>
      <p:sp>
        <p:nvSpPr>
          <p:cNvPr id="26" name="Bullet 6"/>
          <p:cNvSpPr txBox="1"/>
          <p:nvPr/>
        </p:nvSpPr>
        <p:spPr>
          <a:xfrm>
            <a:off x="1333500" y="3911600"/>
            <a:ext cx="7302500" cy="508000"/>
          </a:xfrm>
          <a:prstGeom prst="rect">
            <a:avLst/>
          </a:prstGeom>
          <a:noFill/>
        </p:spPr>
        <p:txBody>
          <a:bodyPr wrap="square" rtlCol="0" anchor="ctr">
            <a:noAutofit/>
          </a:bodyPr>
          <a:lstStyle/>
          <a:p>
            <a:pPr>
              <a:buNone/>
            </a:pPr>
            <a:r>
              <a:rPr lang="en-GB" sz="1400" dirty="0">
                <a:solidFill>
                  <a:schemeClr val="tx1"/>
                </a:solidFill>
              </a:rPr>
              <a:t>Allow for phrases to be associated to analyses (and derivations), such that text can be displayed as part of the eSAP</a:t>
            </a:r>
          </a:p>
        </p:txBody>
      </p:sp>
      <p:pic>
        <p:nvPicPr>
          <p:cNvPr id="27" name="Graphic 27" descr="Stepwise implementatio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3600" y="1435100"/>
            <a:ext cx="381000" cy="381000"/>
          </a:xfrm>
          <a:prstGeom prst="rect">
            <a:avLst/>
          </a:prstGeom>
        </p:spPr>
      </p:pic>
      <p:pic>
        <p:nvPicPr>
          <p:cNvPr id="28" name="Graphic 28" descr="Data presentation models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63600" y="1943100"/>
            <a:ext cx="381000" cy="381000"/>
          </a:xfrm>
          <a:prstGeom prst="rect">
            <a:avLst/>
          </a:prstGeom>
        </p:spPr>
      </p:pic>
      <p:pic>
        <p:nvPicPr>
          <p:cNvPr id="29" name="Graphic 29" descr="USDM and Biomedical Concepts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63600" y="2451100"/>
            <a:ext cx="381000" cy="381000"/>
          </a:xfrm>
          <a:prstGeom prst="rect">
            <a:avLst/>
          </a:prstGeom>
        </p:spPr>
      </p:pic>
      <p:pic>
        <p:nvPicPr>
          <p:cNvPr id="30" name="Graphic 30" descr="Metadata specification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3600" y="2959100"/>
            <a:ext cx="381000" cy="381000"/>
          </a:xfrm>
          <a:prstGeom prst="rect">
            <a:avLst/>
          </a:prstGeom>
        </p:spPr>
      </p:pic>
      <p:pic>
        <p:nvPicPr>
          <p:cNvPr id="31" name="Graphic 31" descr="ADaM derivations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3600" y="3467100"/>
            <a:ext cx="381000" cy="381000"/>
          </a:xfrm>
          <a:prstGeom prst="rect">
            <a:avLst/>
          </a:prstGeom>
        </p:spPr>
      </p:pic>
      <p:pic>
        <p:nvPicPr>
          <p:cNvPr id="32" name="Graphic 32" descr="Phrases for eSAP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3600" y="39751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6025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>
            <a:off x="5303520" y="1234440"/>
            <a:ext cx="3474720" cy="3291840"/>
          </a:xfrm>
          <a:prstGeom prst="rect">
            <a:avLst/>
          </a:prstGeom>
          <a:solidFill>
            <a:srgbClr val="FFF8F0"/>
          </a:solidFill>
          <a:ln w="12700">
            <a:solidFill>
              <a:srgbClr val="EDA83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731520" y="1234440"/>
            <a:ext cx="42976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E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0"/>
          <p:cNvSpPr/>
          <p:nvPr/>
        </p:nvSpPr>
        <p:spPr>
          <a:xfrm>
            <a:off x="914400" y="1371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Four-Layer Architecture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6400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derivation and analysis follow the same pattern: Method </a:t>
            </a:r>
            <a:r>
              <a:rPr lang="en-US" sz="11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r>
              <a:rPr lang="en-US" sz="11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Template → Concept Model </a:t>
            </a:r>
            <a:r>
              <a:rPr lang="en-US" sz="11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r>
              <a:rPr lang="en-US" sz="11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Implementation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9601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 Framework Layers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303520" y="9601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F8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Parallel</a:t>
            </a:r>
            <a:endParaRPr lang="en-US" sz="1400" dirty="0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847F893-0F11-842E-BD04-50E021DE46D9}"/>
              </a:ext>
            </a:extLst>
          </p:cNvPr>
          <p:cNvGrpSpPr/>
          <p:nvPr/>
        </p:nvGrpSpPr>
        <p:grpSpPr>
          <a:xfrm>
            <a:off x="5440680" y="1288172"/>
            <a:ext cx="3200400" cy="685800"/>
            <a:chOff x="5440680" y="1325880"/>
            <a:chExt cx="3200400" cy="685800"/>
          </a:xfrm>
        </p:grpSpPr>
        <p:sp>
          <p:nvSpPr>
            <p:cNvPr id="13" name="Shape 10"/>
            <p:cNvSpPr/>
            <p:nvPr/>
          </p:nvSpPr>
          <p:spPr>
            <a:xfrm>
              <a:off x="5440680" y="1325880"/>
              <a:ext cx="3200400" cy="685800"/>
            </a:xfrm>
            <a:prstGeom prst="rect">
              <a:avLst/>
            </a:prstGeom>
            <a:solidFill>
              <a:srgbClr val="EBF0F5"/>
            </a:solidFill>
            <a:ln w="6350">
              <a:solidFill>
                <a:srgbClr val="3B8EA5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 11"/>
            <p:cNvSpPr/>
            <p:nvPr/>
          </p:nvSpPr>
          <p:spPr>
            <a:xfrm>
              <a:off x="5577840" y="1344168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1B3A5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TECHNIQUE</a:t>
              </a:r>
              <a:endParaRPr lang="en-US" sz="1100" dirty="0">
                <a:solidFill>
                  <a:srgbClr val="1B3A5C"/>
                </a:solidFill>
              </a:endParaRPr>
            </a:p>
          </p:txBody>
        </p:sp>
        <p:sp>
          <p:nvSpPr>
            <p:cNvPr id="15" name="Text 12"/>
            <p:cNvSpPr/>
            <p:nvPr/>
          </p:nvSpPr>
          <p:spPr>
            <a:xfrm>
              <a:off x="5577840" y="1581912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Emulsification, reduction, sautéing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How to combine ingredients</a:t>
              </a:r>
              <a:endParaRPr lang="en-US" sz="9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AFCCCFE-6AFF-BF04-CEA6-A80A13C59D5F}"/>
              </a:ext>
            </a:extLst>
          </p:cNvPr>
          <p:cNvGrpSpPr/>
          <p:nvPr/>
        </p:nvGrpSpPr>
        <p:grpSpPr>
          <a:xfrm>
            <a:off x="868680" y="2102554"/>
            <a:ext cx="4023360" cy="685800"/>
            <a:chOff x="868680" y="2121408"/>
            <a:chExt cx="4023360" cy="685800"/>
          </a:xfrm>
        </p:grpSpPr>
        <p:sp>
          <p:nvSpPr>
            <p:cNvPr id="16" name="Shape 13"/>
            <p:cNvSpPr/>
            <p:nvPr/>
          </p:nvSpPr>
          <p:spPr>
            <a:xfrm>
              <a:off x="868680" y="2121408"/>
              <a:ext cx="4023360" cy="685800"/>
            </a:xfrm>
            <a:prstGeom prst="rect">
              <a:avLst/>
            </a:prstGeom>
            <a:solidFill>
              <a:srgbClr val="FFF2E0"/>
            </a:solidFill>
            <a:ln w="6350">
              <a:solidFill>
                <a:srgbClr val="EDA832"/>
              </a:solidFill>
              <a:prstDash val="solid"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17" name="Shape 14"/>
            <p:cNvSpPr/>
            <p:nvPr/>
          </p:nvSpPr>
          <p:spPr>
            <a:xfrm>
              <a:off x="868680" y="2121408"/>
              <a:ext cx="54864" cy="685800"/>
            </a:xfrm>
            <a:prstGeom prst="rect">
              <a:avLst/>
            </a:prstGeom>
            <a:solidFill>
              <a:srgbClr val="EDA832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18" name="Text 15"/>
            <p:cNvSpPr/>
            <p:nvPr/>
          </p:nvSpPr>
          <p:spPr>
            <a:xfrm>
              <a:off x="1051560" y="2139696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DA8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TEMPLATE LAYER (AC/DC Transformation)</a:t>
              </a:r>
              <a:endParaRPr lang="en-US" sz="1100" dirty="0">
                <a:solidFill>
                  <a:srgbClr val="EDA832"/>
                </a:solidFill>
              </a:endParaRPr>
            </a:p>
          </p:txBody>
        </p:sp>
        <p:sp>
          <p:nvSpPr>
            <p:cNvPr id="19" name="Text 16"/>
            <p:cNvSpPr/>
            <p:nvPr/>
          </p:nvSpPr>
          <p:spPr>
            <a:xfrm>
              <a:off x="1051560" y="2377440"/>
              <a:ext cx="3657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ChangeFromBaseline, PercentChange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CFB_ANCOVA, TTE_CoxPH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Binds Concepts to method roles for clinical purpose</a:t>
              </a:r>
              <a:endParaRPr lang="en-US" sz="900" b="1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20DC2B09-9D0A-A2DB-9D61-AAFDDB15B852}"/>
              </a:ext>
            </a:extLst>
          </p:cNvPr>
          <p:cNvGrpSpPr/>
          <p:nvPr/>
        </p:nvGrpSpPr>
        <p:grpSpPr>
          <a:xfrm>
            <a:off x="5440680" y="2083700"/>
            <a:ext cx="3200400" cy="685800"/>
            <a:chOff x="5440680" y="2121408"/>
            <a:chExt cx="3200400" cy="685800"/>
          </a:xfrm>
        </p:grpSpPr>
        <p:sp>
          <p:nvSpPr>
            <p:cNvPr id="20" name="Shape 17"/>
            <p:cNvSpPr/>
            <p:nvPr/>
          </p:nvSpPr>
          <p:spPr>
            <a:xfrm>
              <a:off x="5440680" y="2121408"/>
              <a:ext cx="3200400" cy="685800"/>
            </a:xfrm>
            <a:prstGeom prst="rect">
              <a:avLst/>
            </a:prstGeom>
            <a:solidFill>
              <a:srgbClr val="FFF2E0"/>
            </a:solidFill>
            <a:ln w="6350">
              <a:solidFill>
                <a:srgbClr val="EDA832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1" name="Text 18"/>
            <p:cNvSpPr/>
            <p:nvPr/>
          </p:nvSpPr>
          <p:spPr>
            <a:xfrm>
              <a:off x="5577840" y="2139696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DA8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RECIPE CARD</a:t>
              </a:r>
              <a:endParaRPr lang="en-US" sz="1100" dirty="0">
                <a:solidFill>
                  <a:srgbClr val="EDA832"/>
                </a:solidFill>
              </a:endParaRPr>
            </a:p>
          </p:txBody>
        </p:sp>
        <p:sp>
          <p:nvSpPr>
            <p:cNvPr id="22" name="Text 19"/>
            <p:cNvSpPr/>
            <p:nvPr/>
          </p:nvSpPr>
          <p:spPr>
            <a:xfrm>
              <a:off x="5577840" y="2377440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Classic Vinaigrette: oil + vinegar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What dish + what ingredients needed</a:t>
              </a:r>
              <a:endParaRPr lang="en-US" sz="900" dirty="0"/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C837045-3C52-5E2B-5B87-03B569864E9A}"/>
              </a:ext>
            </a:extLst>
          </p:cNvPr>
          <p:cNvGrpSpPr/>
          <p:nvPr/>
        </p:nvGrpSpPr>
        <p:grpSpPr>
          <a:xfrm>
            <a:off x="868680" y="2879228"/>
            <a:ext cx="4023360" cy="822960"/>
            <a:chOff x="868680" y="2916936"/>
            <a:chExt cx="4023360" cy="822960"/>
          </a:xfrm>
        </p:grpSpPr>
        <p:grpSp>
          <p:nvGrpSpPr>
            <p:cNvPr id="51" name="Group 50">
              <a:extLst>
                <a:ext uri="{FF2B5EF4-FFF2-40B4-BE49-F238E27FC236}">
                  <a16:creationId xmlns:a16="http://schemas.microsoft.com/office/drawing/2014/main" id="{C2115360-3EF2-CD64-E874-A6A5B472E031}"/>
                </a:ext>
              </a:extLst>
            </p:cNvPr>
            <p:cNvGrpSpPr/>
            <p:nvPr/>
          </p:nvGrpSpPr>
          <p:grpSpPr>
            <a:xfrm>
              <a:off x="868680" y="2916936"/>
              <a:ext cx="4023360" cy="822960"/>
              <a:chOff x="868680" y="2916936"/>
              <a:chExt cx="4023360" cy="822960"/>
            </a:xfrm>
          </p:grpSpPr>
          <p:sp>
            <p:nvSpPr>
              <p:cNvPr id="23" name="Shape 20"/>
              <p:cNvSpPr/>
              <p:nvPr/>
            </p:nvSpPr>
            <p:spPr>
              <a:xfrm>
                <a:off x="868680" y="2916936"/>
                <a:ext cx="4023360" cy="822960"/>
              </a:xfrm>
              <a:prstGeom prst="rect">
                <a:avLst/>
              </a:prstGeom>
              <a:solidFill>
                <a:srgbClr val="EBF5E0"/>
              </a:solidFill>
              <a:ln w="19050">
                <a:solidFill>
                  <a:srgbClr val="548235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4" name="Shape 21"/>
              <p:cNvSpPr/>
              <p:nvPr/>
            </p:nvSpPr>
            <p:spPr>
              <a:xfrm>
                <a:off x="868680" y="2916936"/>
                <a:ext cx="54864" cy="822960"/>
              </a:xfrm>
              <a:prstGeom prst="rect">
                <a:avLst/>
              </a:prstGeom>
              <a:solidFill>
                <a:srgbClr val="548235"/>
              </a:solidFill>
              <a:ln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25" name="Text 22"/>
              <p:cNvSpPr/>
              <p:nvPr/>
            </p:nvSpPr>
            <p:spPr>
              <a:xfrm>
                <a:off x="1051560" y="2935224"/>
                <a:ext cx="384048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54823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CONCEPT MODEL (Semantic Layer)</a:t>
                </a:r>
                <a:endParaRPr lang="en-US" sz="1100" dirty="0"/>
              </a:p>
            </p:txBody>
          </p:sp>
        </p:grpSp>
        <p:sp>
          <p:nvSpPr>
            <p:cNvPr id="26" name="Text 23"/>
            <p:cNvSpPr/>
            <p:nvPr/>
          </p:nvSpPr>
          <p:spPr>
            <a:xfrm>
              <a:off x="1051560" y="3172968"/>
              <a:ext cx="3657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analysis_value, baseline_value, change_value, treatment,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subject, visit, parameter, population_flag, p_value, LS_mean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Standard-agnostic semantic vocabulary — the shared language</a:t>
              </a:r>
              <a:endParaRPr lang="en-US" sz="900" b="1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2D65C33D-3A70-7A03-2ACB-6FE2FA5AC43E}"/>
              </a:ext>
            </a:extLst>
          </p:cNvPr>
          <p:cNvGrpSpPr/>
          <p:nvPr/>
        </p:nvGrpSpPr>
        <p:grpSpPr>
          <a:xfrm>
            <a:off x="5440680" y="2879228"/>
            <a:ext cx="3200400" cy="822960"/>
            <a:chOff x="5440680" y="2916936"/>
            <a:chExt cx="3200400" cy="822960"/>
          </a:xfrm>
        </p:grpSpPr>
        <p:sp>
          <p:nvSpPr>
            <p:cNvPr id="27" name="Shape 24"/>
            <p:cNvSpPr/>
            <p:nvPr/>
          </p:nvSpPr>
          <p:spPr>
            <a:xfrm>
              <a:off x="5440680" y="2916936"/>
              <a:ext cx="3200400" cy="822960"/>
            </a:xfrm>
            <a:prstGeom prst="rect">
              <a:avLst/>
            </a:prstGeom>
            <a:solidFill>
              <a:srgbClr val="EBF5E0"/>
            </a:solidFill>
            <a:ln w="19050">
              <a:solidFill>
                <a:srgbClr val="548235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28" name="Text 25"/>
            <p:cNvSpPr/>
            <p:nvPr/>
          </p:nvSpPr>
          <p:spPr>
            <a:xfrm>
              <a:off x="5577840" y="2935224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5482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INGREDIENT TYPES</a:t>
              </a:r>
              <a:endParaRPr lang="en-US" sz="1100" dirty="0">
                <a:solidFill>
                  <a:srgbClr val="548235"/>
                </a:solidFill>
              </a:endParaRPr>
            </a:p>
          </p:txBody>
        </p:sp>
        <p:sp>
          <p:nvSpPr>
            <p:cNvPr id="29" name="Text 26"/>
            <p:cNvSpPr/>
            <p:nvPr/>
          </p:nvSpPr>
          <p:spPr>
            <a:xfrm>
              <a:off x="5577840" y="3172968"/>
              <a:ext cx="292608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"oil", "vinegar", "mustard"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Not brands — generic types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The shared vocabulary between recipe and pantry</a:t>
              </a:r>
              <a:endParaRPr lang="en-US" sz="900" dirty="0"/>
            </a:p>
          </p:txBody>
        </p: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C9F566C5-6D66-48E7-F084-FC5E47F87F81}"/>
              </a:ext>
            </a:extLst>
          </p:cNvPr>
          <p:cNvGrpSpPr/>
          <p:nvPr/>
        </p:nvGrpSpPr>
        <p:grpSpPr>
          <a:xfrm>
            <a:off x="868680" y="3793062"/>
            <a:ext cx="4023360" cy="685800"/>
            <a:chOff x="868680" y="3849624"/>
            <a:chExt cx="4023360" cy="685800"/>
          </a:xfrm>
        </p:grpSpPr>
        <p:sp>
          <p:nvSpPr>
            <p:cNvPr id="30" name="Shape 27"/>
            <p:cNvSpPr/>
            <p:nvPr/>
          </p:nvSpPr>
          <p:spPr>
            <a:xfrm>
              <a:off x="868680" y="3849624"/>
              <a:ext cx="4023360" cy="685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1" name="Shape 28"/>
            <p:cNvSpPr/>
            <p:nvPr/>
          </p:nvSpPr>
          <p:spPr>
            <a:xfrm>
              <a:off x="868680" y="3849624"/>
              <a:ext cx="54864" cy="685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32" name="Text 29"/>
            <p:cNvSpPr/>
            <p:nvPr/>
          </p:nvSpPr>
          <p:spPr>
            <a:xfrm>
              <a:off x="1051560" y="38679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IMPLEMENTATION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3" name="Text 30"/>
            <p:cNvSpPr/>
            <p:nvPr/>
          </p:nvSpPr>
          <p:spPr>
            <a:xfrm>
              <a:off x="1051560" y="4105656"/>
              <a:ext cx="3657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ADaM / SDTM / OMOP variables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 / SAS / Python code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bindings &amp; code generation</a:t>
              </a:r>
              <a:endParaRPr lang="en-US" sz="900" b="1" dirty="0"/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CFC9054-7A26-F284-FA74-D2E53F23E83E}"/>
              </a:ext>
            </a:extLst>
          </p:cNvPr>
          <p:cNvGrpSpPr/>
          <p:nvPr/>
        </p:nvGrpSpPr>
        <p:grpSpPr>
          <a:xfrm>
            <a:off x="5440680" y="3811916"/>
            <a:ext cx="3200400" cy="685800"/>
            <a:chOff x="5440680" y="3849624"/>
            <a:chExt cx="3200400" cy="685800"/>
          </a:xfrm>
        </p:grpSpPr>
        <p:sp>
          <p:nvSpPr>
            <p:cNvPr id="34" name="Shape 31"/>
            <p:cNvSpPr/>
            <p:nvPr/>
          </p:nvSpPr>
          <p:spPr>
            <a:xfrm>
              <a:off x="5440680" y="3849624"/>
              <a:ext cx="3200400" cy="685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35" name="Text 32"/>
            <p:cNvSpPr/>
            <p:nvPr/>
          </p:nvSpPr>
          <p:spPr>
            <a:xfrm>
              <a:off x="5577840" y="38679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ACTUAL PRODUCTS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36" name="Text 33"/>
            <p:cNvSpPr/>
            <p:nvPr/>
          </p:nvSpPr>
          <p:spPr>
            <a:xfrm>
              <a:off x="5577840" y="4105656"/>
              <a:ext cx="292608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Bertolli olive oil, Whole Foods balsamic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items from your pantry</a:t>
              </a:r>
            </a:p>
            <a:p>
              <a:pPr marL="0" indent="0">
                <a:buNone/>
              </a:pPr>
              <a:r>
                <a:rPr lang="en-US" sz="900" i="1" dirty="0">
                  <a:solidFill>
                    <a:srgbClr val="8C9AAE"/>
                  </a:solidFill>
                  <a:latin typeface="Calibri" pitchFamily="34" charset="0"/>
                  <a:cs typeface="Calibri" pitchFamily="34" charset="-120"/>
                </a:rPr>
                <a:t>Actual Analysis Results</a:t>
              </a:r>
              <a:endParaRPr lang="en-US" sz="9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47BE333-95A5-5038-2AFB-527B0BEBB856}"/>
              </a:ext>
            </a:extLst>
          </p:cNvPr>
          <p:cNvGrpSpPr/>
          <p:nvPr/>
        </p:nvGrpSpPr>
        <p:grpSpPr>
          <a:xfrm>
            <a:off x="868680" y="1325880"/>
            <a:ext cx="4023360" cy="685800"/>
            <a:chOff x="868680" y="1325880"/>
            <a:chExt cx="4023360" cy="68580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507DF902-7B8C-12C3-5483-D0FC511AB869}"/>
                </a:ext>
              </a:extLst>
            </p:cNvPr>
            <p:cNvGrpSpPr/>
            <p:nvPr/>
          </p:nvGrpSpPr>
          <p:grpSpPr>
            <a:xfrm>
              <a:off x="868680" y="1325880"/>
              <a:ext cx="4023360" cy="685800"/>
              <a:chOff x="868680" y="1325880"/>
              <a:chExt cx="4023360" cy="685800"/>
            </a:xfrm>
          </p:grpSpPr>
          <p:sp>
            <p:nvSpPr>
              <p:cNvPr id="43" name="Shape 6">
                <a:extLst>
                  <a:ext uri="{FF2B5EF4-FFF2-40B4-BE49-F238E27FC236}">
                    <a16:creationId xmlns:a16="http://schemas.microsoft.com/office/drawing/2014/main" id="{E2CF8CE7-165C-71F1-3C90-4A3022E41C33}"/>
                  </a:ext>
                </a:extLst>
              </p:cNvPr>
              <p:cNvSpPr/>
              <p:nvPr/>
            </p:nvSpPr>
            <p:spPr>
              <a:xfrm>
                <a:off x="868680" y="1325880"/>
                <a:ext cx="4023360" cy="685800"/>
              </a:xfrm>
              <a:prstGeom prst="rect">
                <a:avLst/>
              </a:prstGeom>
              <a:solidFill>
                <a:srgbClr val="EBF0F5"/>
              </a:solidFill>
              <a:ln w="6350">
                <a:solidFill>
                  <a:srgbClr val="3B8EA5"/>
                </a:solidFill>
                <a:prstDash val="solid"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44" name="Text 8">
                <a:extLst>
                  <a:ext uri="{FF2B5EF4-FFF2-40B4-BE49-F238E27FC236}">
                    <a16:creationId xmlns:a16="http://schemas.microsoft.com/office/drawing/2014/main" id="{8FF9012D-FC57-C2E0-7C00-F4C7BA907432}"/>
                  </a:ext>
                </a:extLst>
              </p:cNvPr>
              <p:cNvSpPr/>
              <p:nvPr/>
            </p:nvSpPr>
            <p:spPr>
              <a:xfrm>
                <a:off x="1051560" y="1344168"/>
                <a:ext cx="27432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B3A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METHOD LAYER</a:t>
                </a:r>
                <a:endParaRPr lang="en-US" sz="1100" dirty="0"/>
              </a:p>
            </p:txBody>
          </p:sp>
          <p:sp>
            <p:nvSpPr>
              <p:cNvPr id="45" name="Text 9">
                <a:extLst>
                  <a:ext uri="{FF2B5EF4-FFF2-40B4-BE49-F238E27FC236}">
                    <a16:creationId xmlns:a16="http://schemas.microsoft.com/office/drawing/2014/main" id="{0A565FAB-2C4D-2383-8E74-4CF9E776B7E4}"/>
                  </a:ext>
                </a:extLst>
              </p:cNvPr>
              <p:cNvSpPr/>
              <p:nvPr/>
            </p:nvSpPr>
            <p:spPr>
              <a:xfrm>
                <a:off x="1051560" y="1581912"/>
                <a:ext cx="36576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8C9AA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Derivation: Subtraction, Division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 dirty="0">
                    <a:solidFill>
                      <a:srgbClr val="8C9AA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Analysis: t-test, ANCOVA, MMRM, Cox PH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 b="1" dirty="0">
                    <a:solidFill>
                      <a:srgbClr val="8C9AA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Pure operations with named roles</a:t>
                </a:r>
                <a:endParaRPr lang="en-US" sz="900" b="1" dirty="0"/>
              </a:p>
            </p:txBody>
          </p:sp>
        </p:grpSp>
        <p:sp>
          <p:nvSpPr>
            <p:cNvPr id="10" name="Shape 7"/>
            <p:cNvSpPr/>
            <p:nvPr/>
          </p:nvSpPr>
          <p:spPr>
            <a:xfrm>
              <a:off x="868680" y="1325880"/>
              <a:ext cx="54864" cy="685800"/>
            </a:xfrm>
            <a:prstGeom prst="rect">
              <a:avLst/>
            </a:prstGeom>
            <a:solidFill>
              <a:srgbClr val="3B8EA5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37" name="Text 34"/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bg_cont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and Analysis - Functions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9144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analysis or a derivation share the same fundamental structure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</a:t>
            </a:r>
            <a:r>
              <a:rPr lang="en-US" sz="1400" b="1" dirty="0">
                <a:solidFill>
                  <a:srgbClr val="EDA8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 Transformation</a:t>
            </a: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has this fundamental structure: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71600" y="18288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i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r>
              <a:rPr lang="en-US" sz="36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3600" b="1" i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36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 </a:t>
            </a:r>
            <a:r>
              <a:rPr lang="en-US" sz="3600" b="1" i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r>
              <a:rPr lang="en-US" sz="36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)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914400" y="2811779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</a:t>
            </a:r>
            <a:r>
              <a:rPr lang="en-US" sz="1400" b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</a:t>
            </a:r>
            <a:r>
              <a:rPr lang="en-US" sz="1400" b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i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cooking technique</a:t>
            </a: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applied to an input of </a:t>
            </a:r>
            <a:r>
              <a:rPr lang="en-US" sz="1400" b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400" i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types</a:t>
            </a: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to provide an output (</a:t>
            </a:r>
            <a:r>
              <a:rPr lang="en-US" sz="1400" b="1" dirty="0">
                <a:solidFill>
                  <a:srgbClr val="548235"/>
                </a:solidFill>
                <a:latin typeface="Calibri" pitchFamily="34" charset="0"/>
                <a:cs typeface="Calibri" pitchFamily="34" charset="-120"/>
              </a:rPr>
              <a:t>Vinaigrette </a:t>
            </a:r>
            <a:r>
              <a:rPr lang="en-US" sz="1400" dirty="0">
                <a:solidFill>
                  <a:srgbClr val="548235"/>
                </a:solidFill>
                <a:latin typeface="Calibri" pitchFamily="34" charset="0"/>
                <a:cs typeface="Calibri" pitchFamily="34" charset="-120"/>
              </a:rPr>
              <a:t>–</a:t>
            </a:r>
            <a:r>
              <a:rPr lang="en-US" sz="1400" b="1" dirty="0">
                <a:solidFill>
                  <a:srgbClr val="548235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400" dirty="0">
                <a:solidFill>
                  <a:srgbClr val="548235"/>
                </a:solidFill>
                <a:latin typeface="Calibri" pitchFamily="34" charset="0"/>
                <a:cs typeface="Calibri" pitchFamily="34" charset="-120"/>
              </a:rPr>
              <a:t>also a concept</a:t>
            </a:r>
            <a:r>
              <a:rPr lang="en-US" sz="14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F699809D-4894-E578-596F-45C06B7C23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2993" y="3217597"/>
            <a:ext cx="4395247" cy="152008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bg_cont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r>
              <a:rPr lang="en-US" sz="28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The Method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our model, </a:t>
            </a:r>
            <a:r>
              <a:rPr lang="en-US" sz="12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</a:t>
            </a: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pure operation defined entirely through named roles.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knows nothing about clinical data, variables, or standards.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31520" y="1371600"/>
            <a:ext cx="379476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E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731520" y="1371600"/>
            <a:ext cx="54864" cy="2560320"/>
          </a:xfrm>
          <a:prstGeom prst="rect">
            <a:avLst/>
          </a:prstGeom>
          <a:solidFill>
            <a:srgbClr val="3B8E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914400" y="1417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 Method: Subtraction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14400" y="1828800"/>
            <a:ext cx="320040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1005840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 := minuend − subtrahend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91440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Roles: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minuend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(input)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subtrahend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(input)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(output)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709160" y="1371600"/>
            <a:ext cx="397764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E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0"/>
          <p:cNvSpPr/>
          <p:nvPr/>
        </p:nvSpPr>
        <p:spPr>
          <a:xfrm>
            <a:off x="4709160" y="1371600"/>
            <a:ext cx="54864" cy="2560320"/>
          </a:xfrm>
          <a:prstGeom prst="rect">
            <a:avLst/>
          </a:prstGeom>
          <a:solidFill>
            <a:srgbClr val="3B8E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489204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Method: ANCOVA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892040" y="1828800"/>
            <a:ext cx="3474720" cy="45720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4983480" y="1828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~ covariate + group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892040" y="2423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Roles: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5074920" y="2697480"/>
            <a:ext cx="34747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(input)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covariate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(input)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(input)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estimate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(output)</a:t>
            </a:r>
            <a:endParaRPr lang="en-US" sz="11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significance</a:t>
            </a: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(output)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251960"/>
            <a:ext cx="9144000" cy="4572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define HOW using named roles — they are standard-independent and reusable.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bg_cont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&amp; Output: Why Concepts?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731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43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914400" y="1005840"/>
            <a:ext cx="7772400" cy="731520"/>
          </a:xfrm>
          <a:prstGeom prst="rect">
            <a:avLst/>
          </a:prstGeom>
          <a:solidFill>
            <a:srgbClr val="FFF5F5"/>
          </a:solidFill>
          <a:ln w="6350">
            <a:solidFill>
              <a:srgbClr val="C4384B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914400" y="1005840"/>
            <a:ext cx="54864" cy="731520"/>
          </a:xfrm>
          <a:prstGeom prst="rect">
            <a:avLst/>
          </a:prstGeom>
          <a:solidFill>
            <a:srgbClr val="C4384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1097280" y="10515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standards organisation, we don't know how your ADaM model looks.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within a single company, multiple ADaM structures may exist across studies.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function references ADaM variables directly, it only works for one specific data structure.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914400" y="1920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Generic Concepts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2194560"/>
            <a:ext cx="7772400" cy="1234440"/>
          </a:xfrm>
          <a:prstGeom prst="rect">
            <a:avLst/>
          </a:prstGeom>
          <a:solidFill>
            <a:srgbClr val="D6EEF3"/>
          </a:solidFill>
          <a:ln w="6350">
            <a:solidFill>
              <a:srgbClr val="3B8E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914400" y="2194560"/>
            <a:ext cx="54864" cy="1234440"/>
          </a:xfrm>
          <a:prstGeom prst="rect">
            <a:avLst/>
          </a:prstGeom>
          <a:solidFill>
            <a:srgbClr val="3B8E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1097280" y="224028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introduce </a:t>
            </a: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generic, standard-agnostic descriptions of the data elements that derivations and analyses need.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the </a:t>
            </a:r>
            <a:endParaRPr lang="en-US" sz="1100" dirty="0"/>
          </a:p>
          <a:p>
            <a:pPr marL="0" indent="0">
              <a:buNone/>
            </a:pPr>
            <a:r>
              <a:rPr lang="en-US" sz="1100" b="1" i="1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ingredient types</a:t>
            </a:r>
            <a:r>
              <a:rPr lang="en-US" sz="1100" dirty="0">
                <a:solidFill>
                  <a:srgbClr val="5482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recipe analogy — "oil", not "Bertolli Extra Virgin".
</a:t>
            </a:r>
          </a:p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input and output of the function refer to these Concepts — not to physical variables.
</a:t>
            </a: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then link your ADaM model to these Concepts to use the function on your study.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914400" y="3703320"/>
            <a:ext cx="2286000" cy="594360"/>
          </a:xfrm>
          <a:prstGeom prst="rect">
            <a:avLst/>
          </a:prstGeom>
          <a:solidFill>
            <a:srgbClr val="F0F0F0"/>
          </a:solidFill>
          <a:ln w="12700">
            <a:solidFill>
              <a:srgbClr val="99999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0"/>
          <p:cNvSpPr/>
          <p:nvPr/>
        </p:nvSpPr>
        <p:spPr>
          <a:xfrm>
            <a:off x="914400" y="37033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ADaM Structure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CHG, AVAL, BASE, TRT01P ...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3246120" y="3794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to →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931920" y="3703320"/>
            <a:ext cx="2926080" cy="59436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3931920" y="3703320"/>
            <a:ext cx="2926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analysis_value, baseline_value,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change_value, treatment ...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903720" y="3794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refers to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7589520" y="3749040"/>
            <a:ext cx="10972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7589520" y="3749040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(roles)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bg_cont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20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Transformation: Derivation &amp; Analysis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914400" y="7315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f(INPUT) </a:t>
            </a:r>
            <a:r>
              <a:rPr lang="en-US" sz="10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whole is the AC/DC template. It orchestrates Method and Concepts through </a:t>
            </a: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Bindings.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1097280"/>
            <a:ext cx="4297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E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4"/>
          <p:cNvSpPr/>
          <p:nvPr/>
        </p:nvSpPr>
        <p:spPr>
          <a:xfrm>
            <a:off x="274320" y="1097280"/>
            <a:ext cx="54864" cy="2926080"/>
          </a:xfrm>
          <a:prstGeom prst="rect">
            <a:avLst/>
          </a:prstGeom>
          <a:solidFill>
            <a:srgbClr val="3B8E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8" name="Text 5"/>
          <p:cNvSpPr/>
          <p:nvPr/>
        </p:nvSpPr>
        <p:spPr>
          <a:xfrm>
            <a:off x="45720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Derivation: </a:t>
            </a:r>
            <a:r>
              <a:rPr lang="en-US" sz="11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ChangeFromBaseline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1389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Intent: Calculate the absolute change from baseline value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5720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Subtraction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57200" y="1847088"/>
            <a:ext cx="2560320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184708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difference := minuend − subtrahend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2927020"/>
              </p:ext>
            </p:extLst>
          </p:nvPr>
        </p:nvGraphicFramePr>
        <p:xfrm>
          <a:off x="457200" y="2240280"/>
          <a:ext cx="4032505" cy="1249680"/>
        </p:xfrm>
        <a:graphic>
          <a:graphicData uri="http://schemas.openxmlformats.org/drawingml/2006/table">
            <a:tbl>
              <a:tblPr/>
              <a:tblGrid>
                <a:gridCol w="1409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01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42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87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analysis_value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minuend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baseline_value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subtrahend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 err="1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change_from_ref_value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difference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subject, visit, parameter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scope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dimension(s)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Shape 10"/>
          <p:cNvSpPr/>
          <p:nvPr/>
        </p:nvSpPr>
        <p:spPr>
          <a:xfrm>
            <a:off x="4709160" y="1097280"/>
            <a:ext cx="42976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Shape 11"/>
          <p:cNvSpPr/>
          <p:nvPr/>
        </p:nvSpPr>
        <p:spPr>
          <a:xfrm>
            <a:off x="4709160" y="1097280"/>
            <a:ext cx="54864" cy="29260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2"/>
          <p:cNvSpPr/>
          <p:nvPr/>
        </p:nvSpPr>
        <p:spPr>
          <a:xfrm>
            <a:off x="489204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Analysis: </a:t>
            </a:r>
            <a:r>
              <a:rPr lang="en-US" sz="11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CFB_ANCOVA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92040" y="1389888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Intent: Compare treatment groups on change from baseline using ANCOVA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892040" y="162763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ANCOVA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4892040" y="1847088"/>
            <a:ext cx="2926080" cy="274320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6"/>
          <p:cNvSpPr/>
          <p:nvPr/>
        </p:nvSpPr>
        <p:spPr>
          <a:xfrm>
            <a:off x="4983480" y="184708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~ covariate + group</a:t>
            </a:r>
            <a:endParaRPr lang="en-US" sz="9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4559166"/>
              </p:ext>
            </p:extLst>
          </p:nvPr>
        </p:nvGraphicFramePr>
        <p:xfrm>
          <a:off x="4892040" y="2240280"/>
          <a:ext cx="3931920" cy="1353312"/>
        </p:xfrm>
        <a:graphic>
          <a:graphicData uri="http://schemas.openxmlformats.org/drawingml/2006/table">
            <a:tbl>
              <a:tblPr/>
              <a:tblGrid>
                <a:gridCol w="13862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72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91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dsRole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 err="1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change_from_ref_value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response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treatment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group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dimension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baseline_value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covariate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population_flag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filter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dimension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significance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output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measure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2" name="Shape 17"/>
          <p:cNvSpPr/>
          <p:nvPr/>
        </p:nvSpPr>
        <p:spPr>
          <a:xfrm>
            <a:off x="0" y="4251960"/>
            <a:ext cx="9144000" cy="4572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3" name="Text 18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 captures clinical intent — not just what the operation is, but why you're doing it.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9A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bg_content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828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Abstract to Concrete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use a Transformation on your study, you provide </a:t>
            </a:r>
            <a:r>
              <a:rPr lang="en-US" sz="11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Bindings</a:t>
            </a: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r>
              <a:rPr lang="en-US" sz="11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study-specific configuration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which variables, which parameter, which visit, which population.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34440"/>
            <a:ext cx="393192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3B8E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54864" cy="2788920"/>
          </a:xfrm>
          <a:prstGeom prst="rect">
            <a:avLst/>
          </a:prstGeom>
          <a:solidFill>
            <a:srgbClr val="3B8E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7" name="Text 4"/>
          <p:cNvSpPr/>
          <p:nvPr/>
        </p:nvSpPr>
        <p:spPr>
          <a:xfrm>
            <a:off x="731520" y="1261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Study Configuration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4960015"/>
              </p:ext>
            </p:extLst>
          </p:nvPr>
        </p:nvGraphicFramePr>
        <p:xfrm>
          <a:off x="731520" y="1600200"/>
          <a:ext cx="3657599" cy="1152144"/>
        </p:xfrm>
        <a:graphic>
          <a:graphicData uri="http://schemas.openxmlformats.org/drawingml/2006/table">
            <a:tbl>
              <a:tblPr/>
              <a:tblGrid>
                <a:gridCol w="16087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19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6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analysis_value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AVAL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baseline_value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 err="1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change_from_ref_value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CHG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subject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USUBJID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731520" y="27249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Study-Specific Configuration</a:t>
            </a:r>
            <a:endParaRPr lang="en-US" sz="10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971800"/>
          <a:ext cx="3474720" cy="685800"/>
        </p:xfrm>
        <a:graphic>
          <a:graphicData uri="http://schemas.openxmlformats.org/drawingml/2006/table">
            <a:tbl>
              <a:tblPr/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parameter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ACTOT11  (ADAS-Cog 11)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visit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Week 24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population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=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ITT  (ITTFL = 'Y')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" name="Shape 7"/>
          <p:cNvSpPr/>
          <p:nvPr/>
        </p:nvSpPr>
        <p:spPr>
          <a:xfrm>
            <a:off x="4709160" y="1234440"/>
            <a:ext cx="411480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8"/>
          <p:cNvSpPr/>
          <p:nvPr/>
        </p:nvSpPr>
        <p:spPr>
          <a:xfrm>
            <a:off x="484632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 Transformation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4846320" y="150876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ChangeFromBaseline</a:t>
            </a:r>
            <a:r>
              <a:rPr lang="en-US" sz="1100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</a:t>
            </a:r>
            <a:r>
              <a:rPr lang="en-US" sz="11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ADQSADAS</a:t>
            </a:r>
            <a:endParaRPr lang="en-US" sz="1100" dirty="0"/>
          </a:p>
        </p:txBody>
      </p:sp>
      <p:graphicFrame>
        <p:nvGraphicFramePr>
          <p:cNvPr id="37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169777"/>
              </p:ext>
            </p:extLst>
          </p:nvPr>
        </p:nvGraphicFramePr>
        <p:xfrm>
          <a:off x="4800600" y="1737360"/>
          <a:ext cx="3963691" cy="1115568"/>
        </p:xfrm>
        <a:graphic>
          <a:graphicData uri="http://schemas.openxmlformats.org/drawingml/2006/table">
            <a:tbl>
              <a:tblPr/>
              <a:tblGrid>
                <a:gridCol w="886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5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71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572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66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 Role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EA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82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endParaRPr lang="en-US" sz="800" dirty="0"/>
                    </a:p>
                  </a:txBody>
                  <a:tcPr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6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minuend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C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analysis_value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C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ADQSADAS.AVAL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subtrahend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8C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baseline_value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C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ADQSADAS.BASE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difference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8C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 err="1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change_from_ref_value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C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ADQSADAS.CHG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EF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94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scope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>
                          <a:solidFill>
                            <a:srgbClr val="8C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→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subject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8C9AA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←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2D2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USUBJID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Shape 10"/>
          <p:cNvSpPr/>
          <p:nvPr/>
        </p:nvSpPr>
        <p:spPr>
          <a:xfrm>
            <a:off x="4800600" y="2904382"/>
            <a:ext cx="3474720" cy="256032"/>
          </a:xfrm>
          <a:prstGeom prst="rect">
            <a:avLst/>
          </a:prstGeom>
          <a:solidFill>
            <a:srgbClr val="F5F7FA"/>
          </a:solidFill>
          <a:ln w="6350">
            <a:solidFill>
              <a:srgbClr val="D0D5D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1"/>
          <p:cNvSpPr/>
          <p:nvPr/>
        </p:nvSpPr>
        <p:spPr>
          <a:xfrm>
            <a:off x="4937760" y="288036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ADQSADAS.CHG := ADQSADAS.AVAL − ADQSADAS.BASE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4846320" y="3218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43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5029200" y="3383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PARAMCD = 'ACTOT11'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AVISIT = 'Week 24'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2D2D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AND ITTFL  = 'Y'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0" y="4206240"/>
            <a:ext cx="9144000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1" name="Text 15"/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Transformation, different study?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bindings and configuration change. The template, the method, and the concepts stay the same.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914400" y="2743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 in the data flow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914400" y="8229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traceable arc from protocol question to statistical result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48640" y="1666239"/>
            <a:ext cx="1188720" cy="86868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548640" y="1711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230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USDM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1691640" y="194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66B"/>
                </a:solidFill>
              </a:rPr>
              <a:t>▶</a:t>
            </a:r>
          </a:p>
        </p:txBody>
      </p:sp>
      <p:sp>
        <p:nvSpPr>
          <p:cNvPr id="9" name="Shape 6"/>
          <p:cNvSpPr/>
          <p:nvPr/>
        </p:nvSpPr>
        <p:spPr>
          <a:xfrm>
            <a:off x="1965960" y="1666239"/>
            <a:ext cx="1188720" cy="86868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1965960" y="1711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965960" y="230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USDM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3108960" y="194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66B"/>
                </a:solidFill>
              </a:rPr>
              <a:t>▶</a:t>
            </a:r>
          </a:p>
        </p:txBody>
      </p:sp>
      <p:sp>
        <p:nvSpPr>
          <p:cNvPr id="13" name="Shape 10"/>
          <p:cNvSpPr/>
          <p:nvPr/>
        </p:nvSpPr>
        <p:spPr>
          <a:xfrm>
            <a:off x="3383280" y="1666239"/>
            <a:ext cx="1188720" cy="86868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383280" y="1711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383280" y="230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USDM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526280" y="194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66B"/>
                </a:solidFill>
              </a:rPr>
              <a:t>▶</a:t>
            </a:r>
          </a:p>
        </p:txBody>
      </p:sp>
      <p:sp>
        <p:nvSpPr>
          <p:cNvPr id="17" name="Shape 14"/>
          <p:cNvSpPr/>
          <p:nvPr/>
        </p:nvSpPr>
        <p:spPr>
          <a:xfrm>
            <a:off x="4800600" y="1666239"/>
            <a:ext cx="1188720" cy="8686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800600" y="1711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(AC)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800600" y="230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5943600" y="194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66B"/>
                </a:solidFill>
              </a:rPr>
              <a:t>▶</a:t>
            </a:r>
          </a:p>
        </p:txBody>
      </p:sp>
      <p:sp>
        <p:nvSpPr>
          <p:cNvPr id="21" name="Shape 18"/>
          <p:cNvSpPr/>
          <p:nvPr/>
        </p:nvSpPr>
        <p:spPr>
          <a:xfrm>
            <a:off x="6217920" y="1666239"/>
            <a:ext cx="1188720" cy="868680"/>
          </a:xfrm>
          <a:prstGeom prst="rect">
            <a:avLst/>
          </a:prstGeom>
          <a:solidFill>
            <a:srgbClr val="3B8E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2" name="Text 19"/>
          <p:cNvSpPr/>
          <p:nvPr/>
        </p:nvSpPr>
        <p:spPr>
          <a:xfrm>
            <a:off x="6217920" y="1711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(DC)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217920" y="230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7635240" y="1666239"/>
            <a:ext cx="1188720" cy="868680"/>
          </a:xfrm>
          <a:prstGeom prst="rect">
            <a:avLst/>
          </a:prstGeom>
          <a:solidFill>
            <a:srgbClr val="5B7FA5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26" name="Text 23"/>
          <p:cNvSpPr/>
          <p:nvPr/>
        </p:nvSpPr>
        <p:spPr>
          <a:xfrm>
            <a:off x="7635240" y="1711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(Collected)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635240" y="230632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Via BC/BC properties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CBB98B26-D4D4-6C8D-921E-FD456F6175C8}"/>
              </a:ext>
            </a:extLst>
          </p:cNvPr>
          <p:cNvSpPr/>
          <p:nvPr/>
        </p:nvSpPr>
        <p:spPr>
          <a:xfrm>
            <a:off x="1959336" y="3266993"/>
            <a:ext cx="1188720" cy="86868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0880C2C0-3A71-DD5B-63FB-AE831862571E}"/>
              </a:ext>
            </a:extLst>
          </p:cNvPr>
          <p:cNvSpPr/>
          <p:nvPr/>
        </p:nvSpPr>
        <p:spPr>
          <a:xfrm>
            <a:off x="1959336" y="3312713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1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6943515E-DBEC-5754-2AEA-9C62838461B6}"/>
              </a:ext>
            </a:extLst>
          </p:cNvPr>
          <p:cNvSpPr/>
          <p:nvPr/>
        </p:nvSpPr>
        <p:spPr>
          <a:xfrm>
            <a:off x="1959336" y="3907073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USDM</a:t>
            </a:r>
            <a:endParaRPr lang="en-US" sz="800" dirty="0"/>
          </a:p>
        </p:txBody>
      </p:sp>
      <p:sp>
        <p:nvSpPr>
          <p:cNvPr id="34" name="Shape 10">
            <a:extLst>
              <a:ext uri="{FF2B5EF4-FFF2-40B4-BE49-F238E27FC236}">
                <a16:creationId xmlns:a16="http://schemas.microsoft.com/office/drawing/2014/main" id="{3512439B-6587-EA42-51B0-3E9A74092708}"/>
              </a:ext>
            </a:extLst>
          </p:cNvPr>
          <p:cNvSpPr/>
          <p:nvPr/>
        </p:nvSpPr>
        <p:spPr>
          <a:xfrm>
            <a:off x="3376656" y="3266993"/>
            <a:ext cx="1188720" cy="868680"/>
          </a:xfrm>
          <a:prstGeom prst="rect">
            <a:avLst/>
          </a:prstGeom>
          <a:solidFill>
            <a:srgbClr val="4CA66B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5591C56C-1CF0-6B55-893F-49A372108847}"/>
              </a:ext>
            </a:extLst>
          </p:cNvPr>
          <p:cNvSpPr/>
          <p:nvPr/>
        </p:nvSpPr>
        <p:spPr>
          <a:xfrm>
            <a:off x="3376656" y="3312713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1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009C73AC-A096-46D7-2461-490F7F8DFD2E}"/>
              </a:ext>
            </a:extLst>
          </p:cNvPr>
          <p:cNvSpPr/>
          <p:nvPr/>
        </p:nvSpPr>
        <p:spPr>
          <a:xfrm>
            <a:off x="3376656" y="3907073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USDM</a:t>
            </a:r>
            <a:endParaRPr lang="en-US" sz="800" dirty="0"/>
          </a:p>
        </p:txBody>
      </p:sp>
      <p:sp>
        <p:nvSpPr>
          <p:cNvPr id="40" name="Shape 14">
            <a:extLst>
              <a:ext uri="{FF2B5EF4-FFF2-40B4-BE49-F238E27FC236}">
                <a16:creationId xmlns:a16="http://schemas.microsoft.com/office/drawing/2014/main" id="{BA50163F-9A4C-0C71-3424-C8ECA4FD67BE}"/>
              </a:ext>
            </a:extLst>
          </p:cNvPr>
          <p:cNvSpPr/>
          <p:nvPr/>
        </p:nvSpPr>
        <p:spPr>
          <a:xfrm>
            <a:off x="4793976" y="3266993"/>
            <a:ext cx="1188720" cy="8686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CCAD7EBA-B514-3F76-10C1-3E0955A6E870}"/>
              </a:ext>
            </a:extLst>
          </p:cNvPr>
          <p:cNvSpPr/>
          <p:nvPr/>
        </p:nvSpPr>
        <p:spPr>
          <a:xfrm>
            <a:off x="4793976" y="3312713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DBC9388D-7E67-F6C8-018D-96B17EF4B9B3}"/>
              </a:ext>
            </a:extLst>
          </p:cNvPr>
          <p:cNvSpPr/>
          <p:nvPr/>
        </p:nvSpPr>
        <p:spPr>
          <a:xfrm>
            <a:off x="4793976" y="3907073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</a:t>
            </a:r>
            <a:endParaRPr lang="en-US" sz="800" dirty="0"/>
          </a:p>
        </p:txBody>
      </p:sp>
      <p:sp>
        <p:nvSpPr>
          <p:cNvPr id="44" name="Shape 18">
            <a:extLst>
              <a:ext uri="{FF2B5EF4-FFF2-40B4-BE49-F238E27FC236}">
                <a16:creationId xmlns:a16="http://schemas.microsoft.com/office/drawing/2014/main" id="{1FF4A779-38AE-07D3-1244-DE7EDAA337A8}"/>
              </a:ext>
            </a:extLst>
          </p:cNvPr>
          <p:cNvSpPr/>
          <p:nvPr/>
        </p:nvSpPr>
        <p:spPr>
          <a:xfrm>
            <a:off x="6211296" y="3266993"/>
            <a:ext cx="1188720" cy="868680"/>
          </a:xfrm>
          <a:prstGeom prst="rect">
            <a:avLst/>
          </a:prstGeom>
          <a:solidFill>
            <a:srgbClr val="3B8EA5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5" name="Text 19">
            <a:extLst>
              <a:ext uri="{FF2B5EF4-FFF2-40B4-BE49-F238E27FC236}">
                <a16:creationId xmlns:a16="http://schemas.microsoft.com/office/drawing/2014/main" id="{5D6EF2A6-CB96-C36E-FCC5-17AC4676355B}"/>
              </a:ext>
            </a:extLst>
          </p:cNvPr>
          <p:cNvSpPr/>
          <p:nvPr/>
        </p:nvSpPr>
        <p:spPr>
          <a:xfrm>
            <a:off x="6211296" y="3312713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Data</a:t>
            </a:r>
            <a:endParaRPr lang="en-US" sz="1100" dirty="0"/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2F9D3E25-BBD9-24F3-24B8-83636573D21E}"/>
              </a:ext>
            </a:extLst>
          </p:cNvPr>
          <p:cNvSpPr/>
          <p:nvPr/>
        </p:nvSpPr>
        <p:spPr>
          <a:xfrm>
            <a:off x="6211296" y="3907073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</a:t>
            </a:r>
            <a:endParaRPr lang="en-US" sz="800" dirty="0"/>
          </a:p>
        </p:txBody>
      </p:sp>
      <p:sp>
        <p:nvSpPr>
          <p:cNvPr id="47" name="Shape 22">
            <a:extLst>
              <a:ext uri="{FF2B5EF4-FFF2-40B4-BE49-F238E27FC236}">
                <a16:creationId xmlns:a16="http://schemas.microsoft.com/office/drawing/2014/main" id="{95FBEC27-F280-E6A6-5A2A-A0A7EEEA320D}"/>
              </a:ext>
            </a:extLst>
          </p:cNvPr>
          <p:cNvSpPr/>
          <p:nvPr/>
        </p:nvSpPr>
        <p:spPr>
          <a:xfrm>
            <a:off x="7628616" y="3266993"/>
            <a:ext cx="1188720" cy="868680"/>
          </a:xfrm>
          <a:prstGeom prst="rect">
            <a:avLst/>
          </a:prstGeom>
          <a:solidFill>
            <a:srgbClr val="5B7FA5"/>
          </a:solidFill>
          <a:ln/>
        </p:spPr>
        <p:txBody>
          <a:bodyPr/>
          <a:lstStyle/>
          <a:p>
            <a:endParaRPr lang="en-GB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686DC03F-6357-0D19-DFF7-EA1EDAEA71F5}"/>
              </a:ext>
            </a:extLst>
          </p:cNvPr>
          <p:cNvSpPr/>
          <p:nvPr/>
        </p:nvSpPr>
        <p:spPr>
          <a:xfrm>
            <a:off x="7628616" y="3312713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data</a:t>
            </a:r>
            <a:endParaRPr lang="en-US" sz="1100" dirty="0"/>
          </a:p>
        </p:txBody>
      </p:sp>
      <p:sp>
        <p:nvSpPr>
          <p:cNvPr id="49" name="Text 24">
            <a:extLst>
              <a:ext uri="{FF2B5EF4-FFF2-40B4-BE49-F238E27FC236}">
                <a16:creationId xmlns:a16="http://schemas.microsoft.com/office/drawing/2014/main" id="{E0944C53-EDD7-EBCE-9AD0-D31C508F4376}"/>
              </a:ext>
            </a:extLst>
          </p:cNvPr>
          <p:cNvSpPr/>
          <p:nvPr/>
        </p:nvSpPr>
        <p:spPr>
          <a:xfrm>
            <a:off x="7628616" y="3907073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Via BC/BC properties</a:t>
            </a:r>
            <a:endParaRPr lang="en-US" sz="800" dirty="0"/>
          </a:p>
        </p:txBody>
      </p:sp>
      <p:sp>
        <p:nvSpPr>
          <p:cNvPr id="50" name="Reverse Arrow">
            <a:extLst>
              <a:ext uri="{FF2B5EF4-FFF2-40B4-BE49-F238E27FC236}">
                <a16:creationId xmlns:a16="http://schemas.microsoft.com/office/drawing/2014/main" id="{FBB96BAE-9D74-F49B-EE87-5E9FB3F956B8}"/>
              </a:ext>
            </a:extLst>
          </p:cNvPr>
          <p:cNvSpPr/>
          <p:nvPr/>
        </p:nvSpPr>
        <p:spPr>
          <a:xfrm>
            <a:off x="7358106" y="355787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4543"/>
                </a:solidFill>
              </a:rPr>
              <a:t>◀</a:t>
            </a:r>
          </a:p>
        </p:txBody>
      </p:sp>
      <p:sp>
        <p:nvSpPr>
          <p:cNvPr id="97" name="Reverse Arrow">
            <a:extLst>
              <a:ext uri="{FF2B5EF4-FFF2-40B4-BE49-F238E27FC236}">
                <a16:creationId xmlns:a16="http://schemas.microsoft.com/office/drawing/2014/main" id="{64A28F00-F748-85EA-5106-58E73514C0C9}"/>
              </a:ext>
            </a:extLst>
          </p:cNvPr>
          <p:cNvSpPr/>
          <p:nvPr/>
        </p:nvSpPr>
        <p:spPr>
          <a:xfrm>
            <a:off x="5940124" y="355787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4543"/>
                </a:solidFill>
              </a:rPr>
              <a:t>◀</a:t>
            </a:r>
          </a:p>
        </p:txBody>
      </p:sp>
      <p:sp>
        <p:nvSpPr>
          <p:cNvPr id="98" name="Reverse Arrow">
            <a:extLst>
              <a:ext uri="{FF2B5EF4-FFF2-40B4-BE49-F238E27FC236}">
                <a16:creationId xmlns:a16="http://schemas.microsoft.com/office/drawing/2014/main" id="{6BB5C4CF-BD86-941D-3ED5-B7F8BD1850FF}"/>
              </a:ext>
            </a:extLst>
          </p:cNvPr>
          <p:cNvSpPr/>
          <p:nvPr/>
        </p:nvSpPr>
        <p:spPr>
          <a:xfrm>
            <a:off x="4522144" y="355787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4543"/>
                </a:solidFill>
              </a:rPr>
              <a:t>◀</a:t>
            </a:r>
          </a:p>
        </p:txBody>
      </p:sp>
      <p:sp>
        <p:nvSpPr>
          <p:cNvPr id="100" name="Reverse Arrow">
            <a:extLst>
              <a:ext uri="{FF2B5EF4-FFF2-40B4-BE49-F238E27FC236}">
                <a16:creationId xmlns:a16="http://schemas.microsoft.com/office/drawing/2014/main" id="{F0738677-338D-6E00-4496-FA0FA2161963}"/>
              </a:ext>
            </a:extLst>
          </p:cNvPr>
          <p:cNvSpPr/>
          <p:nvPr/>
        </p:nvSpPr>
        <p:spPr>
          <a:xfrm>
            <a:off x="3120729" y="3557879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94543"/>
                </a:solidFill>
              </a:rPr>
              <a:t>◀</a:t>
            </a:r>
          </a:p>
        </p:txBody>
      </p:sp>
      <p:sp>
        <p:nvSpPr>
          <p:cNvPr id="102" name="Text 17">
            <a:extLst>
              <a:ext uri="{FF2B5EF4-FFF2-40B4-BE49-F238E27FC236}">
                <a16:creationId xmlns:a16="http://schemas.microsoft.com/office/drawing/2014/main" id="{AF6AD7CC-AD27-49EB-2273-4BA7336DC777}"/>
              </a:ext>
            </a:extLst>
          </p:cNvPr>
          <p:cNvSpPr/>
          <p:nvPr/>
        </p:nvSpPr>
        <p:spPr>
          <a:xfrm>
            <a:off x="7358269" y="1940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CA66B"/>
                </a:solidFill>
              </a:rPr>
              <a:t>▶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03FD1F-2D9F-DE41-B500-3875F5A039B0}"/>
              </a:ext>
            </a:extLst>
          </p:cNvPr>
          <p:cNvSpPr/>
          <p:nvPr/>
        </p:nvSpPr>
        <p:spPr>
          <a:xfrm>
            <a:off x="546100" y="1333500"/>
            <a:ext cx="8280400" cy="279400"/>
          </a:xfrm>
          <a:prstGeom prst="roundRect">
            <a:avLst/>
          </a:prstGeom>
          <a:solidFill>
            <a:srgbClr val="4CA66B">
              <a:alpha val="20000"/>
            </a:srgbClr>
          </a:solidFill>
          <a:ln w="12700" cap="flat" cmpd="sng" algn="ctr">
            <a:solidFill>
              <a:srgbClr val="4CA66B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GB" sz="1400" b="1" dirty="0">
                <a:solidFill>
                  <a:srgbClr val="4CA66B"/>
                </a:solidFill>
                <a:latin typeface="Calibri"/>
                <a:cs typeface="Calibri"/>
              </a:rPr>
              <a:t>SPECIFICATION  </a:t>
            </a:r>
            <a:r>
              <a:rPr lang="en-GB" sz="1200" b="1" dirty="0">
                <a:solidFill>
                  <a:srgbClr val="4CA66B"/>
                </a:solidFill>
                <a:latin typeface="Calibri"/>
                <a:cs typeface="Calibri"/>
              </a:rPr>
              <a:t>▶</a:t>
            </a:r>
            <a:endParaRPr lang="en-GB" sz="1400" b="1" dirty="0">
              <a:solidFill>
                <a:srgbClr val="4CA66B"/>
              </a:solidFill>
              <a:latin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3CD7F0-BE04-B34D-B6D4-356FAAF6E4B0}"/>
              </a:ext>
            </a:extLst>
          </p:cNvPr>
          <p:cNvSpPr txBox="1"/>
          <p:nvPr/>
        </p:nvSpPr>
        <p:spPr>
          <a:xfrm>
            <a:off x="2402961" y="4193983"/>
            <a:ext cx="6544744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r"/>
            <a:r>
              <a:rPr lang="en-GB" sz="1200" i="1" dirty="0">
                <a:solidFill>
                  <a:srgbClr val="777777"/>
                </a:solidFill>
                <a:latin typeface="Calibri"/>
                <a:cs typeface="Calibri"/>
              </a:rPr>
              <a:t>Concluding on endpoints &amp; objectives ◂ feeds analysis results ◂ used in derivations ◂ Data is collected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E9E1517C-6858-954B-88F9-424AE4F725A7}"/>
              </a:ext>
            </a:extLst>
          </p:cNvPr>
          <p:cNvSpPr/>
          <p:nvPr/>
        </p:nvSpPr>
        <p:spPr>
          <a:xfrm>
            <a:off x="1955800" y="2929283"/>
            <a:ext cx="6870700" cy="279400"/>
          </a:xfrm>
          <a:prstGeom prst="roundRect">
            <a:avLst/>
          </a:prstGeom>
          <a:solidFill>
            <a:srgbClr val="C94543">
              <a:alpha val="20000"/>
            </a:srgbClr>
          </a:solidFill>
          <a:ln w="12700" cap="flat" cmpd="sng" algn="ctr">
            <a:solidFill>
              <a:srgbClr val="C9454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>
            <a:noAutofit/>
          </a:bodyPr>
          <a:lstStyle/>
          <a:p>
            <a:pPr algn="l"/>
            <a:r>
              <a:rPr lang="en-GB" sz="1200" b="1" dirty="0">
                <a:solidFill>
                  <a:srgbClr val="C94543"/>
                </a:solidFill>
                <a:latin typeface="Calibri"/>
                <a:cs typeface="Calibri"/>
              </a:rPr>
              <a:t>◀  </a:t>
            </a:r>
            <a:r>
              <a:rPr lang="en-GB" sz="1400" b="1" dirty="0">
                <a:solidFill>
                  <a:srgbClr val="C94543"/>
                </a:solidFill>
                <a:latin typeface="Calibri"/>
                <a:cs typeface="Calibri"/>
              </a:rPr>
              <a:t>EXECUTION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3E03EA6-693C-59AA-B015-49EC39959892}"/>
              </a:ext>
            </a:extLst>
          </p:cNvPr>
          <p:cNvSpPr txBox="1"/>
          <p:nvPr/>
        </p:nvSpPr>
        <p:spPr>
          <a:xfrm>
            <a:off x="978510" y="2573019"/>
            <a:ext cx="7991061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GB" sz="1200" i="1" dirty="0">
                <a:solidFill>
                  <a:srgbClr val="777777"/>
                </a:solidFill>
                <a:latin typeface="Calibri"/>
                <a:cs typeface="Calibri"/>
              </a:rPr>
              <a:t>Endpoint details Objective▸ Endpoint require analysis ▸ Analysis require derivation▸ Derivation require data to be collected</a:t>
            </a:r>
          </a:p>
        </p:txBody>
      </p:sp>
    </p:spTree>
    <p:extLst>
      <p:ext uri="{BB962C8B-B14F-4D97-AF65-F5344CB8AC3E}">
        <p14:creationId xmlns:p14="http://schemas.microsoft.com/office/powerpoint/2010/main" val="948882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BFE2-EEF4-0546-9397-E7236D141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rapezium 94">
            <a:extLst>
              <a:ext uri="{FF2B5EF4-FFF2-40B4-BE49-F238E27FC236}">
                <a16:creationId xmlns:a16="http://schemas.microsoft.com/office/drawing/2014/main" id="{AB90555B-7F04-5011-31D6-6E4C57742FB1}"/>
              </a:ext>
            </a:extLst>
          </p:cNvPr>
          <p:cNvSpPr/>
          <p:nvPr/>
        </p:nvSpPr>
        <p:spPr>
          <a:xfrm rot="16200000">
            <a:off x="3456614" y="2294999"/>
            <a:ext cx="3781232" cy="684000"/>
          </a:xfrm>
          <a:prstGeom prst="trapezoid">
            <a:avLst>
              <a:gd name="adj" fmla="val 150716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2B911278-FB22-F999-D57E-235C7F730A12}"/>
              </a:ext>
            </a:extLst>
          </p:cNvPr>
          <p:cNvSpPr/>
          <p:nvPr/>
        </p:nvSpPr>
        <p:spPr>
          <a:xfrm>
            <a:off x="914400" y="13716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Template can refer to USDM elements</a:t>
            </a:r>
            <a:endParaRPr lang="en-US" sz="2600" dirty="0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22536BCE-14BE-15DD-D7CE-E2FA0F0DEFAC}"/>
              </a:ext>
            </a:extLst>
          </p:cNvPr>
          <p:cNvSpPr/>
          <p:nvPr/>
        </p:nvSpPr>
        <p:spPr>
          <a:xfrm>
            <a:off x="5394960" y="640080"/>
            <a:ext cx="3474720" cy="3886200"/>
          </a:xfrm>
          <a:prstGeom prst="rect">
            <a:avLst/>
          </a:prstGeom>
          <a:solidFill>
            <a:srgbClr val="D5E8FF"/>
          </a:solidFill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AB21F189-3536-2F06-0D94-2757B1F0D2CB}"/>
              </a:ext>
            </a:extLst>
          </p:cNvPr>
          <p:cNvSpPr/>
          <p:nvPr/>
        </p:nvSpPr>
        <p:spPr>
          <a:xfrm>
            <a:off x="5394960" y="640080"/>
            <a:ext cx="3474720" cy="27432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23DF1D52-8C03-DEB0-D7CC-F5FA26166659}"/>
              </a:ext>
            </a:extLst>
          </p:cNvPr>
          <p:cNvSpPr/>
          <p:nvPr/>
        </p:nvSpPr>
        <p:spPr>
          <a:xfrm>
            <a:off x="5394960" y="6400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USDM Protocol</a:t>
            </a:r>
            <a:endParaRPr lang="en-US" sz="1100" dirty="0"/>
          </a:p>
        </p:txBody>
      </p:sp>
      <p:sp>
        <p:nvSpPr>
          <p:cNvPr id="42" name="Shape 39">
            <a:extLst>
              <a:ext uri="{FF2B5EF4-FFF2-40B4-BE49-F238E27FC236}">
                <a16:creationId xmlns:a16="http://schemas.microsoft.com/office/drawing/2014/main" id="{15ED48AB-A349-498B-F4B8-386A1E74B230}"/>
              </a:ext>
            </a:extLst>
          </p:cNvPr>
          <p:cNvSpPr/>
          <p:nvPr/>
        </p:nvSpPr>
        <p:spPr>
          <a:xfrm>
            <a:off x="5532120" y="100584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122700DE-5AC9-AAF0-9F17-772D26834B28}"/>
              </a:ext>
            </a:extLst>
          </p:cNvPr>
          <p:cNvSpPr/>
          <p:nvPr/>
        </p:nvSpPr>
        <p:spPr>
          <a:xfrm>
            <a:off x="5623560" y="10332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/ Endpoint</a:t>
            </a:r>
            <a:endParaRPr lang="en-US" sz="900" dirty="0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BEAC66B3-53A0-8593-093A-0BF3FD767F5B}"/>
              </a:ext>
            </a:extLst>
          </p:cNvPr>
          <p:cNvSpPr/>
          <p:nvPr/>
        </p:nvSpPr>
        <p:spPr>
          <a:xfrm>
            <a:off x="5623560" y="122529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OBJ1 → END1: ADAS-Cog(11) at Week 24</a:t>
            </a:r>
            <a:endParaRPr lang="en-US" sz="700" dirty="0"/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7ECB41A8-CBE2-6BFD-E1C1-B386803ED355}"/>
              </a:ext>
            </a:extLst>
          </p:cNvPr>
          <p:cNvSpPr/>
          <p:nvPr/>
        </p:nvSpPr>
        <p:spPr>
          <a:xfrm>
            <a:off x="5532120" y="1536192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D08BBF94-2A98-0AD9-8EF2-90A27D7FC429}"/>
              </a:ext>
            </a:extLst>
          </p:cNvPr>
          <p:cNvSpPr/>
          <p:nvPr/>
        </p:nvSpPr>
        <p:spPr>
          <a:xfrm>
            <a:off x="5623560" y="156362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BiomedicalConcept</a:t>
            </a:r>
            <a:endParaRPr lang="en-US" sz="900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6832D325-ED8B-E68C-B584-590DCB700FF9}"/>
              </a:ext>
            </a:extLst>
          </p:cNvPr>
          <p:cNvSpPr/>
          <p:nvPr/>
        </p:nvSpPr>
        <p:spPr>
          <a:xfrm>
            <a:off x="5623560" y="17556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ADAS-Cog(11) Total Score (C173281)</a:t>
            </a:r>
            <a:endParaRPr lang="en-US" sz="700" dirty="0"/>
          </a:p>
        </p:txBody>
      </p:sp>
      <p:sp>
        <p:nvSpPr>
          <p:cNvPr id="53" name="Shape 50">
            <a:extLst>
              <a:ext uri="{FF2B5EF4-FFF2-40B4-BE49-F238E27FC236}">
                <a16:creationId xmlns:a16="http://schemas.microsoft.com/office/drawing/2014/main" id="{04C2D958-1C9D-BA3E-99BB-87F4831C2FC2}"/>
              </a:ext>
            </a:extLst>
          </p:cNvPr>
          <p:cNvSpPr/>
          <p:nvPr/>
        </p:nvSpPr>
        <p:spPr>
          <a:xfrm>
            <a:off x="5532120" y="2066544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AC38C446-9CA6-A184-0ABA-ED9B65734439}"/>
              </a:ext>
            </a:extLst>
          </p:cNvPr>
          <p:cNvSpPr/>
          <p:nvPr/>
        </p:nvSpPr>
        <p:spPr>
          <a:xfrm>
            <a:off x="5623560" y="209397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Property</a:t>
            </a:r>
            <a:endParaRPr lang="en-US" sz="900" dirty="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4DBDD91C-FB4B-5D6B-B855-C2AD13090BD6}"/>
              </a:ext>
            </a:extLst>
          </p:cNvPr>
          <p:cNvSpPr/>
          <p:nvPr/>
        </p:nvSpPr>
        <p:spPr>
          <a:xfrm>
            <a:off x="5623560" y="228600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value, collected unit, specimen, method</a:t>
            </a:r>
            <a:endParaRPr lang="en-US" sz="700" dirty="0"/>
          </a:p>
        </p:txBody>
      </p:sp>
      <p:sp>
        <p:nvSpPr>
          <p:cNvPr id="58" name="Shape 55">
            <a:extLst>
              <a:ext uri="{FF2B5EF4-FFF2-40B4-BE49-F238E27FC236}">
                <a16:creationId xmlns:a16="http://schemas.microsoft.com/office/drawing/2014/main" id="{BA51D91A-7DF7-2D4E-1367-931F0E2D59EE}"/>
              </a:ext>
            </a:extLst>
          </p:cNvPr>
          <p:cNvSpPr/>
          <p:nvPr/>
        </p:nvSpPr>
        <p:spPr>
          <a:xfrm>
            <a:off x="5532120" y="2596896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53008216-4C51-2BCD-85AA-0E78E4F9689E}"/>
              </a:ext>
            </a:extLst>
          </p:cNvPr>
          <p:cNvSpPr/>
          <p:nvPr/>
        </p:nvSpPr>
        <p:spPr>
          <a:xfrm>
            <a:off x="5623560" y="262432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Arms (StudyDesign)</a:t>
            </a:r>
            <a:endParaRPr lang="en-US" sz="900" dirty="0"/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38A3331D-5DE7-57E4-E37F-FF09D128A477}"/>
              </a:ext>
            </a:extLst>
          </p:cNvPr>
          <p:cNvSpPr/>
          <p:nvPr/>
        </p:nvSpPr>
        <p:spPr>
          <a:xfrm>
            <a:off x="5623560" y="281635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Placebo, Xanomeline Low, Xanomeline High</a:t>
            </a:r>
            <a:endParaRPr lang="en-US" sz="700" dirty="0"/>
          </a:p>
        </p:txBody>
      </p:sp>
      <p:sp>
        <p:nvSpPr>
          <p:cNvPr id="63" name="Shape 60">
            <a:extLst>
              <a:ext uri="{FF2B5EF4-FFF2-40B4-BE49-F238E27FC236}">
                <a16:creationId xmlns:a16="http://schemas.microsoft.com/office/drawing/2014/main" id="{6C1C6A62-13BE-65B9-781D-E3D8895E31B2}"/>
              </a:ext>
            </a:extLst>
          </p:cNvPr>
          <p:cNvSpPr/>
          <p:nvPr/>
        </p:nvSpPr>
        <p:spPr>
          <a:xfrm>
            <a:off x="5532120" y="3127248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38904AD7-8E05-CBB5-C620-6F624F86F2AF}"/>
              </a:ext>
            </a:extLst>
          </p:cNvPr>
          <p:cNvSpPr/>
          <p:nvPr/>
        </p:nvSpPr>
        <p:spPr>
          <a:xfrm>
            <a:off x="5623560" y="3154680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</a:t>
            </a:r>
            <a:endParaRPr lang="en-US" sz="900" dirty="0"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587FC1E0-8328-973A-39E9-0E8A1E444B83}"/>
              </a:ext>
            </a:extLst>
          </p:cNvPr>
          <p:cNvSpPr/>
          <p:nvPr/>
        </p:nvSpPr>
        <p:spPr>
          <a:xfrm>
            <a:off x="5623560" y="3346704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E12: Week 24 (Day 168)</a:t>
            </a:r>
            <a:endParaRPr lang="en-US" sz="700" dirty="0"/>
          </a:p>
        </p:txBody>
      </p:sp>
      <p:sp>
        <p:nvSpPr>
          <p:cNvPr id="68" name="Shape 65">
            <a:extLst>
              <a:ext uri="{FF2B5EF4-FFF2-40B4-BE49-F238E27FC236}">
                <a16:creationId xmlns:a16="http://schemas.microsoft.com/office/drawing/2014/main" id="{5B65590C-F3E7-2136-DD92-3F5445C00CE5}"/>
              </a:ext>
            </a:extLst>
          </p:cNvPr>
          <p:cNvSpPr/>
          <p:nvPr/>
        </p:nvSpPr>
        <p:spPr>
          <a:xfrm>
            <a:off x="5532120" y="365760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2F5597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2B099CF1-838C-016C-E44A-F6651A34FCB6}"/>
              </a:ext>
            </a:extLst>
          </p:cNvPr>
          <p:cNvSpPr/>
          <p:nvPr/>
        </p:nvSpPr>
        <p:spPr>
          <a:xfrm>
            <a:off x="5623560" y="368503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F55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Population</a:t>
            </a:r>
            <a:endParaRPr lang="en-US" sz="900" dirty="0"/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85D6B0C6-7F0D-5209-1734-DC9F2DE17CBB}"/>
              </a:ext>
            </a:extLst>
          </p:cNvPr>
          <p:cNvSpPr/>
          <p:nvPr/>
        </p:nvSpPr>
        <p:spPr>
          <a:xfrm>
            <a:off x="5623560" y="3877056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Efficacy Population (Mild-Moderate AD)</a:t>
            </a:r>
            <a:endParaRPr lang="en-US" sz="700" dirty="0"/>
          </a:p>
        </p:txBody>
      </p:sp>
      <p:sp>
        <p:nvSpPr>
          <p:cNvPr id="74" name="Text 71">
            <a:extLst>
              <a:ext uri="{FF2B5EF4-FFF2-40B4-BE49-F238E27FC236}">
                <a16:creationId xmlns:a16="http://schemas.microsoft.com/office/drawing/2014/main" id="{ADC9E9AC-9C74-5988-83FF-E560BA6035EA}"/>
              </a:ext>
            </a:extLst>
          </p:cNvPr>
          <p:cNvSpPr/>
          <p:nvPr/>
        </p:nvSpPr>
        <p:spPr>
          <a:xfrm>
            <a:off x="2743200" y="4709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B8E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lang="en-US" sz="900" dirty="0"/>
          </a:p>
        </p:txBody>
      </p:sp>
      <p:sp>
        <p:nvSpPr>
          <p:cNvPr id="75" name="Text 72">
            <a:extLst>
              <a:ext uri="{FF2B5EF4-FFF2-40B4-BE49-F238E27FC236}">
                <a16:creationId xmlns:a16="http://schemas.microsoft.com/office/drawing/2014/main" id="{FC40CF53-0FEA-6FEA-735A-13D190C4AA6F}"/>
              </a:ext>
            </a:extLst>
          </p:cNvPr>
          <p:cNvSpPr/>
          <p:nvPr/>
        </p:nvSpPr>
        <p:spPr>
          <a:xfrm>
            <a:off x="8412480" y="470916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6" name="Shape 4">
            <a:extLst>
              <a:ext uri="{FF2B5EF4-FFF2-40B4-BE49-F238E27FC236}">
                <a16:creationId xmlns:a16="http://schemas.microsoft.com/office/drawing/2014/main" id="{14D04F0F-B5C3-57AD-A817-6BDD66C335BB}"/>
              </a:ext>
            </a:extLst>
          </p:cNvPr>
          <p:cNvSpPr/>
          <p:nvPr/>
        </p:nvSpPr>
        <p:spPr>
          <a:xfrm>
            <a:off x="731520" y="951636"/>
            <a:ext cx="4297680" cy="3291840"/>
          </a:xfrm>
          <a:prstGeom prst="rect">
            <a:avLst/>
          </a:prstGeom>
          <a:solidFill>
            <a:srgbClr val="FFFFFF"/>
          </a:solidFill>
          <a:ln w="19050">
            <a:solidFill>
              <a:srgbClr val="3B8EA5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7" name="Text 2">
            <a:extLst>
              <a:ext uri="{FF2B5EF4-FFF2-40B4-BE49-F238E27FC236}">
                <a16:creationId xmlns:a16="http://schemas.microsoft.com/office/drawing/2014/main" id="{3AFB2069-5211-D12A-52EA-99C3D2070940}"/>
              </a:ext>
            </a:extLst>
          </p:cNvPr>
          <p:cNvSpPr/>
          <p:nvPr/>
        </p:nvSpPr>
        <p:spPr>
          <a:xfrm>
            <a:off x="731520" y="6773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AC/DC Framework Layers</a:t>
            </a:r>
            <a:endParaRPr lang="en-US" sz="1400" dirty="0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DCFF5B4F-FEC3-F746-95EF-0ED1D1664E36}"/>
              </a:ext>
            </a:extLst>
          </p:cNvPr>
          <p:cNvGrpSpPr/>
          <p:nvPr/>
        </p:nvGrpSpPr>
        <p:grpSpPr>
          <a:xfrm>
            <a:off x="868680" y="1819750"/>
            <a:ext cx="4023360" cy="685800"/>
            <a:chOff x="868680" y="2121408"/>
            <a:chExt cx="4023360" cy="685800"/>
          </a:xfrm>
        </p:grpSpPr>
        <p:sp>
          <p:nvSpPr>
            <p:cNvPr id="72" name="Shape 13">
              <a:extLst>
                <a:ext uri="{FF2B5EF4-FFF2-40B4-BE49-F238E27FC236}">
                  <a16:creationId xmlns:a16="http://schemas.microsoft.com/office/drawing/2014/main" id="{C5999685-1324-A23A-B77D-3F80AD983D64}"/>
                </a:ext>
              </a:extLst>
            </p:cNvPr>
            <p:cNvSpPr/>
            <p:nvPr/>
          </p:nvSpPr>
          <p:spPr>
            <a:xfrm>
              <a:off x="868680" y="2121408"/>
              <a:ext cx="4023360" cy="685800"/>
            </a:xfrm>
            <a:prstGeom prst="rect">
              <a:avLst/>
            </a:prstGeom>
            <a:solidFill>
              <a:srgbClr val="FFF2E0"/>
            </a:solidFill>
            <a:ln w="6350">
              <a:solidFill>
                <a:srgbClr val="EDA832"/>
              </a:solidFill>
              <a:prstDash val="solid"/>
            </a:ln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3" name="Shape 14">
              <a:extLst>
                <a:ext uri="{FF2B5EF4-FFF2-40B4-BE49-F238E27FC236}">
                  <a16:creationId xmlns:a16="http://schemas.microsoft.com/office/drawing/2014/main" id="{5DFE6526-D72C-F10C-F39C-12D17F51FD44}"/>
                </a:ext>
              </a:extLst>
            </p:cNvPr>
            <p:cNvSpPr/>
            <p:nvPr/>
          </p:nvSpPr>
          <p:spPr>
            <a:xfrm>
              <a:off x="868680" y="2121408"/>
              <a:ext cx="54864" cy="685800"/>
            </a:xfrm>
            <a:prstGeom prst="rect">
              <a:avLst/>
            </a:prstGeom>
            <a:solidFill>
              <a:srgbClr val="EDA832"/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76" name="Text 15">
              <a:extLst>
                <a:ext uri="{FF2B5EF4-FFF2-40B4-BE49-F238E27FC236}">
                  <a16:creationId xmlns:a16="http://schemas.microsoft.com/office/drawing/2014/main" id="{0B3784F9-A580-8A2B-DE84-353842174958}"/>
                </a:ext>
              </a:extLst>
            </p:cNvPr>
            <p:cNvSpPr/>
            <p:nvPr/>
          </p:nvSpPr>
          <p:spPr>
            <a:xfrm>
              <a:off x="1051560" y="2139696"/>
              <a:ext cx="384048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rgbClr val="EDA83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TEMPLATE LAYER (AC/DC Transformation)</a:t>
              </a:r>
              <a:endParaRPr lang="en-US" sz="1100" dirty="0">
                <a:solidFill>
                  <a:srgbClr val="EDA832"/>
                </a:solidFill>
              </a:endParaRPr>
            </a:p>
          </p:txBody>
        </p:sp>
        <p:sp>
          <p:nvSpPr>
            <p:cNvPr id="77" name="Text 16">
              <a:extLst>
                <a:ext uri="{FF2B5EF4-FFF2-40B4-BE49-F238E27FC236}">
                  <a16:creationId xmlns:a16="http://schemas.microsoft.com/office/drawing/2014/main" id="{122A2718-4742-BF6C-F77D-2AF280D26239}"/>
                </a:ext>
              </a:extLst>
            </p:cNvPr>
            <p:cNvSpPr/>
            <p:nvPr/>
          </p:nvSpPr>
          <p:spPr>
            <a:xfrm>
              <a:off x="1051560" y="2377440"/>
              <a:ext cx="3657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ChangeFromBaseline, PercentChange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CFB_ANCOVA, TTE_CoxPH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Binds Concepts to method roles for clinical purpose</a:t>
              </a:r>
              <a:endParaRPr lang="en-US" sz="900" b="1" dirty="0"/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3B98417A-8C49-841E-13C7-FF8DFC6A5D44}"/>
              </a:ext>
            </a:extLst>
          </p:cNvPr>
          <p:cNvGrpSpPr/>
          <p:nvPr/>
        </p:nvGrpSpPr>
        <p:grpSpPr>
          <a:xfrm>
            <a:off x="868680" y="2596424"/>
            <a:ext cx="4023360" cy="822960"/>
            <a:chOff x="868680" y="2916936"/>
            <a:chExt cx="4023360" cy="822960"/>
          </a:xfrm>
        </p:grpSpPr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B3F0CD7B-5184-F062-1DBC-8FE76320A8A3}"/>
                </a:ext>
              </a:extLst>
            </p:cNvPr>
            <p:cNvGrpSpPr/>
            <p:nvPr/>
          </p:nvGrpSpPr>
          <p:grpSpPr>
            <a:xfrm>
              <a:off x="868680" y="2916936"/>
              <a:ext cx="4023360" cy="822960"/>
              <a:chOff x="868680" y="2916936"/>
              <a:chExt cx="4023360" cy="822960"/>
            </a:xfrm>
          </p:grpSpPr>
          <p:sp>
            <p:nvSpPr>
              <p:cNvPr id="81" name="Shape 20">
                <a:extLst>
                  <a:ext uri="{FF2B5EF4-FFF2-40B4-BE49-F238E27FC236}">
                    <a16:creationId xmlns:a16="http://schemas.microsoft.com/office/drawing/2014/main" id="{D1548407-FD68-7C2D-BE0F-5B4BB0E6DDDB}"/>
                  </a:ext>
                </a:extLst>
              </p:cNvPr>
              <p:cNvSpPr/>
              <p:nvPr/>
            </p:nvSpPr>
            <p:spPr>
              <a:xfrm>
                <a:off x="868680" y="2916936"/>
                <a:ext cx="4023360" cy="822960"/>
              </a:xfrm>
              <a:prstGeom prst="rect">
                <a:avLst/>
              </a:prstGeom>
              <a:solidFill>
                <a:srgbClr val="EBF5E0"/>
              </a:solidFill>
              <a:ln w="19050">
                <a:solidFill>
                  <a:srgbClr val="548235"/>
                </a:solidFill>
                <a:prstDash val="solid"/>
              </a:ln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2" name="Shape 21">
                <a:extLst>
                  <a:ext uri="{FF2B5EF4-FFF2-40B4-BE49-F238E27FC236}">
                    <a16:creationId xmlns:a16="http://schemas.microsoft.com/office/drawing/2014/main" id="{55995FE4-EAC9-94FB-8043-D4B628408A01}"/>
                  </a:ext>
                </a:extLst>
              </p:cNvPr>
              <p:cNvSpPr/>
              <p:nvPr/>
            </p:nvSpPr>
            <p:spPr>
              <a:xfrm>
                <a:off x="868680" y="2916936"/>
                <a:ext cx="54864" cy="822960"/>
              </a:xfrm>
              <a:prstGeom prst="rect">
                <a:avLst/>
              </a:prstGeom>
              <a:solidFill>
                <a:srgbClr val="548235"/>
              </a:solidFill>
              <a:ln/>
            </p:spPr>
            <p:txBody>
              <a:bodyPr/>
              <a:lstStyle/>
              <a:p>
                <a:endParaRPr lang="en-GB"/>
              </a:p>
            </p:txBody>
          </p:sp>
          <p:sp>
            <p:nvSpPr>
              <p:cNvPr id="83" name="Text 22">
                <a:extLst>
                  <a:ext uri="{FF2B5EF4-FFF2-40B4-BE49-F238E27FC236}">
                    <a16:creationId xmlns:a16="http://schemas.microsoft.com/office/drawing/2014/main" id="{325F186B-8D40-4FBB-98EA-882B3A18D7C6}"/>
                  </a:ext>
                </a:extLst>
              </p:cNvPr>
              <p:cNvSpPr/>
              <p:nvPr/>
            </p:nvSpPr>
            <p:spPr>
              <a:xfrm>
                <a:off x="1051560" y="2935224"/>
                <a:ext cx="384048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548235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CONCEPT MODEL (Semantic Layer)</a:t>
                </a:r>
                <a:endParaRPr lang="en-US" sz="1100" dirty="0"/>
              </a:p>
            </p:txBody>
          </p:sp>
        </p:grpSp>
        <p:sp>
          <p:nvSpPr>
            <p:cNvPr id="80" name="Text 23">
              <a:extLst>
                <a:ext uri="{FF2B5EF4-FFF2-40B4-BE49-F238E27FC236}">
                  <a16:creationId xmlns:a16="http://schemas.microsoft.com/office/drawing/2014/main" id="{5D31A514-6887-12E6-49B8-EB7DF0BAB768}"/>
                </a:ext>
              </a:extLst>
            </p:cNvPr>
            <p:cNvSpPr/>
            <p:nvPr/>
          </p:nvSpPr>
          <p:spPr>
            <a:xfrm>
              <a:off x="1051560" y="3172968"/>
              <a:ext cx="3657600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analysis_value, baseline_value, change_value, treatment,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subject, visit, parameter, population_flag, p_value, LS_mean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Standard-agnostic semantic vocabulary — the shared language</a:t>
              </a:r>
              <a:endParaRPr lang="en-US" sz="900" b="1" dirty="0"/>
            </a:p>
          </p:txBody>
        </p:sp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69C94E1A-11BC-6B49-A0B3-DF50B5108684}"/>
              </a:ext>
            </a:extLst>
          </p:cNvPr>
          <p:cNvGrpSpPr/>
          <p:nvPr/>
        </p:nvGrpSpPr>
        <p:grpSpPr>
          <a:xfrm>
            <a:off x="868680" y="3510258"/>
            <a:ext cx="4023360" cy="685800"/>
            <a:chOff x="868680" y="3849624"/>
            <a:chExt cx="4023360" cy="685800"/>
          </a:xfrm>
        </p:grpSpPr>
        <p:sp>
          <p:nvSpPr>
            <p:cNvPr id="85" name="Shape 27">
              <a:extLst>
                <a:ext uri="{FF2B5EF4-FFF2-40B4-BE49-F238E27FC236}">
                  <a16:creationId xmlns:a16="http://schemas.microsoft.com/office/drawing/2014/main" id="{3A8EBD6B-4510-EF13-F735-E6316EE24024}"/>
                </a:ext>
              </a:extLst>
            </p:cNvPr>
            <p:cNvSpPr/>
            <p:nvPr/>
          </p:nvSpPr>
          <p:spPr>
            <a:xfrm>
              <a:off x="868680" y="3849624"/>
              <a:ext cx="4023360" cy="685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50000"/>
                </a:schemeClr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86" name="Shape 28">
              <a:extLst>
                <a:ext uri="{FF2B5EF4-FFF2-40B4-BE49-F238E27FC236}">
                  <a16:creationId xmlns:a16="http://schemas.microsoft.com/office/drawing/2014/main" id="{69FA7151-70A8-509F-7548-4AC46FBB5459}"/>
                </a:ext>
              </a:extLst>
            </p:cNvPr>
            <p:cNvSpPr/>
            <p:nvPr/>
          </p:nvSpPr>
          <p:spPr>
            <a:xfrm>
              <a:off x="868680" y="3849624"/>
              <a:ext cx="54864" cy="68580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/>
          </p:spPr>
          <p:txBody>
            <a:bodyPr/>
            <a:lstStyle/>
            <a:p>
              <a:endParaRPr lang="en-GB"/>
            </a:p>
          </p:txBody>
        </p:sp>
        <p:sp>
          <p:nvSpPr>
            <p:cNvPr id="87" name="Text 29">
              <a:extLst>
                <a:ext uri="{FF2B5EF4-FFF2-40B4-BE49-F238E27FC236}">
                  <a16:creationId xmlns:a16="http://schemas.microsoft.com/office/drawing/2014/main" id="{3048C38B-71DD-41F5-48A6-513557DB0CC7}"/>
                </a:ext>
              </a:extLst>
            </p:cNvPr>
            <p:cNvSpPr/>
            <p:nvPr/>
          </p:nvSpPr>
          <p:spPr>
            <a:xfrm>
              <a:off x="1051560" y="3867912"/>
              <a:ext cx="27432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100" b="1" dirty="0">
                  <a:solidFill>
                    <a:schemeClr val="bg1">
                      <a:lumMod val="50000"/>
                    </a:schemeClr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IMPLEMENTATION</a:t>
              </a:r>
              <a:endParaRPr lang="en-US" sz="1100" dirty="0">
                <a:solidFill>
                  <a:schemeClr val="bg1">
                    <a:lumMod val="50000"/>
                  </a:schemeClr>
                </a:solidFill>
              </a:endParaRPr>
            </a:p>
          </p:txBody>
        </p:sp>
        <p:sp>
          <p:nvSpPr>
            <p:cNvPr id="88" name="Text 30">
              <a:extLst>
                <a:ext uri="{FF2B5EF4-FFF2-40B4-BE49-F238E27FC236}">
                  <a16:creationId xmlns:a16="http://schemas.microsoft.com/office/drawing/2014/main" id="{CEA238AC-759F-2DC7-3774-DE2157608AAB}"/>
                </a:ext>
              </a:extLst>
            </p:cNvPr>
            <p:cNvSpPr/>
            <p:nvPr/>
          </p:nvSpPr>
          <p:spPr>
            <a:xfrm>
              <a:off x="1051560" y="4105656"/>
              <a:ext cx="3657600" cy="4114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ADaM / SDTM / OMOP variables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 / SAS / Python code</a:t>
              </a:r>
              <a:endParaRPr lang="en-US" sz="900" dirty="0"/>
            </a:p>
            <a:p>
              <a:pPr marL="0" indent="0">
                <a:buNone/>
              </a:pPr>
              <a:r>
                <a:rPr lang="en-US" sz="900" b="1" dirty="0">
                  <a:solidFill>
                    <a:srgbClr val="8C9AAE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Physical bindings &amp; code generation</a:t>
              </a:r>
              <a:endParaRPr lang="en-US" sz="900" b="1" dirty="0"/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93062D8-EE34-56D9-0D18-7E96ABBA0BCB}"/>
              </a:ext>
            </a:extLst>
          </p:cNvPr>
          <p:cNvGrpSpPr/>
          <p:nvPr/>
        </p:nvGrpSpPr>
        <p:grpSpPr>
          <a:xfrm>
            <a:off x="868680" y="1043076"/>
            <a:ext cx="4023360" cy="685800"/>
            <a:chOff x="868680" y="1325880"/>
            <a:chExt cx="4023360" cy="685800"/>
          </a:xfrm>
        </p:grpSpPr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692DD57A-016F-EB1C-596E-028A36FA7DAE}"/>
                </a:ext>
              </a:extLst>
            </p:cNvPr>
            <p:cNvGrpSpPr/>
            <p:nvPr/>
          </p:nvGrpSpPr>
          <p:grpSpPr>
            <a:xfrm>
              <a:off x="868680" y="1325880"/>
              <a:ext cx="4023360" cy="685800"/>
              <a:chOff x="868680" y="1325880"/>
              <a:chExt cx="4023360" cy="685800"/>
            </a:xfrm>
          </p:grpSpPr>
          <p:sp>
            <p:nvSpPr>
              <p:cNvPr id="92" name="Shape 6">
                <a:extLst>
                  <a:ext uri="{FF2B5EF4-FFF2-40B4-BE49-F238E27FC236}">
                    <a16:creationId xmlns:a16="http://schemas.microsoft.com/office/drawing/2014/main" id="{A722E3D8-086A-BB80-5CEF-A6AEAC77DF8B}"/>
                  </a:ext>
                </a:extLst>
              </p:cNvPr>
              <p:cNvSpPr/>
              <p:nvPr/>
            </p:nvSpPr>
            <p:spPr>
              <a:xfrm>
                <a:off x="868680" y="1325880"/>
                <a:ext cx="4023360" cy="685800"/>
              </a:xfrm>
              <a:prstGeom prst="rect">
                <a:avLst/>
              </a:prstGeom>
              <a:solidFill>
                <a:srgbClr val="EBF0F5"/>
              </a:solidFill>
              <a:ln w="6350">
                <a:solidFill>
                  <a:srgbClr val="3B8EA5"/>
                </a:solidFill>
                <a:prstDash val="solid"/>
              </a:ln>
            </p:spPr>
            <p:txBody>
              <a:bodyPr/>
              <a:lstStyle/>
              <a:p>
                <a:endParaRPr lang="en-GB" dirty="0"/>
              </a:p>
            </p:txBody>
          </p:sp>
          <p:sp>
            <p:nvSpPr>
              <p:cNvPr id="93" name="Text 8">
                <a:extLst>
                  <a:ext uri="{FF2B5EF4-FFF2-40B4-BE49-F238E27FC236}">
                    <a16:creationId xmlns:a16="http://schemas.microsoft.com/office/drawing/2014/main" id="{3481D7CE-739C-79CB-D314-C90640B1787E}"/>
                  </a:ext>
                </a:extLst>
              </p:cNvPr>
              <p:cNvSpPr/>
              <p:nvPr/>
            </p:nvSpPr>
            <p:spPr>
              <a:xfrm>
                <a:off x="1051560" y="1344168"/>
                <a:ext cx="27432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00" b="1" dirty="0">
                    <a:solidFill>
                      <a:srgbClr val="1B3A5C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METHOD LAYER</a:t>
                </a:r>
                <a:endParaRPr lang="en-US" sz="1100" dirty="0"/>
              </a:p>
            </p:txBody>
          </p:sp>
          <p:sp>
            <p:nvSpPr>
              <p:cNvPr id="94" name="Text 9">
                <a:extLst>
                  <a:ext uri="{FF2B5EF4-FFF2-40B4-BE49-F238E27FC236}">
                    <a16:creationId xmlns:a16="http://schemas.microsoft.com/office/drawing/2014/main" id="{DF18F61C-6E7E-C9F3-545C-DC82E79EBC12}"/>
                  </a:ext>
                </a:extLst>
              </p:cNvPr>
              <p:cNvSpPr/>
              <p:nvPr/>
            </p:nvSpPr>
            <p:spPr>
              <a:xfrm>
                <a:off x="1051560" y="1581912"/>
                <a:ext cx="3657600" cy="4114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900" dirty="0">
                    <a:solidFill>
                      <a:srgbClr val="8C9AA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Derivation: Subtraction, Division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 dirty="0">
                    <a:solidFill>
                      <a:srgbClr val="8C9AA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Analysis: t-test, ANCOVA, MMRM, Cox PH</a:t>
                </a:r>
                <a:endParaRPr lang="en-US" sz="900" dirty="0"/>
              </a:p>
              <a:p>
                <a:pPr marL="0" indent="0">
                  <a:buNone/>
                </a:pPr>
                <a:r>
                  <a:rPr lang="en-US" sz="900" b="1" dirty="0">
                    <a:solidFill>
                      <a:srgbClr val="8C9AAE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Pure operations with named roles</a:t>
                </a:r>
                <a:endParaRPr lang="en-US" sz="900" b="1" dirty="0"/>
              </a:p>
            </p:txBody>
          </p:sp>
        </p:grpSp>
        <p:sp>
          <p:nvSpPr>
            <p:cNvPr id="91" name="Shape 7">
              <a:extLst>
                <a:ext uri="{FF2B5EF4-FFF2-40B4-BE49-F238E27FC236}">
                  <a16:creationId xmlns:a16="http://schemas.microsoft.com/office/drawing/2014/main" id="{E2DCD38C-4D77-4708-EE38-025E27469EE1}"/>
                </a:ext>
              </a:extLst>
            </p:cNvPr>
            <p:cNvSpPr/>
            <p:nvPr/>
          </p:nvSpPr>
          <p:spPr>
            <a:xfrm>
              <a:off x="868680" y="1325880"/>
              <a:ext cx="54864" cy="685800"/>
            </a:xfrm>
            <a:prstGeom prst="rect">
              <a:avLst/>
            </a:prstGeom>
            <a:solidFill>
              <a:srgbClr val="3B8EA5"/>
            </a:solidFill>
            <a:ln/>
          </p:spPr>
          <p:txBody>
            <a:bodyPr/>
            <a:lstStyle/>
            <a:p>
              <a:endParaRPr lang="en-GB"/>
            </a:p>
          </p:txBody>
        </p:sp>
      </p:grpSp>
    </p:spTree>
    <p:extLst>
      <p:ext uri="{BB962C8B-B14F-4D97-AF65-F5344CB8AC3E}">
        <p14:creationId xmlns:p14="http://schemas.microsoft.com/office/powerpoint/2010/main" val="3576775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2743200" y="45720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hape 1"/>
          <p:cNvSpPr/>
          <p:nvPr/>
        </p:nvSpPr>
        <p:spPr>
          <a:xfrm>
            <a:off x="2743200" y="1371600"/>
            <a:ext cx="91440" cy="82296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301752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USDM defines the clinical question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301752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8C4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Endpoints, Estimands, BiomedicalConcepts, Study Design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hape 4"/>
          <p:cNvSpPr/>
          <p:nvPr/>
        </p:nvSpPr>
        <p:spPr>
          <a:xfrm>
            <a:off x="2743200" y="2514600"/>
            <a:ext cx="91440" cy="822960"/>
          </a:xfrm>
          <a:prstGeom prst="rect">
            <a:avLst/>
          </a:prstGeom>
          <a:solidFill>
            <a:srgbClr val="3B8EA5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 5"/>
          <p:cNvSpPr/>
          <p:nvPr/>
        </p:nvSpPr>
        <p:spPr>
          <a:xfrm>
            <a:off x="3017520" y="2560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AC/DC defines how to answer it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6"/>
          <p:cNvSpPr/>
          <p:nvPr/>
        </p:nvSpPr>
        <p:spPr>
          <a:xfrm>
            <a:off x="3017520" y="2926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8C4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Derivation Transformations, Methods Library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2743200" y="3657600"/>
            <a:ext cx="91440" cy="822960"/>
          </a:xfrm>
          <a:prstGeom prst="rect">
            <a:avLst/>
          </a:prstGeom>
          <a:solidFill>
            <a:srgbClr val="EDA832"/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017520" y="3703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Model bridges them</a:t>
            </a:r>
            <a:endParaRPr kumimoji="0" lang="en-US" sz="1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9"/>
          <p:cNvSpPr/>
          <p:nvPr/>
        </p:nvSpPr>
        <p:spPr>
          <a:xfrm>
            <a:off x="301752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0"/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8C4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Standard-agnostic vocabulary that connects </a:t>
            </a:r>
            <a:r>
              <a:rPr lang="en-US" sz="1200" dirty="0">
                <a:solidFill>
                  <a:srgbClr val="A8C4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&amp; Derivation Transformations to the implementation layer —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A8C4DB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making the full arc traceable and machine-executable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2743200" y="457200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3B8EA5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#ClearDataClearImpact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DISC-1 1">
      <a:dk1>
        <a:srgbClr val="134678"/>
      </a:dk1>
      <a:lt1>
        <a:srgbClr val="FFFFFF"/>
      </a:lt1>
      <a:dk2>
        <a:srgbClr val="515349"/>
      </a:dk2>
      <a:lt2>
        <a:srgbClr val="F5F5F5"/>
      </a:lt2>
      <a:accent1>
        <a:srgbClr val="134678"/>
      </a:accent1>
      <a:accent2>
        <a:srgbClr val="A1D0CA"/>
      </a:accent2>
      <a:accent3>
        <a:srgbClr val="C94543"/>
      </a:accent3>
      <a:accent4>
        <a:srgbClr val="EDAA00"/>
      </a:accent4>
      <a:accent5>
        <a:srgbClr val="553278"/>
      </a:accent5>
      <a:accent6>
        <a:srgbClr val="40B3E5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5_Events-Slide-Template_CDISC-Staff_v4.pptx" id="{FC5671AF-E8C3-4A45-B01C-9ECD26A83B7F}" vid="{B4BDB1CE-3FE9-4318-B55C-55F720F10B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D8C3B54-26DF-0146-8ED3-449056142228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079A10339794D94E789B6982286B4" ma:contentTypeVersion="11" ma:contentTypeDescription="Create a new document." ma:contentTypeScope="" ma:versionID="cc5af5f44c233fb52f08d69700e5388c">
  <xsd:schema xmlns:xsd="http://www.w3.org/2001/XMLSchema" xmlns:xs="http://www.w3.org/2001/XMLSchema" xmlns:p="http://schemas.microsoft.com/office/2006/metadata/properties" xmlns:ns2="fb32a2d1-1d11-4050-b5f7-2362836cfc73" xmlns:ns3="a62d018c-6c12-4558-87da-a74144b7042d" targetNamespace="http://schemas.microsoft.com/office/2006/metadata/properties" ma:root="true" ma:fieldsID="fcd29b35fabbc5a5caeac71fb5e06574" ns2:_="" ns3:_="">
    <xsd:import namespace="fb32a2d1-1d11-4050-b5f7-2362836cfc73"/>
    <xsd:import namespace="a62d018c-6c12-4558-87da-a74144b704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32a2d1-1d11-4050-b5f7-2362836cfc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4c04c6af-d60c-4670-8c9c-7f80a3ec6f3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62d018c-6c12-4558-87da-a74144b7042d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37b6e2c3-c80f-4200-8dde-0d60aa191bda}" ma:internalName="TaxCatchAll" ma:showField="CatchAllData" ma:web="a62d018c-6c12-4558-87da-a74144b704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b32a2d1-1d11-4050-b5f7-2362836cfc73">
      <Terms xmlns="http://schemas.microsoft.com/office/infopath/2007/PartnerControls"/>
    </lcf76f155ced4ddcb4097134ff3c332f>
    <TaxCatchAll xmlns="a62d018c-6c12-4558-87da-a74144b7042d" xsi:nil="true"/>
  </documentManagement>
</p:properties>
</file>

<file path=customXml/itemProps1.xml><?xml version="1.0" encoding="utf-8"?>
<ds:datastoreItem xmlns:ds="http://schemas.openxmlformats.org/officeDocument/2006/customXml" ds:itemID="{317A6734-3FAC-4F09-9A4D-1EF94D338E36}"/>
</file>

<file path=customXml/itemProps2.xml><?xml version="1.0" encoding="utf-8"?>
<ds:datastoreItem xmlns:ds="http://schemas.openxmlformats.org/officeDocument/2006/customXml" ds:itemID="{70AD1D8F-887D-4128-B3C3-FA9136BD05C2}"/>
</file>

<file path=customXml/itemProps3.xml><?xml version="1.0" encoding="utf-8"?>
<ds:datastoreItem xmlns:ds="http://schemas.openxmlformats.org/officeDocument/2006/customXml" ds:itemID="{5D15E33D-A529-4A1D-8B3C-F7231C4D40C5}"/>
</file>

<file path=docProps/app.xml><?xml version="1.0" encoding="utf-8"?>
<Properties xmlns="http://schemas.openxmlformats.org/officeDocument/2006/extended-properties" xmlns:vt="http://schemas.openxmlformats.org/officeDocument/2006/docPropsVTypes">
  <TotalTime>3011</TotalTime>
  <Words>2009</Words>
  <Application>Microsoft Macintosh PowerPoint</Application>
  <PresentationFormat>On-screen Show (16:9)</PresentationFormat>
  <Paragraphs>381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Aptos</vt:lpstr>
      <vt:lpstr>Arial</vt:lpstr>
      <vt:lpstr>Calibri</vt:lpstr>
      <vt:lpstr>Consolas</vt:lpstr>
      <vt:lpstr>Courier New</vt:lpstr>
      <vt:lpstr>Courier New,monospace</vt:lpstr>
      <vt:lpstr>Wingdings,Sans-Serif</vt:lpstr>
      <vt:lpstr>1_Office Theme</vt:lpstr>
      <vt:lpstr>The AC/DC Framework &amp; USDM</vt:lpstr>
      <vt:lpstr>The Problem</vt:lpstr>
      <vt:lpstr>Today's specification of analysis</vt:lpstr>
      <vt:lpstr>PowerPoint Presentation</vt:lpstr>
      <vt:lpstr>An automated approach – tied to specific language</vt:lpstr>
      <vt:lpstr>The Core Model</vt:lpstr>
      <vt:lpstr>Model flexibility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Concepts &amp; USDM</dc:title>
  <dc:subject>PptxGenJS Presentation</dc:subject>
  <dc:creator>CDISC AC/DC</dc:creator>
  <cp:lastModifiedBy>Kirsten Langendorf</cp:lastModifiedBy>
  <cp:revision>8</cp:revision>
  <dcterms:created xsi:type="dcterms:W3CDTF">2026-02-18T14:19:50Z</dcterms:created>
  <dcterms:modified xsi:type="dcterms:W3CDTF">2026-02-20T16:36:39Z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0x0101005DC079A10339794D94E789B6982286B4</vt:lpwstr>
  </property>
</Properties>
</file>