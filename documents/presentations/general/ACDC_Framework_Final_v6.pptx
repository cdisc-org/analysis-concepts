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4"/>
  </p:sldMasterIdLst>
  <p:notesMasterIdLst>
    <p:notesMasterId r:id="rId41"/>
  </p:notesMasterIdLst>
  <p:handoutMasterIdLst>
    <p:handoutMasterId r:id="rId42"/>
  </p:handoutMasterIdLst>
  <p:sldIdLst>
    <p:sldId id="283" r:id="rId5"/>
    <p:sldId id="257" r:id="rId6"/>
    <p:sldId id="263" r:id="rId7"/>
    <p:sldId id="264" r:id="rId8"/>
    <p:sldId id="310" r:id="rId9"/>
    <p:sldId id="291" r:id="rId10"/>
    <p:sldId id="332" r:id="rId11"/>
    <p:sldId id="333" r:id="rId12"/>
    <p:sldId id="334" r:id="rId13"/>
    <p:sldId id="327" r:id="rId14"/>
    <p:sldId id="328" r:id="rId15"/>
    <p:sldId id="329" r:id="rId16"/>
    <p:sldId id="330" r:id="rId17"/>
    <p:sldId id="331" r:id="rId18"/>
    <p:sldId id="318" r:id="rId19"/>
    <p:sldId id="303" r:id="rId20"/>
    <p:sldId id="335" r:id="rId21"/>
    <p:sldId id="294" r:id="rId22"/>
    <p:sldId id="295" r:id="rId23"/>
    <p:sldId id="292" r:id="rId24"/>
    <p:sldId id="321" r:id="rId25"/>
    <p:sldId id="322" r:id="rId26"/>
    <p:sldId id="323" r:id="rId27"/>
    <p:sldId id="317" r:id="rId28"/>
    <p:sldId id="313" r:id="rId29"/>
    <p:sldId id="326" r:id="rId30"/>
    <p:sldId id="319" r:id="rId31"/>
    <p:sldId id="308" r:id="rId32"/>
    <p:sldId id="304" r:id="rId33"/>
    <p:sldId id="305" r:id="rId34"/>
    <p:sldId id="306" r:id="rId35"/>
    <p:sldId id="336" r:id="rId36"/>
    <p:sldId id="314" r:id="rId37"/>
    <p:sldId id="315" r:id="rId38"/>
    <p:sldId id="337" r:id="rId39"/>
    <p:sldId id="273" r:id="rId40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A1C8E5-41DA-4F5F-BA11-57F54BDC895A}" v="18" dt="2025-01-03T02:36:22.203"/>
    <p1510:client id="{805C4C4A-6B90-4AEF-B28A-D1248255A723}" v="3" dt="2025-01-03T18:09:03.3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04" autoAdjust="0"/>
    <p:restoredTop sz="95205" autoAdjust="0"/>
  </p:normalViewPr>
  <p:slideViewPr>
    <p:cSldViewPr snapToGrid="0" snapToObjects="1" showGuides="1">
      <p:cViewPr varScale="1">
        <p:scale>
          <a:sx n="148" d="100"/>
          <a:sy n="148" d="100"/>
        </p:scale>
        <p:origin x="192" y="2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2" d="100"/>
          <a:sy n="62" d="100"/>
        </p:scale>
        <p:origin x="315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handoutMaster" Target="handoutMasters/handoutMaster1.xml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5DBDCBF-2661-4644-8788-CDD1F7AF86F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53122C-0D3A-43C5-9EEA-A82F8CF99E4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2B9998-7FC2-40BB-812D-D42712794F0A}" type="datetimeFigureOut">
              <a:rPr lang="en-US" smtClean="0"/>
              <a:t>1/21/26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741259-F173-4371-ABAC-32B2025744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DAA9DB-2741-4CC9-A32C-B6142DB609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275628-0D87-438D-8818-43C41C879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2173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E1A3E-C737-584E-86B0-F484DE311626}" type="datetimeFigureOut">
              <a:rPr lang="en-US" smtClean="0"/>
              <a:t>1/21/26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E17163-B04C-C34A-8000-FDF58C3633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733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E17163-B04C-C34A-8000-FDF58C3633A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2313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078FFEE-EA0C-5E4A-B1D2-8213F7094BA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CC4787D-0744-8047-A68C-F117D26CFC58}"/>
              </a:ext>
            </a:extLst>
          </p:cNvPr>
          <p:cNvSpPr/>
          <p:nvPr userDrawn="1"/>
        </p:nvSpPr>
        <p:spPr>
          <a:xfrm>
            <a:off x="1648918" y="1139639"/>
            <a:ext cx="7495082" cy="23246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77690" y="1154590"/>
            <a:ext cx="6781830" cy="1362472"/>
          </a:xfrm>
        </p:spPr>
        <p:txBody>
          <a:bodyPr anchor="ctr">
            <a:normAutofit/>
          </a:bodyPr>
          <a:lstStyle>
            <a:lvl1pPr algn="l"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77690" y="2648262"/>
            <a:ext cx="6781830" cy="600472"/>
          </a:xfrm>
        </p:spPr>
        <p:txBody>
          <a:bodyPr>
            <a:normAutofit/>
          </a:bodyPr>
          <a:lstStyle>
            <a:lvl1pPr marL="0" indent="0" algn="l">
              <a:buNone/>
              <a:defRPr sz="12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Picture 4" descr="A blue and yellow logo  Description automatically generated">
            <a:extLst>
              <a:ext uri="{FF2B5EF4-FFF2-40B4-BE49-F238E27FC236}">
                <a16:creationId xmlns:a16="http://schemas.microsoft.com/office/drawing/2014/main" id="{3EB9E325-CA01-8194-3510-EF94D192606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58640" y="3679814"/>
            <a:ext cx="1186088" cy="407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307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ityscape with a blue and white banner  Description automatically generated">
            <a:extLst>
              <a:ext uri="{FF2B5EF4-FFF2-40B4-BE49-F238E27FC236}">
                <a16:creationId xmlns:a16="http://schemas.microsoft.com/office/drawing/2014/main" id="{11184E1C-5903-A0FE-BE24-EE2A6CB19F4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3137565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anner with a city in the background  Description automatically generated">
            <a:extLst>
              <a:ext uri="{FF2B5EF4-FFF2-40B4-BE49-F238E27FC236}">
                <a16:creationId xmlns:a16="http://schemas.microsoft.com/office/drawing/2014/main" id="{60AF726E-8299-5D06-FD26-96E5806BCA6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3942137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ridge with lights and a city in the background  Description automatically generated">
            <a:extLst>
              <a:ext uri="{FF2B5EF4-FFF2-40B4-BE49-F238E27FC236}">
                <a16:creationId xmlns:a16="http://schemas.microsoft.com/office/drawing/2014/main" id="{F4FDD1C3-541D-7013-126F-49BDD97083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2091642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anner with a city skyline  Description automatically generated">
            <a:extLst>
              <a:ext uri="{FF2B5EF4-FFF2-40B4-BE49-F238E27FC236}">
                <a16:creationId xmlns:a16="http://schemas.microsoft.com/office/drawing/2014/main" id="{C983A9DE-9882-CE38-3621-312EFD172DE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4192823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anner with a city skyline and text  Description automatically generated">
            <a:extLst>
              <a:ext uri="{FF2B5EF4-FFF2-40B4-BE49-F238E27FC236}">
                <a16:creationId xmlns:a16="http://schemas.microsoft.com/office/drawing/2014/main" id="{17CDE7A5-1733-0FAC-77B6-F23D6864A5F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69724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anner with a city in the background  Description automatically generated">
            <a:extLst>
              <a:ext uri="{FF2B5EF4-FFF2-40B4-BE49-F238E27FC236}">
                <a16:creationId xmlns:a16="http://schemas.microsoft.com/office/drawing/2014/main" id="{2CC0345B-E6E3-F42F-444B-276DEA3E0BF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3852453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1354155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903408-9362-EC46-8776-E9E810266D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409DADF-D9E6-A04F-8A80-7622E2E18903}"/>
              </a:ext>
            </a:extLst>
          </p:cNvPr>
          <p:cNvSpPr/>
          <p:nvPr userDrawn="1"/>
        </p:nvSpPr>
        <p:spPr>
          <a:xfrm>
            <a:off x="1562470" y="0"/>
            <a:ext cx="758153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41864" y="273845"/>
            <a:ext cx="6644935" cy="2101242"/>
          </a:xfrm>
        </p:spPr>
        <p:txBody>
          <a:bodyPr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64" y="2551580"/>
            <a:ext cx="6644935" cy="2081143"/>
          </a:xfrm>
        </p:spPr>
        <p:txBody>
          <a:bodyPr/>
          <a:lstStyle>
            <a:lvl1pPr marL="342900" indent="-334963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1pPr>
            <a:lvl2pPr marL="385763" indent="-151210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2pPr>
            <a:lvl3pPr marL="560785" indent="-175022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3pPr>
            <a:lvl4pPr marL="731044" indent="-175022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4pPr>
            <a:lvl5pPr marL="901304" indent="-170260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26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619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6103351-EB45-234F-8697-DE91E66640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DDB1314-0315-DB4C-AE95-AFD46FB209DC}"/>
              </a:ext>
            </a:extLst>
          </p:cNvPr>
          <p:cNvSpPr/>
          <p:nvPr userDrawn="1"/>
        </p:nvSpPr>
        <p:spPr>
          <a:xfrm>
            <a:off x="1562470" y="0"/>
            <a:ext cx="7581530" cy="5143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41864" y="273845"/>
            <a:ext cx="6644935" cy="2101242"/>
          </a:xfrm>
        </p:spPr>
        <p:txBody>
          <a:bodyPr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64" y="2551580"/>
            <a:ext cx="6644935" cy="2081143"/>
          </a:xfrm>
        </p:spPr>
        <p:txBody>
          <a:bodyPr/>
          <a:lstStyle>
            <a:lvl1pPr marL="0" indent="0">
              <a:buFont typeface="+mj-lt"/>
              <a:buNone/>
              <a:tabLst/>
              <a:defRPr sz="1800">
                <a:solidFill>
                  <a:schemeClr val="bg1"/>
                </a:solidFill>
              </a:defRPr>
            </a:lvl1pPr>
            <a:lvl2pPr marL="4763" indent="0">
              <a:buFont typeface="+mj-lt"/>
              <a:buNone/>
              <a:tabLst/>
              <a:defRPr>
                <a:solidFill>
                  <a:schemeClr val="bg1"/>
                </a:solidFill>
              </a:defRPr>
            </a:lvl2pPr>
            <a:lvl3pPr marL="4763" indent="0">
              <a:buFont typeface="+mj-lt"/>
              <a:buNone/>
              <a:tabLst/>
              <a:defRPr>
                <a:solidFill>
                  <a:schemeClr val="bg1"/>
                </a:solidFill>
              </a:defRPr>
            </a:lvl3pPr>
            <a:lvl4pPr marL="4763" indent="0">
              <a:buFont typeface="+mj-lt"/>
              <a:buNone/>
              <a:tabLst/>
              <a:defRPr>
                <a:solidFill>
                  <a:schemeClr val="bg1"/>
                </a:solidFill>
              </a:defRPr>
            </a:lvl4pPr>
            <a:lvl5pPr marL="4763" indent="0">
              <a:buFont typeface="+mj-lt"/>
              <a:buNone/>
              <a:tabLst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79177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losing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C5F5DB-D0B7-B844-A4AC-647C44C65C8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7790" y="273845"/>
            <a:ext cx="6078069" cy="2101242"/>
          </a:xfrm>
        </p:spPr>
        <p:txBody>
          <a:bodyPr anchor="b"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37790" y="2551580"/>
            <a:ext cx="6078069" cy="1752166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tabLst/>
              <a:defRPr sz="900">
                <a:solidFill>
                  <a:schemeClr val="tx1"/>
                </a:solidFill>
              </a:defRPr>
            </a:lvl1pPr>
            <a:lvl2pPr marL="133350" indent="-128588"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</a:defRPr>
            </a:lvl2pPr>
            <a:lvl3pPr marL="133350" indent="-128588"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</a:defRPr>
            </a:lvl3pPr>
            <a:lvl4pPr marL="133350" indent="-128588"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</a:defRPr>
            </a:lvl4pPr>
            <a:lvl5pPr marL="133350" indent="-128588"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71A794-C745-1542-AC4C-A0D07A44D2E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37791" y="4457700"/>
            <a:ext cx="1076325" cy="342000"/>
          </a:xfrm>
          <a:prstGeom prst="rect">
            <a:avLst/>
          </a:prstGeom>
        </p:spPr>
      </p:pic>
      <p:pic>
        <p:nvPicPr>
          <p:cNvPr id="4" name="Picture 3" descr="A blue and yellow logo  Description automatically generated">
            <a:extLst>
              <a:ext uri="{FF2B5EF4-FFF2-40B4-BE49-F238E27FC236}">
                <a16:creationId xmlns:a16="http://schemas.microsoft.com/office/drawing/2014/main" id="{83BE5696-CFD9-4C98-EA2C-157023C01BF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21121" y="4447883"/>
            <a:ext cx="1227358" cy="421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9703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0100" y="1111250"/>
            <a:ext cx="3819525" cy="3521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76824" y="1111250"/>
            <a:ext cx="3609975" cy="3521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30525267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-Content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0100" y="1111250"/>
            <a:ext cx="3819525" cy="3521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BAEBCE6-AA93-4D42-8917-B9241C3EF63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076826" y="1111250"/>
            <a:ext cx="3609975" cy="352147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9593491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-Content-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0100" y="1111250"/>
            <a:ext cx="7886699" cy="14100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BAEBCE6-AA93-4D42-8917-B9241C3EF63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73054" y="2576794"/>
            <a:ext cx="2413747" cy="187586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39C0675-53BD-004E-9C2E-1C9D24D3896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85927" y="2576794"/>
            <a:ext cx="5687128" cy="1875863"/>
          </a:xfrm>
          <a:solidFill>
            <a:schemeClr val="accent4"/>
          </a:solidFill>
        </p:spPr>
        <p:txBody>
          <a:bodyPr lIns="457200" tIns="274320" rIns="274320" bIns="274320"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23916155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22173490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422426309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4760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7CF86AEA-23B8-D847-A3D2-25B6A12213D0}"/>
              </a:ext>
            </a:extLst>
          </p:cNvPr>
          <p:cNvPicPr>
            <a:picLocks noChangeAspect="1"/>
          </p:cNvPicPr>
          <p:nvPr userDrawn="1"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0100" y="0"/>
            <a:ext cx="7886700" cy="99417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0100" y="1111250"/>
            <a:ext cx="7886700" cy="352147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176304" y="4767263"/>
            <a:ext cx="1204216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A39D7527-A277-E24D-9A56-20081ADC979C}" type="datetime1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80520" y="4767263"/>
            <a:ext cx="306280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EB4FF9C4-EEBF-D24D-8A4E-C0B9CCE3F97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Picture 9" descr="A blue and yellow logo  Description automatically generated">
            <a:extLst>
              <a:ext uri="{FF2B5EF4-FFF2-40B4-BE49-F238E27FC236}">
                <a16:creationId xmlns:a16="http://schemas.microsoft.com/office/drawing/2014/main" id="{D73A5207-C22D-484A-6399-36FEDB1D2583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773986" y="4737101"/>
            <a:ext cx="796887" cy="273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711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700" r:id="rId2"/>
    <p:sldLayoutId id="2147483706" r:id="rId3"/>
    <p:sldLayoutId id="2147483701" r:id="rId4"/>
    <p:sldLayoutId id="2147483702" r:id="rId5"/>
    <p:sldLayoutId id="2147483705" r:id="rId6"/>
    <p:sldLayoutId id="2147483703" r:id="rId7"/>
    <p:sldLayoutId id="2147483704" r:id="rId8"/>
    <p:sldLayoutId id="2147483689" r:id="rId9"/>
    <p:sldLayoutId id="2147483676" r:id="rId10"/>
    <p:sldLayoutId id="2147483690" r:id="rId11"/>
    <p:sldLayoutId id="2147483691" r:id="rId12"/>
    <p:sldLayoutId id="2147483678" r:id="rId13"/>
    <p:sldLayoutId id="2147483687" r:id="rId14"/>
    <p:sldLayoutId id="2147483688" r:id="rId15"/>
    <p:sldLayoutId id="2147483680" r:id="rId16"/>
    <p:sldLayoutId id="2147483681" r:id="rId17"/>
    <p:sldLayoutId id="2147483707" r:id="rId18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910">
          <p15:clr>
            <a:srgbClr val="F26B43"/>
          </p15:clr>
        </p15:guide>
        <p15:guide id="2" pos="5472">
          <p15:clr>
            <a:srgbClr val="F26B43"/>
          </p15:clr>
        </p15:guide>
        <p15:guide id="3" pos="504">
          <p15:clr>
            <a:srgbClr val="F26B43"/>
          </p15:clr>
        </p15:guide>
        <p15:guide id="4" pos="3054">
          <p15:clr>
            <a:srgbClr val="F26B43"/>
          </p15:clr>
        </p15:guide>
        <p15:guide id="5" pos="3198">
          <p15:clr>
            <a:srgbClr val="F26B43"/>
          </p15:clr>
        </p15:guide>
        <p15:guide id="6" pos="288">
          <p15:clr>
            <a:srgbClr val="F26B43"/>
          </p15:clr>
        </p15:guide>
        <p15:guide id="7" orient="horz" pos="70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996E2-6A29-8DF2-5DF9-827B369B03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>
              <a:buNone/>
            </a:pPr>
            <a:r>
              <a:t>The AC/DC Framework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80BDFC-5994-CF85-584F-C7363A760E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>
              <a:buNone/>
            </a:pPr>
            <a:r>
              <a:t>Analysis Concepts &amp; Derivation Concepts for Analysis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15472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879D90-4E5A-B24E-BCE1-A85BA18A7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Agenda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B7D71CD-9C0C-FE4C-87FD-8BC3AEF85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365760" indent="-182880" algn="l">
              <a:buChar char="•"/>
            </a:pPr>
            <a:r>
              <a:rPr dirty="0"/>
              <a:t>The Problem: Why Current Approaches Don't Scale</a:t>
            </a:r>
            <a:endParaRPr lang="en-US" dirty="0"/>
          </a:p>
          <a:p>
            <a:pPr marL="365760" indent="-182880" algn="l">
              <a:buChar char="•"/>
            </a:pPr>
            <a:r>
              <a:rPr dirty="0"/>
              <a:t>The Recipe Analogy: A Mental Model for AC/DC</a:t>
            </a:r>
          </a:p>
          <a:p>
            <a:pPr marL="365760" indent="-182880" algn="l">
              <a:buChar char="•"/>
            </a:pPr>
            <a:r>
              <a:rPr dirty="0"/>
              <a:t>The Three Components: Template, TEs, Method</a:t>
            </a:r>
          </a:p>
          <a:p>
            <a:pPr marL="365760" indent="-182880" algn="l">
              <a:buChar char="•"/>
            </a:pPr>
            <a:r>
              <a:rPr dirty="0"/>
              <a:t>The Core Model: OUTPUT = f(INPUT)</a:t>
            </a:r>
          </a:p>
          <a:p>
            <a:pPr marL="365760" indent="-182880" algn="l">
              <a:buChar char="•"/>
            </a:pPr>
            <a:r>
              <a:rPr dirty="0"/>
              <a:t>From Template to Study: Three Layers</a:t>
            </a:r>
          </a:p>
          <a:p>
            <a:pPr marL="365760" indent="-182880" algn="l">
              <a:buChar char="•"/>
            </a:pPr>
            <a:r>
              <a:rPr dirty="0"/>
              <a:t>Same Recipe, Different Kitchens</a:t>
            </a:r>
          </a:p>
          <a:p>
            <a:pPr marL="365760" indent="-182880" algn="l">
              <a:buChar char="•"/>
            </a:pPr>
            <a:r>
              <a:rPr dirty="0"/>
              <a:t>SDMX Data Cubes: The Technical Foundation</a:t>
            </a:r>
            <a:endParaRPr lang="da-DK" dirty="0"/>
          </a:p>
          <a:p>
            <a:pPr marL="365760" indent="-182880" algn="l">
              <a:buChar char="•"/>
            </a:pPr>
            <a:r>
              <a:rPr lang="en-DK" dirty="0"/>
              <a:t>Summary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29089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Why Current ADaM and Output Programming Doesn't Scale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605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A95-13ED-604F-AA65-8144C0F6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Everything is Hardcoded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0A91-8A58-D34B-9C3A-DBCC37353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b="1" dirty="0"/>
              <a:t>A typical ANCOVA program:</a:t>
            </a:r>
          </a:p>
          <a:p>
            <a:pPr marL="182880" indent="0" algn="l">
              <a:buNone/>
            </a:pP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proc mixed data=</a:t>
            </a:r>
            <a:r>
              <a:rPr dirty="0" err="1">
                <a:latin typeface="Courier New" panose="02070309020205020404" pitchFamily="49" charset="0"/>
                <a:cs typeface="Courier New" panose="02070309020205020404" pitchFamily="49" charset="0"/>
              </a:rPr>
              <a:t>adam.adqsadas</a:t>
            </a: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548640" lvl="1" indent="0" algn="l">
              <a:buNone/>
            </a:pP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where PARAMCD="ACTOT11" and EFFFL="Y";</a:t>
            </a:r>
          </a:p>
          <a:p>
            <a:pPr marL="548640" lvl="1" indent="0" algn="l">
              <a:buNone/>
            </a:pP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model CHG = BASE SITEID TRTP;</a:t>
            </a:r>
          </a:p>
          <a:p>
            <a:pPr marL="182880" indent="0" algn="l">
              <a:buNone/>
            </a:pP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run;</a:t>
            </a:r>
          </a:p>
          <a:p>
            <a:pPr marL="0" indent="0">
              <a:buNone/>
            </a:pPr>
            <a:r>
              <a:rPr b="1" dirty="0"/>
              <a:t>What's embedded in the code:</a:t>
            </a:r>
          </a:p>
          <a:p>
            <a:pPr marL="365760" indent="-182880" algn="l">
              <a:buChar char="•"/>
            </a:pPr>
            <a:r>
              <a:rPr dirty="0"/>
              <a:t>Dataset name: </a:t>
            </a:r>
            <a:r>
              <a:rPr dirty="0" err="1">
                <a:latin typeface="Courier New" panose="02070309020205020404" pitchFamily="49" charset="0"/>
                <a:cs typeface="Courier New" panose="02070309020205020404" pitchFamily="49" charset="0"/>
              </a:rPr>
              <a:t>adqsadas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65760" indent="-182880" algn="l">
              <a:buChar char="•"/>
            </a:pPr>
            <a:r>
              <a:rPr dirty="0"/>
              <a:t>Variable names: </a:t>
            </a: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CHG, BASE, TRTP, SITEID</a:t>
            </a:r>
          </a:p>
          <a:p>
            <a:pPr marL="365760" indent="-182880" algn="l">
              <a:buChar char="•"/>
            </a:pPr>
            <a:r>
              <a:rPr dirty="0"/>
              <a:t>Filter conditions: </a:t>
            </a: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PARAMCD, EFFFL </a:t>
            </a:r>
            <a:r>
              <a:rPr dirty="0"/>
              <a:t>values</a:t>
            </a:r>
          </a:p>
          <a:p>
            <a:pPr marL="0" indent="0">
              <a:buNone/>
            </a:pPr>
            <a:r>
              <a:rPr dirty="0"/>
              <a:t>Different parameter? → Copy-paste, change values</a:t>
            </a:r>
          </a:p>
          <a:p>
            <a:pPr marL="0" indent="0">
              <a:buNone/>
            </a:pPr>
            <a:r>
              <a:rPr dirty="0"/>
              <a:t>Different study? → Rewrite everything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0CA00-99F7-3E44-A839-0402F441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404633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CD6AF-2974-98A8-E658-BBED9248F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An automated approach – tied to specific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DBACC-847D-352D-E9D4-BADDE634B9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00100" y="1111251"/>
            <a:ext cx="3819525" cy="22250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1100" b="1"/>
              <a:t>YAML + R Code References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table: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name: ADSL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filter_domain: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- dm: '!is.na(AGE)'  # R syntax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column_action: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AGE_GRP1: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code_id: "age_group_01.R" # code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F2C28-04E4-F389-E3D2-80C414912B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76824" y="1111251"/>
            <a:ext cx="3609975" cy="22250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1100" b="1"/>
              <a:t>Domain-Specific Language (DSL)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if DM.DTHFL = 'Y'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and the latest of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([ADSL.LSTALVDT + 1 day, ADSL.DTHDTC])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is not later than 2023-07-01,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then set to the latest of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([ADSL.LSTALVDT + 1 day, ADSL.DTHDTC]),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else set to blank.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C845D3-0289-1119-0859-F9F74F6DC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1E59E5-FB3D-A3BE-0A90-9975CDB219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AC3EAD-3C68-9973-CC64-D2AA90494865}"/>
              </a:ext>
            </a:extLst>
          </p:cNvPr>
          <p:cNvSpPr txBox="1"/>
          <p:nvPr/>
        </p:nvSpPr>
        <p:spPr>
          <a:xfrm>
            <a:off x="819625" y="3274142"/>
            <a:ext cx="3800000" cy="324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sz="800"/>
              <a:t>Example from PHUSE EU 2025, Paper SM04</a:t>
            </a:r>
          </a:p>
          <a:p>
            <a:pPr marL="0" indent="0">
              <a:buNone/>
            </a:pPr>
            <a:r>
              <a:rPr sz="800" i="1"/>
              <a:t>Matthew Phelps, Nicolai Skov Johnsen, Novo Nordisk</a:t>
            </a: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BE256B44-9B31-ECF8-2588-45C405910AB3}"/>
              </a:ext>
            </a:extLst>
          </p:cNvPr>
          <p:cNvSpPr txBox="1"/>
          <p:nvPr/>
        </p:nvSpPr>
        <p:spPr>
          <a:xfrm>
            <a:off x="5076823" y="3274142"/>
            <a:ext cx="3609975" cy="32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sz="800"/>
              <a:t>Example from PHUSE EU 2023, Paper DH12</a:t>
            </a:r>
          </a:p>
          <a:p>
            <a:pPr marL="0" indent="0">
              <a:buNone/>
            </a:pPr>
            <a:r>
              <a:rPr sz="800" i="1"/>
              <a:t>Kang Zhao, AstraZeneca</a:t>
            </a:r>
          </a:p>
        </p:txBody>
      </p:sp>
      <p:sp>
        <p:nvSpPr>
          <p:cNvPr id="9" name="TextBox 14">
            <a:extLst>
              <a:ext uri="{FF2B5EF4-FFF2-40B4-BE49-F238E27FC236}">
                <a16:creationId xmlns:a16="http://schemas.microsoft.com/office/drawing/2014/main" id="{EC3A00C4-6B70-8A55-D7EF-82914F3656C9}"/>
              </a:ext>
            </a:extLst>
          </p:cNvPr>
          <p:cNvSpPr txBox="1"/>
          <p:nvPr/>
        </p:nvSpPr>
        <p:spPr>
          <a:xfrm>
            <a:off x="1761536" y="3674871"/>
            <a:ext cx="562092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000" b="1" dirty="0">
                <a:solidFill>
                  <a:srgbClr val="FF0000"/>
                </a:solidFill>
              </a:rPr>
              <a:t>Common Problems:</a:t>
            </a:r>
            <a:endParaRPr lang="en-GB" sz="1000" dirty="0"/>
          </a:p>
          <a:p>
            <a:pPr marL="0" indent="0">
              <a:buNone/>
            </a:pPr>
            <a:r>
              <a:rPr sz="1000" b="1" dirty="0"/>
              <a:t>Clever solutions, but proprietary: </a:t>
            </a:r>
            <a:r>
              <a:rPr sz="1000" dirty="0"/>
              <a:t>Each company invents its own format</a:t>
            </a:r>
          </a:p>
          <a:p>
            <a:pPr marL="0" indent="0">
              <a:buNone/>
            </a:pPr>
            <a:r>
              <a:rPr sz="1000" b="1" dirty="0"/>
              <a:t>Platform-specific: </a:t>
            </a:r>
            <a:r>
              <a:rPr sz="1000" dirty="0"/>
              <a:t>Tied to R ecosystem or custom interpreters</a:t>
            </a:r>
          </a:p>
          <a:p>
            <a:pPr marL="0" indent="0">
              <a:buNone/>
            </a:pPr>
            <a:r>
              <a:rPr sz="1000" b="1" dirty="0"/>
              <a:t>Spec ≠ Code: </a:t>
            </a:r>
            <a:r>
              <a:rPr sz="1000" dirty="0"/>
              <a:t>Logic hidden in external code-files (YAML) or requires custom parser (DSL)</a:t>
            </a:r>
          </a:p>
          <a:p>
            <a:pPr marL="0" indent="0">
              <a:buNone/>
            </a:pPr>
            <a:r>
              <a:rPr sz="1000" b="1" dirty="0"/>
              <a:t>Not portable: </a:t>
            </a:r>
            <a:r>
              <a:rPr sz="1000" dirty="0"/>
              <a:t>Can't be shared across companies or tools</a:t>
            </a:r>
          </a:p>
          <a:p>
            <a:pPr marL="0" indent="0">
              <a:buNone/>
            </a:pPr>
            <a:r>
              <a:rPr sz="1000" b="1" dirty="0"/>
              <a:t>Missing intent: </a:t>
            </a:r>
            <a:r>
              <a:rPr sz="1000" dirty="0"/>
              <a:t>Tells us HOW to compute, but not the analytical purpose</a:t>
            </a:r>
          </a:p>
        </p:txBody>
      </p:sp>
    </p:spTree>
    <p:extLst>
      <p:ext uri="{BB962C8B-B14F-4D97-AF65-F5344CB8AC3E}">
        <p14:creationId xmlns:p14="http://schemas.microsoft.com/office/powerpoint/2010/main" val="578848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The AC/DC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Separating "What" from "How" from "Where"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Think of Analysis Like Cooking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33333"/>
                </a:solidFill>
                <a:latin typeface="Arial"/>
              </a:defRPr>
            </a:pPr>
            <a:r>
              <a:t>Every time you want to prepare a dish, you need three things: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2560320" cy="2377440"/>
          </a:xfrm>
          <a:prstGeom prst="round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173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8B5A2B"/>
                </a:solidFill>
                <a:latin typeface="Arial"/>
              </a:defRPr>
            </a:pPr>
            <a: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920239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A2B"/>
                </a:solidFill>
                <a:latin typeface="Arial"/>
              </a:defRPr>
            </a:pPr>
            <a:r>
              <a:t>A Recipe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194560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(Template)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651760"/>
            <a:ext cx="23774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The pattern that describes</a:t>
            </a:r>
            <a:br/>
            <a:r>
              <a:t>what you're making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280160"/>
            <a:ext cx="2560320" cy="2377440"/>
          </a:xfrm>
          <a:prstGeom prst="round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66160" y="14173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003366"/>
                </a:solidFill>
                <a:latin typeface="Arial"/>
              </a:defRPr>
            </a:pPr>
            <a:r>
              <a:t>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920239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03366"/>
                </a:solidFill>
                <a:latin typeface="Arial"/>
              </a:defRPr>
            </a:pPr>
            <a:r>
              <a:t>Ingredients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194560"/>
            <a:ext cx="237743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rPr dirty="0"/>
              <a:t>(</a:t>
            </a:r>
            <a:r>
              <a:rPr lang="en-GB" noProof="1"/>
              <a:t>Semantic Transformation Elements</a:t>
            </a:r>
            <a:r>
              <a:rPr dirty="0"/>
              <a:t>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51760"/>
            <a:ext cx="23774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Abstract components —</a:t>
            </a:r>
            <a:br/>
            <a:r>
              <a:t>'oil' not 'Bertolli Extra Virgin'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1280160"/>
            <a:ext cx="2560320" cy="2377440"/>
          </a:xfrm>
          <a:prstGeom prst="roundRect">
            <a:avLst/>
          </a:prstGeom>
          <a:solidFill>
            <a:srgbClr val="F0E8F8"/>
          </a:solidFill>
          <a:ln w="25400">
            <a:solidFill>
              <a:srgbClr val="C8B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663399"/>
                </a:solidFill>
                <a:latin typeface="Arial"/>
              </a:defRPr>
            </a:pPr>
            <a:r>
              <a:rPr dirty="0"/>
              <a:t>👨‍🍳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1920239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663399"/>
                </a:solidFill>
                <a:latin typeface="Arial"/>
              </a:defRPr>
            </a:pPr>
            <a:r>
              <a:t>Instructions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2194560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(Method)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2651760"/>
            <a:ext cx="23774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How to combine ingredients</a:t>
            </a:r>
            <a:br/>
            <a:r>
              <a:t>using named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2377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66666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377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66666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840480"/>
            <a:ext cx="7863840" cy="548640"/>
          </a:xfrm>
          <a:prstGeom prst="round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39319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= A complete, reproducible analysis specification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Separation of Concerns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8229600" cy="640080"/>
          </a:xfrm>
          <a:prstGeom prst="round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8B5A2B"/>
                </a:solidFill>
                <a:latin typeface="Arial"/>
              </a:defRPr>
            </a:pPr>
            <a:r>
              <a:t>A vinaigrette recipe doesn't specify "Bertolli olive oil" — it just says "oil"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333333"/>
                </a:solidFill>
                <a:latin typeface="Arial"/>
              </a:defRPr>
            </a:pPr>
            <a:r>
              <a:t>AC/DC separates what you need from the specific product you use: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3474720" cy="1280160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WHAT (Abstract)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33333"/>
                </a:solidFill>
                <a:latin typeface="Arial"/>
              </a:defRPr>
            </a:pPr>
            <a:r>
              <a:t>"oil" → analysis_value</a:t>
            </a:r>
            <a:br/>
            <a:r>
              <a:t>"vinegar" → baseline_value</a:t>
            </a:r>
            <a:br/>
            <a:r>
              <a:t>"emulsify" → Subtraction 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3774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66666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1965960"/>
            <a:ext cx="3474720" cy="1280160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0" y="20116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t>WHERE (Concrete)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2860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33333"/>
                </a:solidFill>
                <a:latin typeface="Arial"/>
              </a:defRPr>
            </a:pPr>
            <a:r>
              <a:rPr dirty="0" err="1"/>
              <a:t>ADaM</a:t>
            </a:r>
            <a:r>
              <a:rPr dirty="0"/>
              <a:t>: AVAL, BASE, CHG</a:t>
            </a:r>
            <a:br>
              <a:rPr dirty="0"/>
            </a:br>
            <a:r>
              <a:rPr dirty="0"/>
              <a:t>SAS: PROC GLM</a:t>
            </a:r>
            <a:br>
              <a:rPr dirty="0"/>
            </a:br>
            <a:r>
              <a:rPr dirty="0"/>
              <a:t>Your specific study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832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333333"/>
                </a:solidFill>
                <a:latin typeface="Arial"/>
              </a:defRPr>
            </a:pPr>
            <a:r>
              <a:t>This enables: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118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6576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333333"/>
                </a:solidFill>
                <a:latin typeface="Arial"/>
              </a:defRPr>
            </a:pPr>
            <a:r>
              <a:t>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6576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Standard-independence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ADaM, SDTM, OMOP, FHIR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79" y="36118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0" y="36576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333333"/>
                </a:solidFill>
                <a:latin typeface="Arial"/>
              </a:defRPr>
            </a:pPr>
            <a:r>
              <a:t>⚙️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79" y="36576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Machine-execution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79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Automated code generation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36118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63640" y="36576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333333"/>
                </a:solidFill>
                <a:latin typeface="Arial"/>
              </a:defRPr>
            </a:pPr>
            <a:r>
              <a:t>♻️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6576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Reusability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Define once, execute anywhere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1">
                <a:solidFill>
                  <a:srgbClr val="003366"/>
                </a:solidFill>
                <a:latin typeface="Arial"/>
              </a:defRPr>
            </a:pPr>
            <a:r>
              <a:t>A good recipe works in any kitchen, with any brand of ingredients.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Arial"/>
              </a:defRPr>
            </a:pPr>
            <a:r>
              <a:t>The Three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B8D4E8"/>
                </a:solidFill>
                <a:latin typeface="Arial"/>
              </a:defRPr>
            </a:pPr>
            <a:r>
              <a:t>Recipe, Ingredients, and Cooking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29260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FFFFFF"/>
                </a:solidFill>
                <a:latin typeface="Arial"/>
              </a:defRPr>
            </a:pPr>
            <a: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3474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B8D4E8"/>
                </a:solidFill>
                <a:latin typeface="Arial"/>
              </a:defRPr>
            </a:pPr>
            <a:r>
              <a:t>Recipe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9260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FFFFFF"/>
                </a:solidFill>
                <a:latin typeface="Arial"/>
              </a:defRPr>
            </a:pPr>
            <a:r>
              <a:t>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3474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B8D4E8"/>
                </a:solidFill>
                <a:latin typeface="Arial"/>
              </a:defRPr>
            </a:pPr>
            <a:r>
              <a:t>Ingredients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9260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FFFFFF"/>
                </a:solidFill>
                <a:latin typeface="Arial"/>
              </a:defRPr>
            </a:pPr>
            <a:r>
              <a:t>👨‍🍳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474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B8D4E8"/>
                </a:solidFill>
                <a:latin typeface="Arial"/>
              </a:defRPr>
            </a:pPr>
            <a:r>
              <a:t>Instructions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30632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B8D4E8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30632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B8D4E8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B8D4E8"/>
                </a:solidFill>
                <a:latin typeface="Arial"/>
              </a:defRPr>
            </a:pPr>
            <a:r>
              <a:t>Let's explore each component in detail...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Big Picture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15140" y="1350183"/>
            <a:ext cx="4114800" cy="2903627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6580" y="1441623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3366"/>
                </a:solidFill>
                <a:latin typeface="Arial"/>
              </a:defRPr>
            </a:pPr>
            <a:r>
              <a:rPr dirty="0"/>
              <a:t>AC/DC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9217" y="1898823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3366"/>
                </a:solidFill>
                <a:latin typeface="Arial"/>
              </a:defRPr>
            </a:pPr>
            <a:r>
              <a:rPr dirty="0"/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340" y="1898823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340" y="2127423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rPr dirty="0"/>
              <a:t>Pattern defining clinical intent and what elements are needed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217" y="2630343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3366"/>
                </a:solidFill>
                <a:latin typeface="Arial"/>
              </a:defRPr>
            </a:pPr>
            <a:r>
              <a:rPr dirty="0"/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340" y="2630343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SEMANTIC 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340" y="2858943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Abstract data concepts (analysis_value, baseline_value)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217" y="3361862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3366"/>
                </a:solidFill>
                <a:latin typeface="Arial"/>
              </a:defRPr>
            </a:pPr>
            <a: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340" y="336186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METHOD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340" y="359046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Operations with named roles (Subtraction, ANCOVA)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12820" y="1350183"/>
            <a:ext cx="4114800" cy="2903627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4260" y="1441623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B5A2B"/>
                </a:solidFill>
                <a:latin typeface="Arial"/>
              </a:defRPr>
            </a:pPr>
            <a:r>
              <a:t>Recipe Analogy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6897" y="1898823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B5A2B"/>
                </a:solidFill>
                <a:latin typeface="Arial"/>
              </a:defRPr>
            </a:pPr>
            <a:r>
              <a:t>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70020" y="1898823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THE RECIPE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0020" y="2127423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Instructions defining what dish to make and what ingredients needed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97" y="2630343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B5A2B"/>
                </a:solidFill>
                <a:latin typeface="Arial"/>
              </a:defRPr>
            </a:pPr>
            <a:r>
              <a:t>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70020" y="2630343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THE INGREDIENTS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70020" y="2858943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Abstract types: "oil", "vinegar" — not specific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6897" y="3361862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B5A2B"/>
                </a:solidFill>
                <a:latin typeface="Arial"/>
              </a:defRPr>
            </a:pPr>
            <a:r>
              <a:t>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0020" y="336186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THE TECHNIQUE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0020" y="359046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How to combine: emulsification, reduction, sautéing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49D161D-268A-4E6B-BD76-7F1CA5439B60}"/>
              </a:ext>
            </a:extLst>
          </p:cNvPr>
          <p:cNvGrpSpPr/>
          <p:nvPr/>
        </p:nvGrpSpPr>
        <p:grpSpPr>
          <a:xfrm>
            <a:off x="615140" y="825631"/>
            <a:ext cx="8412480" cy="411480"/>
            <a:chOff x="457200" y="4505764"/>
            <a:chExt cx="8412480" cy="411480"/>
          </a:xfrm>
        </p:grpSpPr>
        <p:sp>
          <p:nvSpPr>
            <p:cNvPr id="26" name="Rectangle 25"/>
            <p:cNvSpPr/>
            <p:nvPr/>
          </p:nvSpPr>
          <p:spPr>
            <a:xfrm>
              <a:off x="457200" y="4505764"/>
              <a:ext cx="8412480" cy="41148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02416" y="4526838"/>
              <a:ext cx="827582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rPr lang="en-GB" sz="900" noProof="1"/>
                <a:t>The recipe doesn't care about brands — it works with abstract ingredient types. Similarly, Templates work with semantic concepts </a:t>
              </a:r>
            </a:p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rPr lang="en-GB" sz="900" noProof="1"/>
                <a:t>(Semantic Transformation Elements (TE)).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Templates: The Recipe Card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01902"/>
            <a:ext cx="4114800" cy="3279483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29334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AC/DC Template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9102"/>
            <a:ext cx="3749039" cy="3200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77390"/>
            <a:ext cx="37490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Template: ChangeFromBaseline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7058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Arial"/>
              </a:defRPr>
            </a:pPr>
            <a:r>
              <a:t>Clinical Intent: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53461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33333"/>
                </a:solidFill>
                <a:latin typeface="Arial"/>
              </a:defRPr>
            </a:pPr>
            <a:r>
              <a:t>Calculate absolute change from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2778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Arial"/>
              </a:defRPr>
            </a:pPr>
            <a:r>
              <a:t>Semantic TEs needed: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1066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• analysis_value (input measure)</a:t>
            </a:r>
            <a:br/>
            <a:r>
              <a:t>• baseline_value (input measure)</a:t>
            </a:r>
            <a:br/>
            <a:r>
              <a:t>• change_value (output measure)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42182"/>
            <a:ext cx="1828800" cy="27432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46047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Method: Subtraction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45102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Template captures WHAT you're doing clinically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201902"/>
            <a:ext cx="4114800" cy="3279483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0" y="129334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t>Recipe Card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1659102"/>
            <a:ext cx="3749039" cy="320040"/>
          </a:xfrm>
          <a:prstGeom prst="round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46320" y="1677390"/>
            <a:ext cx="37490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Recipe: Classic Vinaigrette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07058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Arial"/>
              </a:defRPr>
            </a:pPr>
            <a:r>
              <a:t>Purpose: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253461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33333"/>
                </a:solidFill>
                <a:latin typeface="Arial"/>
              </a:defRPr>
            </a:pPr>
            <a:r>
              <a:t>Create an emulsified salad dressing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52778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Arial"/>
              </a:defRPr>
            </a:pPr>
            <a:r>
              <a:t>Ingredients needed: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271066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• oil (3 parts)</a:t>
            </a:r>
            <a:br/>
            <a:r>
              <a:t>• vinegar (1 part)</a:t>
            </a:r>
            <a:br/>
            <a:r>
              <a:t>• seasoning (to taste)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46320" y="3442182"/>
            <a:ext cx="2011680" cy="274320"/>
          </a:xfrm>
          <a:prstGeom prst="round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46320" y="346047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Method: Emulsification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3945102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t>Recipe captures WHAT dish you're making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49B2AEE-1A49-5F33-E5C4-52F96DA2E1EF}"/>
              </a:ext>
            </a:extLst>
          </p:cNvPr>
          <p:cNvGrpSpPr/>
          <p:nvPr/>
        </p:nvGrpSpPr>
        <p:grpSpPr>
          <a:xfrm>
            <a:off x="365760" y="712167"/>
            <a:ext cx="8412480" cy="411480"/>
            <a:chOff x="365760" y="4526280"/>
            <a:chExt cx="8412480" cy="411480"/>
          </a:xfrm>
        </p:grpSpPr>
        <p:sp>
          <p:nvSpPr>
            <p:cNvPr id="26" name="Rectangle 25"/>
            <p:cNvSpPr/>
            <p:nvPr/>
          </p:nvSpPr>
          <p:spPr>
            <a:xfrm>
              <a:off x="365760" y="4526280"/>
              <a:ext cx="8412480" cy="41148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57200" y="4572000"/>
              <a:ext cx="8229600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t>The recipe doesn't specify "Bertolli Extra Virgin" — it just says "oil". Templates work the same way.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Semantic TEs: The Ingredients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51331"/>
            <a:ext cx="4114800" cy="3263004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42771"/>
            <a:ext cx="39319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rPr lang="en-GB" noProof="1"/>
              <a:t>Semantic Transformation Elements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98803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666666"/>
                </a:solidFill>
                <a:latin typeface="Arial"/>
              </a:defRPr>
            </a:pPr>
            <a:r>
              <a:t>Abstract concepts, not physical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4569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891411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analysis_value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7429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 bound to: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1145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ADaM: AVAL | SDTM: STRESN | OMOP: value_as_number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2293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66865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baseline_value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5153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 bound to: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98869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ADaM: BASE | SDTM: (derived) | OMOP: (derived)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0017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445891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treatment_planned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62877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 bound to: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593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ADaM: TRT01P | SDTM: ARM | OMOP: drug_concept_id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1251331"/>
            <a:ext cx="4114800" cy="3263004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54880" y="1342771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Ingredient Types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1598803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666666"/>
                </a:solidFill>
                <a:latin typeface="Arial"/>
              </a:defRPr>
            </a:pPr>
            <a:r>
              <a:t>Generic categories, not specific products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0600" y="184569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92040" y="1891411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Oil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07429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21145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Olive oil from Italy | Canola from Canada | Coconut from Thailand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00600" y="262293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92040" y="266865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Vinegar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285153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298869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Balsamic | Red wine | Apple cider | Rice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340017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892040" y="3445891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Seasoning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362877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76593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Salt + pepper | Dijon mustard | Herbs de Provence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348655A-6943-DF8F-A40C-5D5AEE4C902B}"/>
              </a:ext>
            </a:extLst>
          </p:cNvPr>
          <p:cNvGrpSpPr/>
          <p:nvPr/>
        </p:nvGrpSpPr>
        <p:grpSpPr>
          <a:xfrm>
            <a:off x="365760" y="753362"/>
            <a:ext cx="8412480" cy="411480"/>
            <a:chOff x="365760" y="4526280"/>
            <a:chExt cx="8412480" cy="411480"/>
          </a:xfrm>
        </p:grpSpPr>
        <p:sp>
          <p:nvSpPr>
            <p:cNvPr id="34" name="Rectangle 33"/>
            <p:cNvSpPr/>
            <p:nvPr/>
          </p:nvSpPr>
          <p:spPr>
            <a:xfrm>
              <a:off x="365760" y="4526280"/>
              <a:ext cx="8412480" cy="41148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57200" y="4572000"/>
              <a:ext cx="8229600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t>The same recipe works regardless of which specific oil you use — same template works across data standards.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Methods: The Cooking Technique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50183"/>
            <a:ext cx="4114800" cy="3200400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441623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AC/DC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61663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80738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Derivation Method: Subtraction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3598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Courier New"/>
              </a:defRPr>
            </a:pPr>
            <a:r>
              <a:t>difference := minuend - subtrahend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64583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Roles: minuend (in) | subtrahend (in) | difference (out)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858943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90466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Analysis Method: ANCOVA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13326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Courier New"/>
              </a:defRPr>
            </a:pPr>
            <a:r>
              <a:t>response ~ covariate + group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361863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Roles: response | covariate | group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001943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Methods define HOW using named roles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350183"/>
            <a:ext cx="4114800" cy="3200400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0" y="1441623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Cooking Techniques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1761663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92040" y="180738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Technique: Emulsification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008551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1. Place [acid] in bowl</a:t>
            </a:r>
            <a:br/>
            <a:r>
              <a:t>2. Slowly drizzle [fat] while whisking</a:t>
            </a:r>
            <a:br/>
            <a:r>
              <a:t>3. Add [seasonings] and mix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493183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Roles: acid | fat | seasonings | emulsion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2858943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92040" y="290466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Technique: Reduction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3133263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Simmer [liquid] until volume reduced by [ratio]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361863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Roles: liquid | ratio | concentrated_result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4001943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t>Techniques use generic roles, not specific brands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E6C40E6-2A46-4064-DF42-ECDBB57CD99D}"/>
              </a:ext>
            </a:extLst>
          </p:cNvPr>
          <p:cNvGrpSpPr/>
          <p:nvPr/>
        </p:nvGrpSpPr>
        <p:grpSpPr>
          <a:xfrm>
            <a:off x="365760" y="815556"/>
            <a:ext cx="8412480" cy="411480"/>
            <a:chOff x="365760" y="4526280"/>
            <a:chExt cx="8412480" cy="411480"/>
          </a:xfrm>
        </p:grpSpPr>
        <p:sp>
          <p:nvSpPr>
            <p:cNvPr id="26" name="Rectangle 25"/>
            <p:cNvSpPr/>
            <p:nvPr/>
          </p:nvSpPr>
          <p:spPr>
            <a:xfrm>
              <a:off x="365760" y="4526280"/>
              <a:ext cx="8412480" cy="41148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57200" y="4572000"/>
              <a:ext cx="8229600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t>The technique doesn't care what specific oil or vinegar you use — it just combines "fat" and "acid" into an emulsion.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Three-Layer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666666"/>
                </a:solidFill>
                <a:latin typeface="Arial"/>
              </a:defRPr>
            </a:pPr>
            <a:r>
              <a:rPr dirty="0"/>
              <a:t>Both derivation and analysis follow the same pattern: Method → Template →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4114800" cy="3246120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AC/DC Framework Layers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55448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METHOD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Derivation: Subtraction, Division</a:t>
            </a:r>
            <a:br/>
            <a:r>
              <a:t>Analysis: t-test, ANCOVA, MMRM, Cox 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Pure operations with named roles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377439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42315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TEMPLATE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06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ChangeFromBaseline, PercentChange</a:t>
            </a:r>
            <a:br/>
            <a:r>
              <a:t>CFB_ANCOVA, TTE_CoxPH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926079"/>
            <a:ext cx="36576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rPr dirty="0"/>
              <a:t>Binds </a:t>
            </a:r>
            <a:r>
              <a:rPr lang="da-DK" dirty="0"/>
              <a:t>S</a:t>
            </a:r>
            <a:r>
              <a:rPr dirty="0"/>
              <a:t>TEs to method roles for clinical 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24612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29183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IMPLEMENTATION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474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ADaM / SDTM / OMOP variables</a:t>
            </a:r>
            <a:br/>
            <a:r>
              <a:t>R / SAS / Python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9475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Physical bindings &amp; code generation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1097280"/>
            <a:ext cx="4114800" cy="3246120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54880" y="11887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t>Recipe Parallel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150876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92040" y="155448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TECHNIQUE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1737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Emulsification, reduction, sautéing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0574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How to combine ingredients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00600" y="2377439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892040" y="242315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RECIPE CARD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2606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rPr dirty="0"/>
              <a:t>Classic Vinaigrette: oil + vinegar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292607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What dish + what ingredients needed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00600" y="324612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92040" y="329183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t>ACTUAL PRODUCTS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3474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Bertolli olive oil, Whole Foods balsamic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379475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Physical items from your pantry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The Core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Derivation and Analysis as Functions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Derivation and Analysis - Functions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00100" y="1111250"/>
                <a:ext cx="7886700" cy="3521473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dirty="0"/>
                  <a:t>An </a:t>
                </a:r>
                <a:r>
                  <a:rPr lang="en-GB" noProof="0" dirty="0"/>
                  <a:t>analysis or a derivation share the same fundamental structure </a:t>
                </a:r>
              </a:p>
              <a:p>
                <a:pPr marL="0" indent="0">
                  <a:buNone/>
                </a:pPr>
                <a:r>
                  <a:rPr lang="en-GB" noProof="0" dirty="0"/>
                  <a:t>– the </a:t>
                </a:r>
                <a:r>
                  <a:rPr lang="en-GB" noProof="0" dirty="0">
                    <a:solidFill>
                      <a:schemeClr val="accent4">
                        <a:lumMod val="75000"/>
                      </a:schemeClr>
                    </a:solidFill>
                  </a:rPr>
                  <a:t>recipe</a:t>
                </a:r>
                <a:r>
                  <a:rPr lang="en-GB" dirty="0"/>
                  <a:t> – has </a:t>
                </a:r>
                <a:r>
                  <a:rPr lang="en-GB" noProof="0" dirty="0"/>
                  <a:t>this fundamental structure: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𝑶𝑼𝑻𝑷𝑼𝑻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 ( 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𝑰𝑵𝑷𝑼𝑻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where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GB" b="1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is a transformation/function/method applied (</a:t>
                </a:r>
                <a:r>
                  <a:rPr lang="en-GB" dirty="0">
                    <a:solidFill>
                      <a:schemeClr val="accent4">
                        <a:lumMod val="75000"/>
                      </a:schemeClr>
                    </a:solidFill>
                  </a:rPr>
                  <a:t>cooking technique</a:t>
                </a:r>
                <a:r>
                  <a:rPr lang="en-GB" dirty="0"/>
                  <a:t>) of an input (</a:t>
                </a:r>
                <a:r>
                  <a:rPr lang="en-GB" dirty="0">
                    <a:solidFill>
                      <a:schemeClr val="accent4">
                        <a:lumMod val="75000"/>
                      </a:schemeClr>
                    </a:solidFill>
                  </a:rPr>
                  <a:t>ingredients</a:t>
                </a:r>
                <a:r>
                  <a:rPr lang="en-GB" dirty="0"/>
                  <a:t>) to provide an output (</a:t>
                </a:r>
                <a:r>
                  <a:rPr lang="en-GB" dirty="0">
                    <a:solidFill>
                      <a:schemeClr val="accent4">
                        <a:lumMod val="75000"/>
                      </a:schemeClr>
                    </a:solidFill>
                  </a:rPr>
                  <a:t>Vinaigrette</a:t>
                </a:r>
                <a:r>
                  <a:rPr lang="en-GB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 algn="ctr">
                  <a:buNone/>
                </a:pPr>
                <a:endParaRPr lang="en-GB" sz="2800" b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00100" y="1111250"/>
                <a:ext cx="7886700" cy="3521473"/>
              </a:xfrm>
              <a:blipFill>
                <a:blip r:embed="rId2"/>
                <a:stretch>
                  <a:fillRect l="-1608" t="-287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139A9-491C-1056-806E-977E81056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B3975-9CD1-B217-7C54-B8D5156C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Layer</a:t>
            </a:r>
            <a:r>
              <a:rPr lang="da-DK" dirty="0"/>
              <a:t>ed</a:t>
            </a:r>
            <a:r>
              <a:rPr dirty="0"/>
              <a:t>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87F69C-C465-AFAE-EE79-2E7BFA437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17A35-4A76-7B1A-0632-9FF100B635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  <a:endParaRPr dirty="0"/>
          </a:p>
        </p:txBody>
      </p:sp>
      <p:pic>
        <p:nvPicPr>
          <p:cNvPr id="11" name="ctm-connector" descr="CTM as connector between Templates and Implementation" title="CTM Connector Layer">
            <a:extLst>
              <a:ext uri="{FF2B5EF4-FFF2-40B4-BE49-F238E27FC236}">
                <a16:creationId xmlns:a16="http://schemas.microsoft.com/office/drawing/2014/main" id="{E5B6E725-08DF-5519-D04D-F39F47EE6B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1518250" y="856080"/>
            <a:ext cx="5394735" cy="39111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C8AF3C-8ABE-D228-37C5-9AD353CA01C8}"/>
              </a:ext>
            </a:extLst>
          </p:cNvPr>
          <p:cNvSpPr txBox="1"/>
          <p:nvPr/>
        </p:nvSpPr>
        <p:spPr>
          <a:xfrm>
            <a:off x="6912985" y="1359145"/>
            <a:ext cx="10594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TECHNIQUE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9C2ACD-50AC-737C-FB36-1FC83B0BABDE}"/>
              </a:ext>
            </a:extLst>
          </p:cNvPr>
          <p:cNvSpPr txBox="1"/>
          <p:nvPr/>
        </p:nvSpPr>
        <p:spPr>
          <a:xfrm>
            <a:off x="6912985" y="2144664"/>
            <a:ext cx="10594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RECIPE CARD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27A97D-E36F-570B-C404-0EB8B95F4F39}"/>
              </a:ext>
            </a:extLst>
          </p:cNvPr>
          <p:cNvSpPr txBox="1"/>
          <p:nvPr/>
        </p:nvSpPr>
        <p:spPr>
          <a:xfrm>
            <a:off x="6912985" y="4126824"/>
            <a:ext cx="15159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ACTUAL PRODUCTS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387633-9376-8877-F4F8-5403AF8FB87D}"/>
              </a:ext>
            </a:extLst>
          </p:cNvPr>
          <p:cNvSpPr txBox="1"/>
          <p:nvPr/>
        </p:nvSpPr>
        <p:spPr>
          <a:xfrm>
            <a:off x="6912985" y="3183624"/>
            <a:ext cx="15159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00" b="1" i="0">
                <a:solidFill>
                  <a:srgbClr val="8B5A2B"/>
                </a:solidFill>
                <a:latin typeface="Arial"/>
              </a:defRPr>
            </a:lvl1pPr>
          </a:lstStyle>
          <a:p>
            <a:r>
              <a:rPr lang="en-GB" dirty="0"/>
              <a:t>INGREDIENT TYPES</a:t>
            </a:r>
          </a:p>
        </p:txBody>
      </p:sp>
    </p:spTree>
    <p:extLst>
      <p:ext uri="{BB962C8B-B14F-4D97-AF65-F5344CB8AC3E}">
        <p14:creationId xmlns:p14="http://schemas.microsoft.com/office/powerpoint/2010/main" val="15758405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A95-13ED-604F-AA65-8144C0F6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noProof="1"/>
              <a:t>Three-Layer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0A91-8A58-D34B-9C3A-DBCC37353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111250"/>
            <a:ext cx="7886700" cy="3521473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b="1" noProof="1"/>
              <a:t>Layer 1: AC/DC Instance – the derivation/analysis logic</a:t>
            </a:r>
          </a:p>
          <a:p>
            <a:r>
              <a:rPr lang="en-GB" noProof="1"/>
              <a:t>"What am I deriving/analyzing"</a:t>
            </a:r>
          </a:p>
          <a:p>
            <a:r>
              <a:rPr lang="en-GB" noProof="1"/>
              <a:t>template based on semantic concepts (change_value, baseline_value)</a:t>
            </a:r>
          </a:p>
          <a:p>
            <a:r>
              <a:rPr lang="en-GB" noProof="1"/>
              <a:t>references the Clinical Semantic Transformation Model via IS_A relationships</a:t>
            </a:r>
          </a:p>
          <a:p>
            <a:endParaRPr lang="en-GB" noProof="1"/>
          </a:p>
          <a:p>
            <a:pPr marL="0" indent="0">
              <a:buNone/>
            </a:pPr>
            <a:r>
              <a:rPr lang="en-GB" b="1" noProof="1"/>
              <a:t>Layer 2: Clinical Semantic Transformation Model</a:t>
            </a:r>
          </a:p>
          <a:p>
            <a:r>
              <a:rPr lang="en-GB" noProof="1"/>
              <a:t>Definitions of analytical concepts and their relationships</a:t>
            </a:r>
          </a:p>
          <a:p>
            <a:r>
              <a:rPr lang="en-GB" noProof="1"/>
              <a:t>study-independent</a:t>
            </a:r>
          </a:p>
          <a:p>
            <a:r>
              <a:rPr lang="en-GB" noProof="1"/>
              <a:t>generic definition of change_value, baseline_value, treatment, LSMean, p-value...</a:t>
            </a:r>
          </a:p>
          <a:p>
            <a:endParaRPr lang="en-GB" noProof="1"/>
          </a:p>
          <a:p>
            <a:pPr marL="0" indent="0">
              <a:buNone/>
            </a:pPr>
            <a:r>
              <a:rPr lang="en-GB" b="1" noProof="1"/>
              <a:t>Layer 3: Implementation/presentation layer</a:t>
            </a:r>
          </a:p>
          <a:p>
            <a:r>
              <a:rPr lang="en-GB" noProof="1"/>
              <a:t>"Where is my data?" — Study-specific</a:t>
            </a:r>
          </a:p>
          <a:p>
            <a:r>
              <a:rPr lang="en-GB" noProof="1"/>
              <a:t>How does my presentation layer relate to the Analytical Data Model</a:t>
            </a:r>
          </a:p>
          <a:p>
            <a:r>
              <a:rPr lang="en-GB" noProof="1"/>
              <a:t>change_value ← CHG ← ADQSADAS.CHG</a:t>
            </a:r>
          </a:p>
          <a:p>
            <a:r>
              <a:rPr lang="en-GB" noProof="1"/>
              <a:t>treatment ← TRT01P ← ADQSADAS.TRT01P</a:t>
            </a:r>
          </a:p>
          <a:p>
            <a:endParaRPr lang="en-GB" noProof="1"/>
          </a:p>
          <a:p>
            <a:pPr marL="0" indent="0">
              <a:buNone/>
            </a:pPr>
            <a:r>
              <a:rPr lang="en-GB" b="1" noProof="1"/>
              <a:t>Same analysis, different study? Only Layer 3 changes.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0CA00-99F7-3E44-A839-0402F441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GB" noProof="1" smtClean="0"/>
              <a:pPr/>
              <a:t>18</a:t>
            </a:fld>
            <a:endParaRPr lang="en-GB" noProof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GB" noProof="1"/>
              <a:t>#ClearDataClearImpact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A95-13ED-604F-AA65-8144C0F6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noProof="1"/>
              <a:t>The Clinical Semantic Transformation Model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0A91-8A58-D34B-9C3A-DBCC37353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b="1" dirty="0"/>
              <a:t>The semantic vocabulary — concepts that AC/DCs reference:</a:t>
            </a:r>
          </a:p>
          <a:p>
            <a:pPr marL="0" indent="0">
              <a:buNone/>
            </a:pPr>
            <a:r>
              <a:rPr b="1" dirty="0"/>
              <a:t>Concepts (standard-agnostic):</a:t>
            </a:r>
          </a:p>
          <a:p>
            <a:pPr marL="0" indent="0">
              <a:buNone/>
            </a:pPr>
            <a:r>
              <a:rPr dirty="0"/>
              <a:t>subject, parameter, visit, treatment, site</a:t>
            </a:r>
          </a:p>
          <a:p>
            <a:pPr marL="0" indent="0">
              <a:buNone/>
            </a:pPr>
            <a:r>
              <a:rPr dirty="0" err="1"/>
              <a:t>analysis_value</a:t>
            </a:r>
            <a:r>
              <a:rPr dirty="0"/>
              <a:t>, </a:t>
            </a:r>
            <a:r>
              <a:rPr dirty="0" err="1"/>
              <a:t>baseline_value</a:t>
            </a:r>
            <a:r>
              <a:rPr dirty="0"/>
              <a:t>, </a:t>
            </a:r>
            <a:r>
              <a:rPr dirty="0" err="1"/>
              <a:t>change_value</a:t>
            </a:r>
            <a:endParaRPr dirty="0"/>
          </a:p>
          <a:p>
            <a:pPr marL="0" indent="0">
              <a:buNone/>
            </a:pPr>
            <a:r>
              <a:rPr dirty="0" err="1"/>
              <a:t>population_flag</a:t>
            </a:r>
            <a:r>
              <a:rPr dirty="0"/>
              <a:t>, </a:t>
            </a:r>
            <a:r>
              <a:rPr dirty="0" err="1"/>
              <a:t>baseline_flag</a:t>
            </a:r>
            <a:endParaRPr dirty="0"/>
          </a:p>
          <a:p>
            <a:pPr marL="0" indent="0">
              <a:buNone/>
            </a:pPr>
            <a:r>
              <a:rPr b="1" dirty="0"/>
              <a:t>Semantic relationships:</a:t>
            </a:r>
          </a:p>
          <a:p>
            <a:pPr marL="0" indent="0">
              <a:buNone/>
            </a:pPr>
            <a:r>
              <a:rPr dirty="0" err="1"/>
              <a:t>change_value</a:t>
            </a:r>
            <a:r>
              <a:rPr dirty="0"/>
              <a:t> </a:t>
            </a:r>
            <a:r>
              <a:rPr dirty="0" err="1"/>
              <a:t>derived_from</a:t>
            </a:r>
            <a:r>
              <a:rPr dirty="0"/>
              <a:t> (</a:t>
            </a:r>
            <a:r>
              <a:rPr dirty="0" err="1"/>
              <a:t>analysis_value</a:t>
            </a:r>
            <a:r>
              <a:rPr dirty="0"/>
              <a:t>, </a:t>
            </a:r>
            <a:r>
              <a:rPr dirty="0" err="1"/>
              <a:t>baseline_value</a:t>
            </a:r>
            <a:r>
              <a:rPr dirty="0"/>
              <a:t>)</a:t>
            </a:r>
          </a:p>
          <a:p>
            <a:pPr marL="0" indent="0">
              <a:buNone/>
            </a:pPr>
            <a:r>
              <a:rPr dirty="0" err="1"/>
              <a:t>baseline_value</a:t>
            </a:r>
            <a:r>
              <a:rPr dirty="0"/>
              <a:t> </a:t>
            </a:r>
            <a:r>
              <a:rPr dirty="0" err="1"/>
              <a:t>identified_by</a:t>
            </a:r>
            <a:r>
              <a:rPr dirty="0"/>
              <a:t> (subject, parameter, </a:t>
            </a:r>
            <a:r>
              <a:rPr dirty="0" err="1"/>
              <a:t>baseline_flag</a:t>
            </a:r>
            <a:r>
              <a:rPr dirty="0"/>
              <a:t>)</a:t>
            </a:r>
          </a:p>
          <a:p>
            <a:pPr marL="0" indent="0">
              <a:buNone/>
            </a:pPr>
            <a:r>
              <a:rPr b="1" dirty="0"/>
              <a:t>No cube roles here — roles are assigned by Templates:</a:t>
            </a:r>
          </a:p>
          <a:p>
            <a:pPr marL="0" indent="0">
              <a:buNone/>
            </a:pPr>
            <a:r>
              <a:rPr dirty="0"/>
              <a:t>The Template's SDMX cube decides whether 'treatment' is a dimension or a factor.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0CA00-99F7-3E44-A839-0402F441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From Template to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The Three Layers of Resolution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  <a:defRPr sz="3600" b="1">
                <a:solidFill>
                  <a:srgbClr val="005A8B"/>
                </a:solidFill>
              </a:defRPr>
            </a:pPr>
            <a:r>
              <a:t>Layer 1: The Recipe Card (Template)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t>You decide to make vinaigrette — you pull out the recipe card (Template)</a:t>
            </a:r>
          </a:p>
          <a:p>
            <a:pPr marL="0" indent="0">
              <a:buNone/>
            </a:pPr>
            <a:r>
              <a:rPr b="1"/>
              <a:t>Tonight's Vinaigrette Instance:</a:t>
            </a:r>
          </a:p>
          <a:p>
            <a:pPr marL="0" indent="0">
              <a:buNone/>
            </a:pPr>
            <a:r>
              <a:t>Using recipe: Classic Vinaigrette</a:t>
            </a:r>
          </a:p>
          <a:p>
            <a:pPr marL="0" indent="0">
              <a:buNone/>
            </a:pPr>
            <a:r>
              <a:t>For: Caesar salad</a:t>
            </a:r>
          </a:p>
          <a:p>
            <a:pPr marL="0" indent="0">
              <a:buNone/>
            </a:pPr>
            <a:r>
              <a:t>Serving: 4 people</a:t>
            </a:r>
          </a:p>
          <a:p>
            <a:pPr marL="0" indent="0">
              <a:buNone/>
            </a:pPr>
            <a:r>
              <a:rPr b="1"/>
              <a:t>The Template captures your clinical analysis intent</a:t>
            </a:r>
          </a:p>
          <a:p>
            <a:pPr marL="0" indent="0">
              <a:buNone/>
            </a:pPr>
            <a:r>
              <a:t>It references semantic concepts, not physical variables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  <a:defRPr sz="3600" b="1">
                <a:solidFill>
                  <a:srgbClr val="005A8B"/>
                </a:solidFill>
              </a:defRPr>
            </a:pPr>
            <a:r>
              <a:t>Layer 2: The Pantry (CTM Bindings)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t>Your pantry has a labeling system — the jar labeled 'OIL' holds different products</a:t>
            </a:r>
          </a:p>
          <a:p>
            <a:pPr marL="0" indent="0">
              <a:buNone/>
            </a:pPr>
            <a:r>
              <a:rPr b="1"/>
              <a:t>CTM Bindings map concepts to standards:</a:t>
            </a:r>
          </a:p>
          <a:p>
            <a:pPr marL="0" indent="0">
              <a:buNone/>
            </a:pPr>
            <a:r>
              <a:t>ADaM: AVAL → analysis_value</a:t>
            </a:r>
          </a:p>
          <a:p>
            <a:pPr marL="0" indent="0">
              <a:buNone/>
            </a:pPr>
            <a:r>
              <a:t>ADaM: BASE → baseline_value</a:t>
            </a:r>
          </a:p>
          <a:p>
            <a:pPr marL="0" indent="0">
              <a:buNone/>
            </a:pPr>
            <a:r>
              <a:t>ADaM: CHG → change_value</a:t>
            </a:r>
          </a:p>
          <a:p>
            <a:pPr marL="0" indent="0">
              <a:buNone/>
            </a:pPr>
            <a:r>
              <a:rPr b="1"/>
              <a:t>The CTM is the semantic connector</a:t>
            </a:r>
          </a:p>
          <a:p>
            <a:pPr marL="0" indent="0">
              <a:buNone/>
            </a:pPr>
            <a:r>
              <a:t>Same labels work with ADaM, SDTM, OMOP, FHIR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  <a:defRPr sz="3600" b="1">
                <a:solidFill>
                  <a:srgbClr val="005A8B"/>
                </a:solidFill>
              </a:defRPr>
            </a:pPr>
            <a:r>
              <a:t>Layer 3: Actual Products (Implementation)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t>When you open the pantry, you grab actual physical items</a:t>
            </a:r>
          </a:p>
          <a:p>
            <a:pPr marL="0" indent="0">
              <a:buNone/>
            </a:pPr>
            <a:r>
              <a:rPr b="1"/>
              <a:t>Study Implementation:</a:t>
            </a:r>
          </a:p>
          <a:p>
            <a:pPr marL="0" indent="0">
              <a:buNone/>
            </a:pPr>
            <a:r>
              <a:t>AVAL → ADQSADAS.AVAL (physical column)</a:t>
            </a:r>
          </a:p>
          <a:p>
            <a:pPr marL="0" indent="0">
              <a:buNone/>
            </a:pPr>
            <a:r>
              <a:t>BASE → ADQSADAS.BASE</a:t>
            </a:r>
          </a:p>
          <a:p>
            <a:pPr marL="0" indent="0">
              <a:buNone/>
            </a:pPr>
            <a:r>
              <a:t>CHG → ADQSADAS.CHG</a:t>
            </a:r>
          </a:p>
          <a:p>
            <a:pPr marL="0" indent="0">
              <a:buNone/>
            </a:pPr>
            <a:r>
              <a:rPr b="1"/>
              <a:t>This is where abstract concepts meet real data</a:t>
            </a:r>
          </a:p>
          <a:p>
            <a:pPr marL="0" indent="0">
              <a:buNone/>
            </a:pPr>
            <a:r>
              <a:t>And generate executable code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The Magic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Same Recipe, Different Kitchens</a:t>
            </a:r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  <a:defRPr sz="3600" b="1">
                <a:solidFill>
                  <a:srgbClr val="005A8B"/>
                </a:solidFill>
              </a:defRPr>
            </a:pPr>
            <a:r>
              <a:t>Home Kitchen (ADaM)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t>Template: ChangeFromBaseline</a:t>
            </a:r>
          </a:p>
          <a:p>
            <a:pPr marL="0" indent="0">
              <a:buNone/>
            </a:pPr>
            <a:r>
              <a:t>Standard: ADaM</a:t>
            </a:r>
          </a:p>
          <a:p>
            <a:pPr marL="0" indent="0">
              <a:buNone/>
            </a:pPr>
            <a:r>
              <a:t>Study: ADQSADAS</a:t>
            </a:r>
          </a:p>
          <a:p>
            <a:pPr marL="0" indent="0">
              <a:buNone/>
            </a:pPr>
            <a:r>
              <a:rPr b="1"/>
              <a:t>Generated Code:</a:t>
            </a:r>
          </a:p>
          <a:p>
            <a:pPr marL="0" indent="0">
              <a:buNone/>
            </a:pPr>
            <a:r>
              <a:t>CHG = AVAL - BASE</a:t>
            </a:r>
          </a:p>
          <a:p>
            <a:pPr marL="0" indent="0">
              <a:buNone/>
            </a:pPr>
            <a:r>
              <a:t>PROC GLM; CLASS TRT;</a:t>
            </a:r>
          </a:p>
          <a:p>
            <a:pPr marL="0" indent="0">
              <a:buNone/>
            </a:pPr>
            <a:r>
              <a:t>MODEL CHG = BASE TRT;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  <a:defRPr sz="3600" b="1">
                <a:solidFill>
                  <a:srgbClr val="005A8B"/>
                </a:solidFill>
              </a:defRPr>
            </a:pPr>
            <a:r>
              <a:t>Restaurant Kitchen (OMOP)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t>Template: ChangeFromBaseline (same!)</a:t>
            </a:r>
          </a:p>
          <a:p>
            <a:pPr marL="0" indent="0">
              <a:buNone/>
            </a:pPr>
            <a:r>
              <a:t>Standard: OMOP CDM</a:t>
            </a:r>
          </a:p>
          <a:p>
            <a:pPr marL="0" indent="0">
              <a:buNone/>
            </a:pPr>
            <a:r>
              <a:t>Study: measurement table</a:t>
            </a:r>
          </a:p>
          <a:p>
            <a:pPr marL="0" indent="0">
              <a:buNone/>
            </a:pPr>
            <a:r>
              <a:rPr b="1"/>
              <a:t>Generated Code:</a:t>
            </a:r>
          </a:p>
          <a:p>
            <a:pPr marL="0" indent="0">
              <a:buNone/>
            </a:pPr>
            <a:r>
              <a:t>change = value_as_number - baseline_value</a:t>
            </a:r>
          </a:p>
          <a:p>
            <a:pPr marL="0" indent="0">
              <a:buNone/>
            </a:pPr>
            <a:r>
              <a:rPr b="1"/>
              <a:t>The recipe didn't change.</a:t>
            </a:r>
          </a:p>
          <a:p>
            <a:pPr marL="0" indent="0">
              <a:buNone/>
            </a:pPr>
            <a:r>
              <a:t>Only the pantry labeling changed.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SDMX Data Cubes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The Technical Foundation for Machine-Executable Specifications</a:t>
            </a:r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D5D9A-2100-DB18-4C74-ABA830B21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9D216-3AE5-A4AB-59F9-402B8714A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The AC/DC Model: A Function Over Data Cubes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7BD06A-4E0C-5F2A-4BAF-6E116AB391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00101" y="1111250"/>
                <a:ext cx="4676172" cy="3521473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noProof="0" dirty="0"/>
                  <a:t>Analysis Concepts and Derivation Concepts use </a:t>
                </a:r>
                <a:r>
                  <a:rPr lang="en-US" dirty="0"/>
                  <a:t>a CUBE structure as input and output </a:t>
                </a:r>
              </a:p>
              <a:p>
                <a:pPr marL="0" indent="0">
                  <a:buNone/>
                </a:pPr>
                <a:r>
                  <a:rPr lang="en-US" dirty="0"/>
                  <a:t>– this is to overcome the need for pseudo coding</a:t>
                </a:r>
                <a:r>
                  <a:rPr lang="en-US" noProof="0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𝒐𝒖𝒕𝒑𝒖𝒕</m:t>
                      </m:r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𝒄𝒖𝒃𝒆</m:t>
                      </m:r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da-DK" sz="2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a-DK" sz="2600" b="1" i="1" smtClean="0">
                              <a:latin typeface="Cambria Math" panose="02040503050406030204" pitchFamily="18" charset="0"/>
                            </a:rPr>
                            <m:t>𝒊𝒏𝒑𝒖𝒕</m:t>
                          </m:r>
                          <m:r>
                            <a:rPr lang="da-DK" sz="26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2600" b="1" i="1" smtClean="0">
                              <a:latin typeface="Cambria Math" panose="02040503050406030204" pitchFamily="18" charset="0"/>
                            </a:rPr>
                            <m:t>𝒄𝒖𝒃𝒆</m:t>
                          </m:r>
                        </m:e>
                      </m:d>
                    </m:oMath>
                  </m:oMathPara>
                </a14:m>
                <a:endParaRPr lang="en-US" sz="2600" b="1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Key: Both INPUT and OUTPUT are defined as SDMX Data Cubes </a:t>
                </a:r>
              </a:p>
              <a:p>
                <a:pPr marL="0" indent="0">
                  <a:buNone/>
                </a:pPr>
                <a:r>
                  <a:rPr lang="en-US" b="1" dirty="0"/>
                  <a:t>— a standard structure with precise semantics.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7BD06A-4E0C-5F2A-4BAF-6E116AB391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00101" y="1111250"/>
                <a:ext cx="4676172" cy="3521473"/>
              </a:xfrm>
              <a:blipFill>
                <a:blip r:embed="rId2"/>
                <a:stretch>
                  <a:fillRect l="-2432" t="-32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3AA425-1263-A603-0C6E-75FEA6D99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C0E785-18C6-B647-9FC1-44C9A07DCF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</a:p>
        </p:txBody>
      </p:sp>
      <p:pic>
        <p:nvPicPr>
          <p:cNvPr id="7" name="Picture 6" descr="A graph of a patient&#10;&#10;AI-generated content may be incorrect.">
            <a:extLst>
              <a:ext uri="{FF2B5EF4-FFF2-40B4-BE49-F238E27FC236}">
                <a16:creationId xmlns:a16="http://schemas.microsoft.com/office/drawing/2014/main" id="{805C51D4-48FA-B283-1784-8ED01F208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6382" y="1423910"/>
            <a:ext cx="3619844" cy="2857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0672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The SDMX Data Cube: Three Component Types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0100" y="1111250"/>
            <a:ext cx="7886700" cy="3521473"/>
          </a:xfrm>
        </p:spPr>
        <p:txBody>
          <a:bodyPr>
            <a:normAutofit fontScale="84500" lnSpcReduction="10000"/>
          </a:bodyPr>
          <a:lstStyle/>
          <a:p>
            <a:pPr marL="0" indent="0">
              <a:buNone/>
            </a:pPr>
            <a:r>
              <a:rPr dirty="0"/>
              <a:t>Each component has a defined role that determines how it participates in operations:</a:t>
            </a:r>
          </a:p>
          <a:p>
            <a:pPr marL="0" indent="0">
              <a:buNone/>
            </a:pPr>
            <a:r>
              <a:rPr b="1" dirty="0"/>
              <a:t>DIMENSION</a:t>
            </a:r>
          </a:p>
          <a:p>
            <a:pPr marL="0" indent="0">
              <a:buNone/>
            </a:pPr>
            <a:r>
              <a:rPr dirty="0"/>
              <a:t>Identifies the observation — the "coordinates" in the cube</a:t>
            </a:r>
          </a:p>
          <a:p>
            <a:pPr marL="0" indent="0">
              <a:buNone/>
            </a:pPr>
            <a:r>
              <a:rPr i="1" dirty="0"/>
              <a:t>Examples: subject, visit, parameter, treatment</a:t>
            </a:r>
          </a:p>
          <a:p>
            <a:pPr marL="0" indent="0">
              <a:buNone/>
            </a:pPr>
            <a:r>
              <a:rPr b="1" dirty="0"/>
              <a:t>MEASURE</a:t>
            </a:r>
          </a:p>
          <a:p>
            <a:pPr marL="0" indent="0">
              <a:buNone/>
            </a:pPr>
            <a:r>
              <a:rPr dirty="0"/>
              <a:t>The observed/computed value at that point — numeric quantities</a:t>
            </a:r>
          </a:p>
          <a:p>
            <a:pPr marL="0" indent="0">
              <a:buNone/>
            </a:pPr>
            <a:r>
              <a:rPr i="1" dirty="0"/>
              <a:t>Examples: </a:t>
            </a:r>
            <a:r>
              <a:rPr i="1" dirty="0" err="1"/>
              <a:t>analysis_value</a:t>
            </a:r>
            <a:r>
              <a:rPr i="1" dirty="0"/>
              <a:t>, </a:t>
            </a:r>
            <a:r>
              <a:rPr i="1" dirty="0" err="1"/>
              <a:t>baseline_value</a:t>
            </a:r>
            <a:r>
              <a:rPr i="1" dirty="0"/>
              <a:t>, </a:t>
            </a:r>
            <a:r>
              <a:rPr i="1" dirty="0" err="1"/>
              <a:t>change_value</a:t>
            </a:r>
            <a:r>
              <a:rPr i="1" dirty="0"/>
              <a:t>, </a:t>
            </a:r>
            <a:r>
              <a:rPr i="1" dirty="0" err="1"/>
              <a:t>lsmean</a:t>
            </a:r>
            <a:r>
              <a:rPr i="1" dirty="0"/>
              <a:t>, </a:t>
            </a:r>
            <a:r>
              <a:rPr i="1" dirty="0" err="1"/>
              <a:t>p_value</a:t>
            </a:r>
            <a:endParaRPr i="1" dirty="0"/>
          </a:p>
          <a:p>
            <a:pPr marL="0" indent="0">
              <a:buNone/>
            </a:pPr>
            <a:r>
              <a:rPr b="1" dirty="0"/>
              <a:t>ATTRIBUTE</a:t>
            </a:r>
          </a:p>
          <a:p>
            <a:pPr marL="0" indent="0">
              <a:buNone/>
            </a:pPr>
            <a:r>
              <a:rPr dirty="0"/>
              <a:t>Metadata that qualifies but does not identify — context and flags</a:t>
            </a:r>
          </a:p>
          <a:p>
            <a:pPr marL="0" indent="0">
              <a:buNone/>
            </a:pPr>
            <a:r>
              <a:rPr i="1" dirty="0"/>
              <a:t>Examples: </a:t>
            </a:r>
            <a:r>
              <a:rPr i="1" dirty="0" err="1"/>
              <a:t>population_flag</a:t>
            </a:r>
            <a:r>
              <a:rPr i="1" dirty="0"/>
              <a:t>, </a:t>
            </a:r>
            <a:r>
              <a:rPr i="1" dirty="0" err="1"/>
              <a:t>baseline_flag</a:t>
            </a:r>
            <a:r>
              <a:rPr i="1" dirty="0"/>
              <a:t>, unit, </a:t>
            </a:r>
            <a:r>
              <a:rPr i="1" dirty="0" err="1"/>
              <a:t>reason_for_exclusion</a:t>
            </a:r>
            <a:endParaRPr i="1" dirty="0"/>
          </a:p>
          <a:p>
            <a:pPr marL="0" indent="0">
              <a:buNone/>
            </a:pPr>
            <a:r>
              <a:rPr b="1" dirty="0"/>
              <a:t>Why SDMX? ISO standard (17369) for statistical data exchange.</a:t>
            </a:r>
          </a:p>
          <a:p>
            <a:pPr marL="0" indent="0">
              <a:buNone/>
            </a:pPr>
            <a:r>
              <a:rPr dirty="0"/>
              <a:t>The roles are not arbitrary — they have standardized meaning across tools and platforms.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Slices: Subsetting the Cube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0100" y="1111250"/>
            <a:ext cx="7886700" cy="3521473"/>
          </a:xfrm>
        </p:spPr>
        <p:txBody>
          <a:bodyPr>
            <a:normAutofit fontScale="99500"/>
          </a:bodyPr>
          <a:lstStyle/>
          <a:p>
            <a:pPr marL="0" indent="0">
              <a:buNone/>
            </a:pPr>
            <a:r>
              <a:t>A Slice fixes certain dimensions or attributes to create a subset of the cube.</a:t>
            </a:r>
          </a:p>
          <a:p>
            <a:pPr marL="0" indent="0">
              <a:buNone/>
            </a:pPr>
            <a:r>
              <a:rPr b="1"/>
              <a:t>Full Cube (all data):</a:t>
            </a:r>
          </a:p>
          <a:p>
            <a:pPr marL="0" indent="0">
              <a:buNone/>
            </a:pPr>
            <a:r>
              <a:t>Dimensions: subject, visit, parameter, treatment</a:t>
            </a:r>
          </a:p>
          <a:p>
            <a:pPr marL="0" indent="0">
              <a:buNone/>
            </a:pPr>
            <a:r>
              <a:t>Measures: analysis_value, baseline_value, change_value</a:t>
            </a:r>
          </a:p>
          <a:p>
            <a:pPr marL="0" indent="0">
              <a:buNone/>
            </a:pPr>
            <a:r>
              <a:t>Attributes: population_flag, baseline_flag</a:t>
            </a:r>
          </a:p>
          <a:p>
            <a:pPr marL="0" indent="0">
              <a:buNone/>
            </a:pPr>
            <a:r>
              <a:rPr b="1"/>
              <a:t>Slice (analysis context):</a:t>
            </a:r>
          </a:p>
          <a:p>
            <a:pPr marL="0" indent="0">
              <a:buNone/>
            </a:pPr>
            <a:r>
              <a:t>parameter = "ADAS-Cog(11)"</a:t>
            </a:r>
          </a:p>
          <a:p>
            <a:pPr marL="0" indent="0">
              <a:buNone/>
            </a:pPr>
            <a:r>
              <a:t>visit = "Week 24"</a:t>
            </a:r>
          </a:p>
          <a:p>
            <a:pPr marL="0" indent="0">
              <a:buNone/>
            </a:pPr>
            <a:r>
              <a:t>population_flag = "Y" (efficacy population)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Machine-Executable: Roles Define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0100" y="1111250"/>
            <a:ext cx="7886700" cy="3521473"/>
          </a:xfrm>
        </p:spPr>
        <p:txBody>
          <a:bodyPr>
            <a:normAutofit fontScale="52500" lnSpcReduction="20000"/>
          </a:bodyPr>
          <a:lstStyle/>
          <a:p>
            <a:pPr marL="0" indent="0">
              <a:buNone/>
            </a:pPr>
            <a:r>
              <a:rPr lang="en-GB" noProof="1"/>
              <a:t>Each SDMX role has inherent computational semantics — no pseudo-code needed:</a:t>
            </a:r>
          </a:p>
          <a:p>
            <a:pPr marL="0" indent="0">
              <a:buNone/>
            </a:pPr>
            <a:r>
              <a:rPr lang="en-GB" b="1" noProof="1"/>
              <a:t>SDMX Role → Code Generation Operation</a:t>
            </a:r>
          </a:p>
          <a:p>
            <a:r>
              <a:rPr lang="en-GB" noProof="1"/>
              <a:t>DIMENSION → GROUP BY / BY statement / stratification axis</a:t>
            </a:r>
          </a:p>
          <a:p>
            <a:r>
              <a:rPr lang="en-GB" noProof="1"/>
              <a:t>MEASURE (input) → Function arguments / MODEL variables</a:t>
            </a:r>
          </a:p>
          <a:p>
            <a:r>
              <a:rPr lang="en-GB" noProof="1"/>
              <a:t>MEASURE (output) → Return values / result columns</a:t>
            </a:r>
          </a:p>
          <a:p>
            <a:r>
              <a:rPr lang="en-GB" noProof="1"/>
              <a:t>ATTRIBUTE (slice) → WHERE clause / filter condition</a:t>
            </a:r>
          </a:p>
          <a:p>
            <a:endParaRPr lang="en-GB" noProof="1"/>
          </a:p>
          <a:p>
            <a:pPr marL="0" indent="0">
              <a:buNone/>
            </a:pPr>
            <a:r>
              <a:rPr lang="en-GB" b="1" noProof="1"/>
              <a:t>Declarative, Not Procedural</a:t>
            </a:r>
          </a:p>
          <a:p>
            <a:pPr>
              <a:buFont typeface="Wingdings" pitchFamily="2" charset="2"/>
              <a:buChar char="ü"/>
            </a:pPr>
            <a:r>
              <a:rPr lang="en-GB" noProof="1"/>
              <a:t>You specify the structure of input/output, not the steps</a:t>
            </a:r>
          </a:p>
          <a:p>
            <a:pPr marL="0" indent="0">
              <a:buNone/>
            </a:pPr>
            <a:r>
              <a:rPr lang="en-GB" b="1" noProof="1"/>
              <a:t>Platform Independent</a:t>
            </a:r>
          </a:p>
          <a:p>
            <a:pPr>
              <a:buFont typeface="Wingdings" pitchFamily="2" charset="2"/>
              <a:buChar char="ü"/>
            </a:pPr>
            <a:r>
              <a:rPr lang="en-GB" noProof="1"/>
              <a:t>Same cube definition can generate SAS, R, or Python if engine is developed</a:t>
            </a:r>
          </a:p>
          <a:p>
            <a:pPr marL="0" indent="0">
              <a:buNone/>
            </a:pPr>
            <a:r>
              <a:rPr lang="en-GB" b="1" noProof="1"/>
              <a:t>Unambiguous Semantics</a:t>
            </a:r>
          </a:p>
          <a:p>
            <a:pPr>
              <a:buFont typeface="Wingdings" pitchFamily="2" charset="2"/>
              <a:buChar char="ü"/>
            </a:pPr>
            <a:r>
              <a:rPr lang="en-GB" noProof="1"/>
              <a:t>A generator knows exactly what to do with DIMENSION vs MEASURE</a:t>
            </a:r>
          </a:p>
          <a:p>
            <a:pPr marL="0" indent="0">
              <a:buNone/>
            </a:pPr>
            <a:r>
              <a:rPr lang="en-GB" b="1" noProof="1"/>
              <a:t>ISO Standardized</a:t>
            </a:r>
          </a:p>
          <a:p>
            <a:pPr>
              <a:buFont typeface="Wingdings" pitchFamily="2" charset="2"/>
              <a:buChar char="ü"/>
            </a:pPr>
            <a:r>
              <a:rPr lang="en-GB" noProof="1"/>
              <a:t>SDMX (ISO 17369) is used by statistical agencies worldwide</a:t>
            </a:r>
          </a:p>
          <a:p>
            <a:pPr marL="0" indent="0">
              <a:buNone/>
            </a:pPr>
            <a:endParaRPr lang="en-GB" b="1" noProof="1"/>
          </a:p>
          <a:p>
            <a:pPr marL="0" indent="0">
              <a:buNone/>
            </a:pPr>
            <a:r>
              <a:rPr lang="en-GB" b="1" noProof="1"/>
              <a:t>The cube structure IS the specification. </a:t>
            </a:r>
          </a:p>
          <a:p>
            <a:pPr marL="0" indent="0">
              <a:buNone/>
            </a:pPr>
            <a:r>
              <a:rPr lang="en-GB" b="1" noProof="1"/>
              <a:t>Roles carry meaning; a generator traverses the structure and emits code.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E5ED0-C8F6-60A0-C10E-4007CFBD8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BDC67-74A7-AEAE-37F8-94CDC36508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163857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  <a:defRPr sz="3600" b="1">
                <a:solidFill>
                  <a:srgbClr val="005A8B"/>
                </a:solidFill>
              </a:defRPr>
            </a:pPr>
            <a:r>
              <a:t>What the Framework Guarantees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3840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400" b="1">
                <a:solidFill>
                  <a:srgbClr val="005A8B"/>
                </a:solidFill>
              </a:defRPr>
            </a:pPr>
            <a:r>
              <a:rPr b="1"/>
              <a:t>STANDARDIZED</a:t>
            </a:r>
          </a:p>
          <a:p>
            <a:pPr marL="0" indent="0">
              <a:buNone/>
            </a:pPr>
            <a:r>
              <a:t>ANCOVA will be performed</a:t>
            </a:r>
          </a:p>
          <a:p>
            <a:pPr marL="0" indent="0">
              <a:buNone/>
            </a:pPr>
            <a:r>
              <a:t>Change from baseline calculated</a:t>
            </a:r>
          </a:p>
          <a:p>
            <a:pPr marL="0" indent="0">
              <a:buNone/>
            </a:pPr>
            <a:r>
              <a:t>Model structure defined</a:t>
            </a:r>
          </a:p>
          <a:p>
            <a:pPr marL="0" indent="0">
              <a:buNone/>
            </a:pPr>
            <a:r>
              <a:t>Results traceable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188720"/>
            <a:ext cx="3840480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400" b="1">
                <a:solidFill>
                  <a:srgbClr val="005A8B"/>
                </a:solidFill>
              </a:defRPr>
            </a:pPr>
            <a:r>
              <a:rPr lang="en-GB" b="1" noProof="1"/>
              <a:t>NOT STANDARDIZED</a:t>
            </a:r>
          </a:p>
          <a:p>
            <a:pPr marL="0" indent="0">
              <a:buNone/>
            </a:pPr>
            <a:r>
              <a:rPr lang="en-GB" noProof="1"/>
              <a:t>The derivation and analysis for your study</a:t>
            </a:r>
          </a:p>
          <a:p>
            <a:pPr marL="0" indent="0">
              <a:buNone/>
            </a:pPr>
            <a:r>
              <a:rPr lang="en-GB" noProof="1"/>
              <a:t>We standardize the cookbook,</a:t>
            </a:r>
          </a:p>
          <a:p>
            <a:pPr marL="0" indent="0">
              <a:buNone/>
            </a:pPr>
            <a:r>
              <a:rPr lang="en-GB" noProof="1"/>
              <a:t>not the chef's judgment.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  <a:defRPr sz="3600" b="1">
                <a:solidFill>
                  <a:srgbClr val="005A8B"/>
                </a:solidFill>
              </a:defRPr>
            </a:pPr>
            <a:r>
              <a:t>The Cookbook Guides Choices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rPr lang="en-GB" noProof="1"/>
              <a:t>For example, ANCOVA template prompts you for: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1"/>
              <a:t>Required: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noProof="1"/>
              <a:t>Response, Treatment, Baseline covariate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1"/>
              <a:t>Optional: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noProof="1"/>
              <a:t>Additional covariates?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noProof="1"/>
              <a:t>Include interactions?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1"/>
              <a:t>Parameters: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noProof="1"/>
              <a:t>SS type, Alpha, CI level</a:t>
            </a:r>
          </a:p>
          <a:p>
            <a:pPr lvl="1"/>
            <a:endParaRPr lang="en-GB" noProof="1"/>
          </a:p>
          <a:p>
            <a:pPr marL="0" indent="0">
              <a:buNone/>
            </a:pPr>
            <a:r>
              <a:rPr lang="en-GB" b="1" noProof="1"/>
              <a:t>Ensures you don't miss decisions.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9C721-B29A-1023-BB2E-AAB5B2590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Principles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4A3C0E-82E6-9DC6-2FD4-AEFDC4C9A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35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A4131A-6BA9-EA4D-2CE6-9B21B61838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#ClearDataClearImpact</a:t>
            </a:r>
          </a:p>
          <a:p>
            <a:endParaRPr lang="en-US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419B9D58-E052-36F2-A49D-FB54F7FBC1E9}"/>
              </a:ext>
            </a:extLst>
          </p:cNvPr>
          <p:cNvSpPr/>
          <p:nvPr/>
        </p:nvSpPr>
        <p:spPr>
          <a:xfrm>
            <a:off x="304800" y="895350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C10D52D-1D67-5B96-FB90-6E0421F22A41}"/>
              </a:ext>
            </a:extLst>
          </p:cNvPr>
          <p:cNvSpPr/>
          <p:nvPr/>
        </p:nvSpPr>
        <p:spPr>
          <a:xfrm>
            <a:off x="323850" y="895350"/>
            <a:ext cx="0" cy="967383"/>
          </a:xfrm>
          <a:prstGeom prst="line">
            <a:avLst/>
          </a:prstGeom>
          <a:noFill/>
          <a:ln w="381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9B73E5C-FD72-23BF-D941-1AD6ED705ECB}"/>
              </a:ext>
            </a:extLst>
          </p:cNvPr>
          <p:cNvSpPr/>
          <p:nvPr/>
        </p:nvSpPr>
        <p:spPr>
          <a:xfrm>
            <a:off x="457200" y="1047750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Separation of Concerns</a:t>
            </a:r>
            <a:endParaRPr lang="en-US" sz="975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ADB38CA-FAB1-3CEC-4458-F1A4355DFEED}"/>
              </a:ext>
            </a:extLst>
          </p:cNvPr>
          <p:cNvSpPr/>
          <p:nvPr/>
        </p:nvSpPr>
        <p:spPr>
          <a:xfrm>
            <a:off x="457200" y="1259086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concepts exist (CTM) vs HOW transformations work (Methods/Templates)</a:t>
            </a:r>
            <a:endParaRPr lang="en-US" sz="825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C9F4999-AD67-8F84-333A-9736729B7EC5}"/>
              </a:ext>
            </a:extLst>
          </p:cNvPr>
          <p:cNvSpPr/>
          <p:nvPr/>
        </p:nvSpPr>
        <p:spPr>
          <a:xfrm>
            <a:off x="457200" y="1590377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Ingredients vs cooking techniques</a:t>
            </a:r>
            <a:endParaRPr lang="en-US" sz="675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BCDD2CBB-A07F-2CE2-9D8E-ECBF74327711}"/>
              </a:ext>
            </a:extLst>
          </p:cNvPr>
          <p:cNvSpPr/>
          <p:nvPr/>
        </p:nvSpPr>
        <p:spPr>
          <a:xfrm>
            <a:off x="3187750" y="895350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CCE62389-7A28-3C74-A643-C9067AEB4884}"/>
              </a:ext>
            </a:extLst>
          </p:cNvPr>
          <p:cNvSpPr/>
          <p:nvPr/>
        </p:nvSpPr>
        <p:spPr>
          <a:xfrm>
            <a:off x="3206800" y="895350"/>
            <a:ext cx="0" cy="967383"/>
          </a:xfrm>
          <a:prstGeom prst="line">
            <a:avLst/>
          </a:prstGeom>
          <a:noFill/>
          <a:ln w="381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8BB03809-F8DE-28D5-12CE-A5E4DDF79C02}"/>
              </a:ext>
            </a:extLst>
          </p:cNvPr>
          <p:cNvSpPr/>
          <p:nvPr/>
        </p:nvSpPr>
        <p:spPr>
          <a:xfrm>
            <a:off x="3340150" y="1047750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Standard-Independence</a:t>
            </a:r>
            <a:endParaRPr lang="en-US" sz="975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914F4427-1875-935C-94D4-05CBBCD62218}"/>
              </a:ext>
            </a:extLst>
          </p:cNvPr>
          <p:cNvSpPr/>
          <p:nvPr/>
        </p:nvSpPr>
        <p:spPr>
          <a:xfrm>
            <a:off x="3340150" y="1259086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specifications work across ADaM, SDTM, OMOP, FHIR, and future standards</a:t>
            </a:r>
            <a:endParaRPr lang="en-US" sz="825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93DEF993-8116-DF08-EF9E-EA22CC45E673}"/>
              </a:ext>
            </a:extLst>
          </p:cNvPr>
          <p:cNvSpPr/>
          <p:nvPr/>
        </p:nvSpPr>
        <p:spPr>
          <a:xfrm>
            <a:off x="3340150" y="1590377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Same recipe, any kitchen</a:t>
            </a:r>
            <a:endParaRPr lang="en-US" sz="675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0D1DD55D-C63E-E788-EB25-208079AFD5C0}"/>
              </a:ext>
            </a:extLst>
          </p:cNvPr>
          <p:cNvSpPr/>
          <p:nvPr/>
        </p:nvSpPr>
        <p:spPr>
          <a:xfrm>
            <a:off x="6070699" y="895350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A0795962-81FC-F464-C07A-C74464C1396A}"/>
              </a:ext>
            </a:extLst>
          </p:cNvPr>
          <p:cNvSpPr/>
          <p:nvPr/>
        </p:nvSpPr>
        <p:spPr>
          <a:xfrm>
            <a:off x="6089749" y="895350"/>
            <a:ext cx="0" cy="967383"/>
          </a:xfrm>
          <a:prstGeom prst="line">
            <a:avLst/>
          </a:prstGeom>
          <a:noFill/>
          <a:ln w="38100">
            <a:solidFill>
              <a:srgbClr val="D4A37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1DABF98B-4F13-AE57-347F-5F178D9BB79E}"/>
              </a:ext>
            </a:extLst>
          </p:cNvPr>
          <p:cNvSpPr/>
          <p:nvPr/>
        </p:nvSpPr>
        <p:spPr>
          <a:xfrm>
            <a:off x="6223099" y="1047750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D4A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Machine-Executable</a:t>
            </a:r>
            <a:endParaRPr lang="en-US" sz="975" dirty="0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CB7B15C8-68DB-F704-D31F-E4156E9788A2}"/>
              </a:ext>
            </a:extLst>
          </p:cNvPr>
          <p:cNvSpPr/>
          <p:nvPr/>
        </p:nvSpPr>
        <p:spPr>
          <a:xfrm>
            <a:off x="6223099" y="1259086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drives automated code generation to R, SAS, Python</a:t>
            </a:r>
            <a:endParaRPr lang="en-US" sz="825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68FE7557-833F-7558-1109-FDB5CCD4DC84}"/>
              </a:ext>
            </a:extLst>
          </p:cNvPr>
          <p:cNvSpPr/>
          <p:nvPr/>
        </p:nvSpPr>
        <p:spPr>
          <a:xfrm>
            <a:off x="6223099" y="1590377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Recipe translates to any equipment</a:t>
            </a:r>
            <a:endParaRPr lang="en-US" sz="675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A7398767-0B75-3D6F-4979-F98A7CD58B37}"/>
              </a:ext>
            </a:extLst>
          </p:cNvPr>
          <p:cNvSpPr/>
          <p:nvPr/>
        </p:nvSpPr>
        <p:spPr>
          <a:xfrm>
            <a:off x="304800" y="1977033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F3E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07E89BB2-E5AF-855D-7593-269AF55F2D21}"/>
              </a:ext>
            </a:extLst>
          </p:cNvPr>
          <p:cNvSpPr/>
          <p:nvPr/>
        </p:nvSpPr>
        <p:spPr>
          <a:xfrm>
            <a:off x="323850" y="1977033"/>
            <a:ext cx="0" cy="967383"/>
          </a:xfrm>
          <a:prstGeom prst="line">
            <a:avLst/>
          </a:prstGeom>
          <a:noFill/>
          <a:ln w="3810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DB5D637E-6CF9-F6CC-D984-B7327C1EFF51}"/>
              </a:ext>
            </a:extLst>
          </p:cNvPr>
          <p:cNvSpPr/>
          <p:nvPr/>
        </p:nvSpPr>
        <p:spPr>
          <a:xfrm>
            <a:off x="457200" y="2129433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7B1F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Richness</a:t>
            </a:r>
            <a:endParaRPr lang="en-US" sz="975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B40AEDFD-A41C-0B8C-EF3D-5201AC67131F}"/>
              </a:ext>
            </a:extLst>
          </p:cNvPr>
          <p:cNvSpPr/>
          <p:nvPr/>
        </p:nvSpPr>
        <p:spPr>
          <a:xfrm>
            <a:off x="457200" y="2340769"/>
            <a:ext cx="25519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clinical intent, not just computational steps</a:t>
            </a:r>
            <a:endParaRPr lang="en-US" sz="825" dirty="0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03D92B7E-F87E-C8E3-ABFA-7AFCD1FA9A49}"/>
              </a:ext>
            </a:extLst>
          </p:cNvPr>
          <p:cNvSpPr/>
          <p:nvPr/>
        </p:nvSpPr>
        <p:spPr>
          <a:xfrm>
            <a:off x="457200" y="2525464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Why you're making vinaigrette, not just how</a:t>
            </a:r>
            <a:endParaRPr lang="en-US" sz="675" dirty="0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57FD7D5D-06D9-C8C3-F178-91545C84D46C}"/>
              </a:ext>
            </a:extLst>
          </p:cNvPr>
          <p:cNvSpPr/>
          <p:nvPr/>
        </p:nvSpPr>
        <p:spPr>
          <a:xfrm>
            <a:off x="3187750" y="1977033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86AFA91E-A97C-EBCA-FA15-C3B1A7E16D4D}"/>
              </a:ext>
            </a:extLst>
          </p:cNvPr>
          <p:cNvSpPr/>
          <p:nvPr/>
        </p:nvSpPr>
        <p:spPr>
          <a:xfrm>
            <a:off x="3206800" y="1977033"/>
            <a:ext cx="0" cy="967383"/>
          </a:xfrm>
          <a:prstGeom prst="line">
            <a:avLst/>
          </a:prstGeom>
          <a:noFill/>
          <a:ln w="38100">
            <a:solidFill>
              <a:srgbClr val="9B233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68CE163-08A0-D42A-C186-CAE438CED75E}"/>
              </a:ext>
            </a:extLst>
          </p:cNvPr>
          <p:cNvSpPr/>
          <p:nvPr/>
        </p:nvSpPr>
        <p:spPr>
          <a:xfrm>
            <a:off x="3340150" y="2129433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9B2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Pattern</a:t>
            </a:r>
            <a:endParaRPr lang="en-US" sz="975" dirty="0"/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AAE1781E-540D-D6FE-C3C3-203919F45FB4}"/>
              </a:ext>
            </a:extLst>
          </p:cNvPr>
          <p:cNvSpPr/>
          <p:nvPr/>
        </p:nvSpPr>
        <p:spPr>
          <a:xfrm>
            <a:off x="3340150" y="2340769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derivation and analysis follow Method → Template → Implementation</a:t>
            </a:r>
            <a:endParaRPr lang="en-US" sz="825" dirty="0"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9EFFE2BC-5790-E475-1044-981EC871E8BE}"/>
              </a:ext>
            </a:extLst>
          </p:cNvPr>
          <p:cNvSpPr/>
          <p:nvPr/>
        </p:nvSpPr>
        <p:spPr>
          <a:xfrm>
            <a:off x="3340150" y="2672060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Consistent approach for all recipes</a:t>
            </a:r>
            <a:endParaRPr lang="en-US" sz="675" dirty="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A2CA2E96-EC85-575A-6A94-85D4AC627A34}"/>
              </a:ext>
            </a:extLst>
          </p:cNvPr>
          <p:cNvSpPr/>
          <p:nvPr/>
        </p:nvSpPr>
        <p:spPr>
          <a:xfrm>
            <a:off x="6070699" y="1977033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E0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CFA5AA0D-8647-439D-FBBE-1C970C844F48}"/>
              </a:ext>
            </a:extLst>
          </p:cNvPr>
          <p:cNvSpPr/>
          <p:nvPr/>
        </p:nvSpPr>
        <p:spPr>
          <a:xfrm>
            <a:off x="6089749" y="1977033"/>
            <a:ext cx="0" cy="967383"/>
          </a:xfrm>
          <a:prstGeom prst="line">
            <a:avLst/>
          </a:prstGeom>
          <a:noFill/>
          <a:ln w="381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A6F80337-2E4D-DB2A-72F5-A7BE7CCF19F7}"/>
              </a:ext>
            </a:extLst>
          </p:cNvPr>
          <p:cNvSpPr/>
          <p:nvPr/>
        </p:nvSpPr>
        <p:spPr>
          <a:xfrm>
            <a:off x="6223099" y="2129433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0083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CDISC-Maintained &amp; Extensible</a:t>
            </a:r>
            <a:endParaRPr lang="en-US" sz="975" dirty="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0A8449F-ABFB-991B-ABA9-24D35CB62C7A}"/>
              </a:ext>
            </a:extLst>
          </p:cNvPr>
          <p:cNvSpPr/>
          <p:nvPr/>
        </p:nvSpPr>
        <p:spPr>
          <a:xfrm>
            <a:off x="6223099" y="2340769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library of Methods/Templates; organizations can extend</a:t>
            </a:r>
            <a:endParaRPr lang="en-US" sz="825" dirty="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9750E68E-9FA9-C659-4738-75720A2A8C66}"/>
              </a:ext>
            </a:extLst>
          </p:cNvPr>
          <p:cNvSpPr/>
          <p:nvPr/>
        </p:nvSpPr>
        <p:spPr>
          <a:xfrm>
            <a:off x="6223099" y="2672060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Master cookbook with room for house specials</a:t>
            </a: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30727327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66930" y="413445"/>
            <a:ext cx="3410141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300"/>
              </a:lnSpc>
              <a:spcAft>
                <a:spcPts val="1500"/>
              </a:spcAft>
              <a:buNone/>
            </a:pPr>
            <a:r>
              <a:rPr lang="en-US" sz="3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Insight</a:t>
            </a:r>
            <a:endParaRPr lang="en-US" sz="3300" dirty="0">
              <a:solidFill>
                <a:schemeClr val="accent1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1238250" y="1023045"/>
            <a:ext cx="6667500" cy="2447925"/>
          </a:xfrm>
          <a:prstGeom prst="roundRect">
            <a:avLst>
              <a:gd name="adj" fmla="val 4669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1443609" y="1327845"/>
            <a:ext cx="62567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00"/>
              </a:lnSpc>
              <a:spcBef>
                <a:spcPts val="300"/>
              </a:spcBef>
              <a:spcAft>
                <a:spcPts val="12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good </a:t>
            </a: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AC/DC Template</a:t>
            </a:r>
            <a:r>
              <a:rPr lang="en-US" sz="15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 with any data standard, any study, as long as you have the right types of data concepts and apply the appropriate statistical method.</a:t>
            </a:r>
            <a:endParaRPr lang="en-US" sz="1500" dirty="0">
              <a:solidFill>
                <a:schemeClr val="accent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1443609" y="2394645"/>
            <a:ext cx="6256782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2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5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as a recipe doesn't need to know if your olive oil is organic, cold-pressed, or from a specific region — it just needs "oil" that plays the role of "fat" in the process.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1171575" y="3699570"/>
            <a:ext cx="68008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the power of separation of concerns.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91000" y="4324350"/>
            <a:ext cx="762000" cy="28575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1171575" y="4505325"/>
            <a:ext cx="680085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AC/DC Framework - CDISC Standards</a:t>
            </a:r>
            <a:endParaRPr lang="en-US" sz="1050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DISC-1 1">
      <a:dk1>
        <a:srgbClr val="134678"/>
      </a:dk1>
      <a:lt1>
        <a:srgbClr val="FFFFFF"/>
      </a:lt1>
      <a:dk2>
        <a:srgbClr val="515349"/>
      </a:dk2>
      <a:lt2>
        <a:srgbClr val="F5F5F5"/>
      </a:lt2>
      <a:accent1>
        <a:srgbClr val="134678"/>
      </a:accent1>
      <a:accent2>
        <a:srgbClr val="A1D0CA"/>
      </a:accent2>
      <a:accent3>
        <a:srgbClr val="C94543"/>
      </a:accent3>
      <a:accent4>
        <a:srgbClr val="EDAA00"/>
      </a:accent4>
      <a:accent5>
        <a:srgbClr val="553278"/>
      </a:accent5>
      <a:accent6>
        <a:srgbClr val="40B3E5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5_Events-Slide-Template_CDISC-Staff_v4.pptx" id="{FC5671AF-E8C3-4A45-B01C-9ECD26A83B7F}" vid="{B4BDB1CE-3FE9-4318-B55C-55F720F10BC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47D794EB48E7144959FE534A5ED3D9A" ma:contentTypeVersion="13" ma:contentTypeDescription="Create a new document." ma:contentTypeScope="" ma:versionID="332ebed6bf1f21540ac8ed4139e2af2e">
  <xsd:schema xmlns:xsd="http://www.w3.org/2001/XMLSchema" xmlns:xs="http://www.w3.org/2001/XMLSchema" xmlns:p="http://schemas.microsoft.com/office/2006/metadata/properties" xmlns:ns2="98eacbea-7562-4a40-a7f2-e999cdc0cec5" xmlns:ns3="75bf9804-c18d-470a-a27f-eeaf4abcd247" targetNamespace="http://schemas.microsoft.com/office/2006/metadata/properties" ma:root="true" ma:fieldsID="9643d50ff51ef4e8f7efba950a0a6c6b" ns2:_="" ns3:_="">
    <xsd:import namespace="98eacbea-7562-4a40-a7f2-e999cdc0cec5"/>
    <xsd:import namespace="75bf9804-c18d-470a-a27f-eeaf4abcd24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eacbea-7562-4a40-a7f2-e999cdc0cec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a6b7e412-6c7f-44cd-93fc-1283bc8f8f7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bf9804-c18d-470a-a27f-eeaf4abcd247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2440c8f-637a-4f66-b4f6-bf5ca76e88b3}" ma:internalName="TaxCatchAll" ma:showField="CatchAllData" ma:web="75bf9804-c18d-470a-a27f-eeaf4abcd24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LengthInSeconds xmlns="98eacbea-7562-4a40-a7f2-e999cdc0cec5" xsi:nil="true"/>
    <lcf76f155ced4ddcb4097134ff3c332f xmlns="98eacbea-7562-4a40-a7f2-e999cdc0cec5">
      <Terms xmlns="http://schemas.microsoft.com/office/infopath/2007/PartnerControls"/>
    </lcf76f155ced4ddcb4097134ff3c332f>
    <TaxCatchAll xmlns="75bf9804-c18d-470a-a27f-eeaf4abcd24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9A0DB44-58DC-4864-B5DB-6A708BBC184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eacbea-7562-4a40-a7f2-e999cdc0cec5"/>
    <ds:schemaRef ds:uri="75bf9804-c18d-470a-a27f-eeaf4abcd24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B3EAD0D-AD33-4DE9-A04C-ADBA8D81216E}">
  <ds:schemaRefs>
    <ds:schemaRef ds:uri="http://purl.org/dc/elements/1.1/"/>
    <ds:schemaRef ds:uri="http://www.w3.org/XML/1998/namespace"/>
    <ds:schemaRef ds:uri="http://schemas.microsoft.com/office/infopath/2007/PartnerControls"/>
    <ds:schemaRef ds:uri="42fd8685-662d-4ea0-adda-db2055aa5e88"/>
    <ds:schemaRef ds:uri="http://schemas.microsoft.com/office/2006/documentManagement/types"/>
    <ds:schemaRef ds:uri="http://purl.org/dc/terms/"/>
    <ds:schemaRef ds:uri="http://schemas.microsoft.com/office/2006/metadata/properties"/>
    <ds:schemaRef ds:uri="http://schemas.openxmlformats.org/package/2006/metadata/core-properties"/>
    <ds:schemaRef ds:uri="6cd05e2c-1080-4123-b907-f31487dbd913"/>
    <ds:schemaRef ds:uri="http://purl.org/dc/dcmitype/"/>
    <ds:schemaRef ds:uri="e4bfa1c1-cbed-43b5-9d42-fe24faecfd28"/>
    <ds:schemaRef ds:uri="6942efca-e753-43c0-b995-a96645848828"/>
    <ds:schemaRef ds:uri="98eacbea-7562-4a40-a7f2-e999cdc0cec5"/>
    <ds:schemaRef ds:uri="75bf9804-c18d-470a-a27f-eeaf4abcd247"/>
  </ds:schemaRefs>
</ds:datastoreItem>
</file>

<file path=customXml/itemProps3.xml><?xml version="1.0" encoding="utf-8"?>
<ds:datastoreItem xmlns:ds="http://schemas.openxmlformats.org/officeDocument/2006/customXml" ds:itemID="{3B69330B-154C-43B9-AAF7-1A571867C6C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7108</TotalTime>
  <Words>2631</Words>
  <Application>Microsoft Macintosh PowerPoint</Application>
  <PresentationFormat>On-screen Show (16:9)</PresentationFormat>
  <Paragraphs>418</Paragraphs>
  <Slides>36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Arial</vt:lpstr>
      <vt:lpstr>Calibri</vt:lpstr>
      <vt:lpstr>Cambria Math</vt:lpstr>
      <vt:lpstr>Courier New</vt:lpstr>
      <vt:lpstr>Wingdings</vt:lpstr>
      <vt:lpstr>Office Theme</vt:lpstr>
      <vt:lpstr>The AC/DC Framework</vt:lpstr>
      <vt:lpstr>Agenda</vt:lpstr>
      <vt:lpstr>The Problem</vt:lpstr>
      <vt:lpstr>Everything is Hardcoded</vt:lpstr>
      <vt:lpstr>An automated approach – tied to specific language</vt:lpstr>
      <vt:lpstr>The AC/DC Solution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Core Model</vt:lpstr>
      <vt:lpstr>Derivation and Analysis - Functions</vt:lpstr>
      <vt:lpstr>Layered Architecture</vt:lpstr>
      <vt:lpstr>Three-Layer Architecture</vt:lpstr>
      <vt:lpstr>The Clinical Semantic Transformation Model  </vt:lpstr>
      <vt:lpstr>From Template to Study</vt:lpstr>
      <vt:lpstr>PowerPoint Presentation</vt:lpstr>
      <vt:lpstr>PowerPoint Presentation</vt:lpstr>
      <vt:lpstr>PowerPoint Presentation</vt:lpstr>
      <vt:lpstr>The Magic</vt:lpstr>
      <vt:lpstr>PowerPoint Presentation</vt:lpstr>
      <vt:lpstr>PowerPoint Presentation</vt:lpstr>
      <vt:lpstr>SDMX Data Cubes</vt:lpstr>
      <vt:lpstr>The AC/DC Model: A Function Over Data Cubes</vt:lpstr>
      <vt:lpstr>The SDMX Data Cube: Three Component Types</vt:lpstr>
      <vt:lpstr>Slices: Subsetting the Cube</vt:lpstr>
      <vt:lpstr>Machine-Executable: Roles Define Operations</vt:lpstr>
      <vt:lpstr>Summary</vt:lpstr>
      <vt:lpstr>PowerPoint Presentation</vt:lpstr>
      <vt:lpstr>PowerPoint Presentation</vt:lpstr>
      <vt:lpstr>Key Principles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Melissa Kirwin</dc:creator>
  <cp:lastModifiedBy>Kirsten Langendorf</cp:lastModifiedBy>
  <cp:revision>14</cp:revision>
  <dcterms:created xsi:type="dcterms:W3CDTF">2025-01-22T00:21:32Z</dcterms:created>
  <dcterms:modified xsi:type="dcterms:W3CDTF">2026-01-21T14:39:23Z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0x010100D47D794EB48E7144959FE534A5ED3D9A</vt:lpwstr>
  </property>
  <property fmtid="{D5CDD505-2E9C-101B-9397-08002B2CF9AE}" pid="3" name="SharedWithUsers">
    <vt:lpwstr>51;#Sheila Leaman</vt:lpwstr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  <property fmtid="{D5CDD505-2E9C-101B-9397-08002B2CF9AE}" pid="10" name="MediaServiceImageTags">
    <vt:lpwstr/>
  </property>
</Properties>
</file>