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notesMasterIdLst>
    <p:notesMasterId r:id="rId46"/>
  </p:notesMasterIdLst>
  <p:handoutMasterIdLst>
    <p:handoutMasterId r:id="rId47"/>
  </p:handoutMasterIdLst>
  <p:sldIdLst>
    <p:sldId id="283" r:id="rId5"/>
    <p:sldId id="257" r:id="rId6"/>
    <p:sldId id="263" r:id="rId7"/>
    <p:sldId id="264" r:id="rId8"/>
    <p:sldId id="310" r:id="rId9"/>
    <p:sldId id="291" r:id="rId10"/>
    <p:sldId id="332" r:id="rId11"/>
    <p:sldId id="333" r:id="rId12"/>
    <p:sldId id="334" r:id="rId13"/>
    <p:sldId id="327" r:id="rId14"/>
    <p:sldId id="328" r:id="rId15"/>
    <p:sldId id="329" r:id="rId16"/>
    <p:sldId id="330" r:id="rId17"/>
    <p:sldId id="331" r:id="rId18"/>
    <p:sldId id="318" r:id="rId19"/>
    <p:sldId id="303" r:id="rId20"/>
    <p:sldId id="338" r:id="rId21"/>
    <p:sldId id="302" r:id="rId22"/>
    <p:sldId id="294" r:id="rId23"/>
    <p:sldId id="295" r:id="rId24"/>
    <p:sldId id="292" r:id="rId25"/>
    <p:sldId id="321" r:id="rId26"/>
    <p:sldId id="322" r:id="rId27"/>
    <p:sldId id="323" r:id="rId28"/>
    <p:sldId id="317" r:id="rId29"/>
    <p:sldId id="313" r:id="rId30"/>
    <p:sldId id="319" r:id="rId31"/>
    <p:sldId id="308" r:id="rId32"/>
    <p:sldId id="304" r:id="rId33"/>
    <p:sldId id="305" r:id="rId34"/>
    <p:sldId id="306" r:id="rId35"/>
    <p:sldId id="293" r:id="rId36"/>
    <p:sldId id="256" r:id="rId37"/>
    <p:sldId id="299" r:id="rId38"/>
    <p:sldId id="300" r:id="rId39"/>
    <p:sldId id="301" r:id="rId40"/>
    <p:sldId id="336" r:id="rId41"/>
    <p:sldId id="314" r:id="rId42"/>
    <p:sldId id="315" r:id="rId43"/>
    <p:sldId id="337" r:id="rId44"/>
    <p:sldId id="273" r:id="rId4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A1C8E5-41DA-4F5F-BA11-57F54BDC895A}" v="18" dt="2025-01-03T02:36:22.203"/>
    <p1510:client id="{805C4C4A-6B90-4AEF-B28A-D1248255A723}" v="3" dt="2025-01-03T18:09:03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79" autoAdjust="0"/>
    <p:restoredTop sz="95205" autoAdjust="0"/>
  </p:normalViewPr>
  <p:slideViewPr>
    <p:cSldViewPr snapToGrid="0" snapToObjects="1" showGuides="1">
      <p:cViewPr varScale="1">
        <p:scale>
          <a:sx n="155" d="100"/>
          <a:sy n="155" d="100"/>
        </p:scale>
        <p:origin x="74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15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DBDCBF-2661-4644-8788-CDD1F7AF86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3122C-0D3A-43C5-9EEA-A82F8CF99E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B9998-7FC2-40BB-812D-D42712794F0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741259-F173-4371-ABAC-32B2025744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DAA9DB-2741-4CC9-A32C-B6142DB609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75628-0D87-438D-8818-43C41C879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17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E1A3E-C737-584E-86B0-F484DE31162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17163-B04C-C34A-8000-FDF58C363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33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17163-B04C-C34A-8000-FDF58C3633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31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078FFEE-EA0C-5E4A-B1D2-8213F7094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CC4787D-0744-8047-A68C-F117D26CFC58}"/>
              </a:ext>
            </a:extLst>
          </p:cNvPr>
          <p:cNvSpPr/>
          <p:nvPr userDrawn="1"/>
        </p:nvSpPr>
        <p:spPr>
          <a:xfrm>
            <a:off x="1648918" y="1139639"/>
            <a:ext cx="7495082" cy="23246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7690" y="1154590"/>
            <a:ext cx="6781830" cy="1362472"/>
          </a:xfrm>
        </p:spPr>
        <p:txBody>
          <a:bodyPr anchor="ctr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7690" y="2648262"/>
            <a:ext cx="6781830" cy="600472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 descr="A blue and yellow logo  Description automatically generated">
            <a:extLst>
              <a:ext uri="{FF2B5EF4-FFF2-40B4-BE49-F238E27FC236}">
                <a16:creationId xmlns:a16="http://schemas.microsoft.com/office/drawing/2014/main" id="{3EB9E325-CA01-8194-3510-EF94D192606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58640" y="3679814"/>
            <a:ext cx="1186088" cy="40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07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scape with a blue and white banner  Description automatically generated">
            <a:extLst>
              <a:ext uri="{FF2B5EF4-FFF2-40B4-BE49-F238E27FC236}">
                <a16:creationId xmlns:a16="http://schemas.microsoft.com/office/drawing/2014/main" id="{11184E1C-5903-A0FE-BE24-EE2A6CB19F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313756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anner with a city in the background  Description automatically generated">
            <a:extLst>
              <a:ext uri="{FF2B5EF4-FFF2-40B4-BE49-F238E27FC236}">
                <a16:creationId xmlns:a16="http://schemas.microsoft.com/office/drawing/2014/main" id="{60AF726E-8299-5D06-FD26-96E5806BCA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394213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ridge with lights and a city in the background  Description automatically generated">
            <a:extLst>
              <a:ext uri="{FF2B5EF4-FFF2-40B4-BE49-F238E27FC236}">
                <a16:creationId xmlns:a16="http://schemas.microsoft.com/office/drawing/2014/main" id="{F4FDD1C3-541D-7013-126F-49BDD97083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2091642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anner with a city skyline  Description automatically generated">
            <a:extLst>
              <a:ext uri="{FF2B5EF4-FFF2-40B4-BE49-F238E27FC236}">
                <a16:creationId xmlns:a16="http://schemas.microsoft.com/office/drawing/2014/main" id="{C983A9DE-9882-CE38-3621-312EFD172D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4192823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anner with a city skyline and text  Description automatically generated">
            <a:extLst>
              <a:ext uri="{FF2B5EF4-FFF2-40B4-BE49-F238E27FC236}">
                <a16:creationId xmlns:a16="http://schemas.microsoft.com/office/drawing/2014/main" id="{17CDE7A5-1733-0FAC-77B6-F23D6864A5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697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anner with a city in the background  Description automatically generated">
            <a:extLst>
              <a:ext uri="{FF2B5EF4-FFF2-40B4-BE49-F238E27FC236}">
                <a16:creationId xmlns:a16="http://schemas.microsoft.com/office/drawing/2014/main" id="{2CC0345B-E6E3-F42F-444B-276DEA3E0B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3852453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1354155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903408-9362-EC46-8776-E9E810266D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409DADF-D9E6-A04F-8A80-7622E2E18903}"/>
              </a:ext>
            </a:extLst>
          </p:cNvPr>
          <p:cNvSpPr/>
          <p:nvPr userDrawn="1"/>
        </p:nvSpPr>
        <p:spPr>
          <a:xfrm>
            <a:off x="1562470" y="0"/>
            <a:ext cx="758153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864" y="273845"/>
            <a:ext cx="6644935" cy="2101242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64" y="2551580"/>
            <a:ext cx="6644935" cy="2081143"/>
          </a:xfrm>
        </p:spPr>
        <p:txBody>
          <a:bodyPr/>
          <a:lstStyle>
            <a:lvl1pPr marL="342900" indent="-334963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1pPr>
            <a:lvl2pPr marL="385763" indent="-151210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2pPr>
            <a:lvl3pPr marL="560785" indent="-175022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3pPr>
            <a:lvl4pPr marL="731044" indent="-175022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4pPr>
            <a:lvl5pPr marL="901304" indent="-170260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2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61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103351-EB45-234F-8697-DE91E66640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DDB1314-0315-DB4C-AE95-AFD46FB209DC}"/>
              </a:ext>
            </a:extLst>
          </p:cNvPr>
          <p:cNvSpPr/>
          <p:nvPr userDrawn="1"/>
        </p:nvSpPr>
        <p:spPr>
          <a:xfrm>
            <a:off x="1562470" y="0"/>
            <a:ext cx="758153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864" y="273845"/>
            <a:ext cx="6644935" cy="2101242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64" y="2551580"/>
            <a:ext cx="6644935" cy="2081143"/>
          </a:xfrm>
        </p:spPr>
        <p:txBody>
          <a:bodyPr/>
          <a:lstStyle>
            <a:lvl1pPr marL="0" indent="0">
              <a:buFont typeface="+mj-lt"/>
              <a:buNone/>
              <a:tabLst/>
              <a:defRPr sz="1800">
                <a:solidFill>
                  <a:schemeClr val="bg1"/>
                </a:solidFill>
              </a:defRPr>
            </a:lvl1pPr>
            <a:lvl2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2pPr>
            <a:lvl3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3pPr>
            <a:lvl4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4pPr>
            <a:lvl5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9177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losing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EC5F5DB-D0B7-B844-A4AC-647C44C65C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7790" y="273845"/>
            <a:ext cx="6078069" cy="2101242"/>
          </a:xfrm>
        </p:spPr>
        <p:txBody>
          <a:bodyPr anchor="b"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7790" y="2551580"/>
            <a:ext cx="6078069" cy="175216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tabLst/>
              <a:defRPr sz="900">
                <a:solidFill>
                  <a:schemeClr val="tx1"/>
                </a:solidFill>
              </a:defRPr>
            </a:lvl1pPr>
            <a:lvl2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2pPr>
            <a:lvl3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3pPr>
            <a:lvl4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4pPr>
            <a:lvl5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1A794-C745-1542-AC4C-A0D07A44D2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7791" y="4457700"/>
            <a:ext cx="1076325" cy="342000"/>
          </a:xfrm>
          <a:prstGeom prst="rect">
            <a:avLst/>
          </a:prstGeom>
        </p:spPr>
      </p:pic>
      <p:pic>
        <p:nvPicPr>
          <p:cNvPr id="4" name="Picture 3" descr="A blue and yellow logo  Description automatically generated">
            <a:extLst>
              <a:ext uri="{FF2B5EF4-FFF2-40B4-BE49-F238E27FC236}">
                <a16:creationId xmlns:a16="http://schemas.microsoft.com/office/drawing/2014/main" id="{83BE5696-CFD9-4C98-EA2C-157023C01B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1121" y="4447883"/>
            <a:ext cx="1227358" cy="42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70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111250"/>
            <a:ext cx="3819525" cy="3521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6824" y="1111250"/>
            <a:ext cx="3609975" cy="3521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3052526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Conten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111250"/>
            <a:ext cx="3819525" cy="3521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BAEBCE6-AA93-4D42-8917-B9241C3EF6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76826" y="1111250"/>
            <a:ext cx="3609975" cy="352147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959349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Content-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111250"/>
            <a:ext cx="7886699" cy="14100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BAEBCE6-AA93-4D42-8917-B9241C3EF6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3054" y="2576794"/>
            <a:ext cx="2413747" cy="187586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39C0675-53BD-004E-9C2E-1C9D24D3896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85927" y="2576794"/>
            <a:ext cx="5687128" cy="1875863"/>
          </a:xfrm>
          <a:solidFill>
            <a:schemeClr val="accent4"/>
          </a:solidFill>
        </p:spPr>
        <p:txBody>
          <a:bodyPr lIns="457200" tIns="274320" rIns="274320" bIns="27432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2391615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22173490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4224263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4760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CF86AEA-23B8-D847-A3D2-25B6A12213D0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0"/>
            <a:ext cx="7886700" cy="99417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111250"/>
            <a:ext cx="7886700" cy="352147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76304" y="4767263"/>
            <a:ext cx="1204216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1"/>
                </a:solidFill>
              </a:defRPr>
            </a:lvl1pPr>
          </a:lstStyle>
          <a:p>
            <a:fld id="{A39D7527-A277-E24D-9A56-20081ADC979C}" type="datetime1">
              <a:rPr lang="en-US" smtClean="0"/>
              <a:pPr/>
              <a:t>1/28/26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0520" y="4767263"/>
            <a:ext cx="30628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1"/>
                </a:solidFill>
              </a:defRPr>
            </a:lvl1pPr>
          </a:lstStyle>
          <a:p>
            <a:fld id="{EB4FF9C4-EEBF-D24D-8A4E-C0B9CCE3F97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blue and yellow logo  Description automatically generated">
            <a:extLst>
              <a:ext uri="{FF2B5EF4-FFF2-40B4-BE49-F238E27FC236}">
                <a16:creationId xmlns:a16="http://schemas.microsoft.com/office/drawing/2014/main" id="{D73A5207-C22D-484A-6399-36FEDB1D2583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773986" y="4737101"/>
            <a:ext cx="796887" cy="27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11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00" r:id="rId2"/>
    <p:sldLayoutId id="2147483706" r:id="rId3"/>
    <p:sldLayoutId id="2147483701" r:id="rId4"/>
    <p:sldLayoutId id="2147483702" r:id="rId5"/>
    <p:sldLayoutId id="2147483705" r:id="rId6"/>
    <p:sldLayoutId id="2147483703" r:id="rId7"/>
    <p:sldLayoutId id="2147483704" r:id="rId8"/>
    <p:sldLayoutId id="2147483689" r:id="rId9"/>
    <p:sldLayoutId id="2147483676" r:id="rId10"/>
    <p:sldLayoutId id="2147483690" r:id="rId11"/>
    <p:sldLayoutId id="2147483691" r:id="rId12"/>
    <p:sldLayoutId id="2147483678" r:id="rId13"/>
    <p:sldLayoutId id="2147483687" r:id="rId14"/>
    <p:sldLayoutId id="2147483688" r:id="rId15"/>
    <p:sldLayoutId id="2147483680" r:id="rId16"/>
    <p:sldLayoutId id="2147483681" r:id="rId17"/>
    <p:sldLayoutId id="2147483707" r:id="rId18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10">
          <p15:clr>
            <a:srgbClr val="F26B43"/>
          </p15:clr>
        </p15:guide>
        <p15:guide id="2" pos="5472">
          <p15:clr>
            <a:srgbClr val="F26B43"/>
          </p15:clr>
        </p15:guide>
        <p15:guide id="3" pos="504">
          <p15:clr>
            <a:srgbClr val="F26B43"/>
          </p15:clr>
        </p15:guide>
        <p15:guide id="4" pos="3054">
          <p15:clr>
            <a:srgbClr val="F26B43"/>
          </p15:clr>
        </p15:guide>
        <p15:guide id="5" pos="3198">
          <p15:clr>
            <a:srgbClr val="F26B43"/>
          </p15:clr>
        </p15:guide>
        <p15:guide id="6" pos="288">
          <p15:clr>
            <a:srgbClr val="F26B43"/>
          </p15:clr>
        </p15:guide>
        <p15:guide id="7" orient="horz" pos="7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96E2-6A29-8DF2-5DF9-827B369B03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>
              <a:buNone/>
            </a:pPr>
            <a:r>
              <a:t>The AC/DC Framework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0BDFC-5994-CF85-584F-C7363A760E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Analysis Concepts &amp; Derivation Concepts for Analysis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5472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A879D90-4E5A-B24E-BCE1-A85BA18A7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Agenda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7D71CD-9C0C-FE4C-87FD-8BC3AEF85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65760" indent="-182880" algn="l">
              <a:buChar char="•"/>
            </a:pPr>
            <a:r>
              <a:rPr dirty="0"/>
              <a:t>The Problem: Why Current Approaches Don't Scale</a:t>
            </a:r>
            <a:endParaRPr lang="en-US" dirty="0"/>
          </a:p>
          <a:p>
            <a:pPr marL="365760" indent="-182880" algn="l">
              <a:buChar char="•"/>
            </a:pPr>
            <a:r>
              <a:rPr dirty="0"/>
              <a:t>The Recipe Analogy: A Mental Model for AC/DC</a:t>
            </a:r>
          </a:p>
          <a:p>
            <a:pPr marL="365760" indent="-182880" algn="l">
              <a:buChar char="•"/>
            </a:pPr>
            <a:r>
              <a:rPr dirty="0"/>
              <a:t>The Three Components: Template, TEs, Method</a:t>
            </a:r>
          </a:p>
          <a:p>
            <a:pPr marL="365760" indent="-182880" algn="l">
              <a:buChar char="•"/>
            </a:pPr>
            <a:r>
              <a:rPr dirty="0"/>
              <a:t>The Core Model: OUTPUT = f(INPUT)</a:t>
            </a:r>
          </a:p>
          <a:p>
            <a:pPr marL="365760" indent="-182880" algn="l">
              <a:buChar char="•"/>
            </a:pPr>
            <a:r>
              <a:rPr dirty="0"/>
              <a:t>From Template to Study: </a:t>
            </a:r>
            <a:r>
              <a:rPr lang="da-DK" dirty="0"/>
              <a:t>Model </a:t>
            </a:r>
            <a:r>
              <a:rPr dirty="0"/>
              <a:t>Layers</a:t>
            </a:r>
          </a:p>
          <a:p>
            <a:pPr marL="365760" indent="-182880" algn="l">
              <a:buChar char="•"/>
            </a:pPr>
            <a:r>
              <a:rPr dirty="0"/>
              <a:t>Same Recipe, Different Kitchens</a:t>
            </a:r>
          </a:p>
          <a:p>
            <a:pPr marL="365760" indent="-182880">
              <a:buFont typeface="+mj-lt"/>
              <a:buChar char="•"/>
            </a:pPr>
            <a:r>
              <a:rPr dirty="0"/>
              <a:t>SDMX Data Cubes: </a:t>
            </a:r>
            <a:r>
              <a:rPr lang="en-GB" dirty="0"/>
              <a:t>The Technical Foundation for Machine-Executable Specifications</a:t>
            </a:r>
            <a:endParaRPr lang="da-DK" dirty="0"/>
          </a:p>
          <a:p>
            <a:pPr marL="365760" indent="-182880" algn="l">
              <a:buChar char="•"/>
            </a:pPr>
            <a:r>
              <a:rPr lang="en-DK" dirty="0"/>
              <a:t>Summary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9089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Why Current ADaM and Output Programming Doesn't Scale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05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Everything is Hardcoded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A typical ANCOVA program:</a:t>
            </a:r>
          </a:p>
          <a:p>
            <a:pPr marL="182880" indent="0" algn="l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proc mixed data=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adam.adqsadas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548640" lvl="1" indent="0" algn="l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where PARAMCD="ACTOT11" and EFFFL="Y";</a:t>
            </a:r>
          </a:p>
          <a:p>
            <a:pPr marL="548640" lvl="1" indent="0" algn="l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model CHG = BASE SITEID TRTP;</a:t>
            </a:r>
          </a:p>
          <a:p>
            <a:pPr marL="182880" indent="0" algn="l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run;</a:t>
            </a:r>
          </a:p>
          <a:p>
            <a:pPr marL="0" indent="0">
              <a:buNone/>
            </a:pPr>
            <a:r>
              <a:rPr b="1" dirty="0"/>
              <a:t>What's embedded in the code:</a:t>
            </a:r>
          </a:p>
          <a:p>
            <a:pPr marL="365760" indent="-182880" algn="l">
              <a:buChar char="•"/>
            </a:pPr>
            <a:r>
              <a:rPr dirty="0"/>
              <a:t>Dataset name: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adqsadas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5760" indent="-182880" algn="l">
              <a:buChar char="•"/>
            </a:pPr>
            <a:r>
              <a:rPr dirty="0"/>
              <a:t>Variable names: 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CHG, BASE, TRTP, SITEID</a:t>
            </a:r>
          </a:p>
          <a:p>
            <a:pPr marL="365760" indent="-182880" algn="l">
              <a:buChar char="•"/>
            </a:pPr>
            <a:r>
              <a:rPr dirty="0"/>
              <a:t>Filter conditions: 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PARAMCD, EFFFL </a:t>
            </a:r>
            <a:r>
              <a:rPr dirty="0"/>
              <a:t>values</a:t>
            </a:r>
          </a:p>
          <a:p>
            <a:pPr marL="0" indent="0">
              <a:buNone/>
            </a:pPr>
            <a:r>
              <a:rPr dirty="0"/>
              <a:t>Different parameter? → Copy-paste, change values</a:t>
            </a:r>
          </a:p>
          <a:p>
            <a:pPr marL="0" indent="0">
              <a:buNone/>
            </a:pPr>
            <a:r>
              <a:rPr dirty="0"/>
              <a:t>Different study? → Rewrite everything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</a:t>
            </a:r>
            <a:r>
              <a:rPr dirty="0" err="1"/>
              <a:t>ClearDataClearImpact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0463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CD6AF-2974-98A8-E658-BBED9248F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An automated approach – tied to specific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DBACC-847D-352D-E9D4-BADDE634B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0100" y="872349"/>
            <a:ext cx="3819525" cy="22250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100" b="1" dirty="0"/>
              <a:t>YAML + R Code References</a:t>
            </a:r>
          </a:p>
          <a:p>
            <a:pPr marL="0" indent="0">
              <a:buNone/>
            </a:pPr>
            <a:r>
              <a:rPr sz="1100" dirty="0">
                <a:latin typeface="Courier New"/>
              </a:rPr>
              <a:t>table:</a:t>
            </a:r>
          </a:p>
          <a:p>
            <a:pPr marL="0" indent="0">
              <a:buNone/>
            </a:pPr>
            <a:r>
              <a:rPr sz="1100" dirty="0">
                <a:latin typeface="Courier New"/>
              </a:rPr>
              <a:t>name: ADSL</a:t>
            </a:r>
          </a:p>
          <a:p>
            <a:pPr marL="0" indent="0">
              <a:buNone/>
            </a:pPr>
            <a:r>
              <a:rPr sz="1100" dirty="0" err="1">
                <a:latin typeface="Courier New"/>
              </a:rPr>
              <a:t>filter_domain</a:t>
            </a:r>
            <a:r>
              <a:rPr sz="1100" dirty="0">
                <a:latin typeface="Courier New"/>
              </a:rPr>
              <a:t>:</a:t>
            </a:r>
          </a:p>
          <a:p>
            <a:pPr marL="0" indent="0">
              <a:buNone/>
            </a:pPr>
            <a:r>
              <a:rPr sz="1100" dirty="0">
                <a:latin typeface="Courier New"/>
              </a:rPr>
              <a:t>- dm: '!</a:t>
            </a:r>
            <a:r>
              <a:rPr sz="1100" dirty="0" err="1">
                <a:latin typeface="Courier New"/>
              </a:rPr>
              <a:t>is.na</a:t>
            </a:r>
            <a:r>
              <a:rPr sz="1100" dirty="0">
                <a:latin typeface="Courier New"/>
              </a:rPr>
              <a:t>(AGE)'  # R syntax</a:t>
            </a:r>
          </a:p>
          <a:p>
            <a:pPr marL="0" indent="0">
              <a:buNone/>
            </a:pPr>
            <a:r>
              <a:rPr sz="1100" dirty="0" err="1">
                <a:latin typeface="Courier New"/>
              </a:rPr>
              <a:t>column_action</a:t>
            </a:r>
            <a:r>
              <a:rPr sz="1100" dirty="0">
                <a:latin typeface="Courier New"/>
              </a:rPr>
              <a:t>:</a:t>
            </a:r>
          </a:p>
          <a:p>
            <a:pPr marL="0" indent="0">
              <a:buNone/>
            </a:pPr>
            <a:r>
              <a:rPr sz="1100" dirty="0">
                <a:latin typeface="Courier New"/>
              </a:rPr>
              <a:t>AGE_GRP1:</a:t>
            </a:r>
          </a:p>
          <a:p>
            <a:pPr marL="0" indent="0">
              <a:buNone/>
            </a:pPr>
            <a:r>
              <a:rPr sz="1100" dirty="0" err="1">
                <a:latin typeface="Courier New"/>
              </a:rPr>
              <a:t>code_id</a:t>
            </a:r>
            <a:r>
              <a:rPr sz="1100" dirty="0">
                <a:latin typeface="Courier New"/>
              </a:rPr>
              <a:t>: "age_group_01.R" # code file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F2C28-04E4-F389-E3D2-80C414912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76824" y="872349"/>
            <a:ext cx="3609975" cy="22250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100" b="1"/>
              <a:t>Domain-Specific Language (DSL)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if DM.DTHFL = 'Y'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and the latest of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([ADSL.LSTALVDT + 1 day, ADSL.DTHDTC])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is not later than 2023-07-01,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then set to the latest of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([ADSL.LSTALVDT + 1 day, ADSL.DTHDTC]),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else set to blank.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845D3-0289-1119-0859-F9F74F6DC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E59E5-FB3D-A3BE-0A90-9975CDB21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#</a:t>
            </a:r>
            <a:r>
              <a:rPr dirty="0" err="1"/>
              <a:t>ClearDataClearImpact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AC3EAD-3C68-9973-CC64-D2AA90494865}"/>
              </a:ext>
            </a:extLst>
          </p:cNvPr>
          <p:cNvSpPr txBox="1"/>
          <p:nvPr/>
        </p:nvSpPr>
        <p:spPr>
          <a:xfrm>
            <a:off x="800100" y="3035240"/>
            <a:ext cx="3800000" cy="324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sz="800" dirty="0"/>
              <a:t>Example from PHUSE EU 2025, Paper SM04</a:t>
            </a:r>
          </a:p>
          <a:p>
            <a:pPr marL="0" indent="0">
              <a:buNone/>
            </a:pPr>
            <a:r>
              <a:rPr sz="800" i="1" dirty="0"/>
              <a:t>Matthew Phelps, Nicolai Skov Johnsen, Novo Nordisk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BE256B44-9B31-ECF8-2588-45C405910AB3}"/>
              </a:ext>
            </a:extLst>
          </p:cNvPr>
          <p:cNvSpPr txBox="1"/>
          <p:nvPr/>
        </p:nvSpPr>
        <p:spPr>
          <a:xfrm>
            <a:off x="5076823" y="3035240"/>
            <a:ext cx="3609975" cy="32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800"/>
              <a:t>Example from PHUSE EU 2023, Paper DH12</a:t>
            </a:r>
          </a:p>
          <a:p>
            <a:pPr marL="0" indent="0">
              <a:buNone/>
            </a:pPr>
            <a:r>
              <a:rPr sz="800" i="1"/>
              <a:t>Kang Zhao, AstraZeneca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EC3A00C4-6B70-8A55-D7EF-82914F3656C9}"/>
              </a:ext>
            </a:extLst>
          </p:cNvPr>
          <p:cNvSpPr txBox="1"/>
          <p:nvPr/>
        </p:nvSpPr>
        <p:spPr>
          <a:xfrm>
            <a:off x="800100" y="3560143"/>
            <a:ext cx="458552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000" b="1" dirty="0">
                <a:solidFill>
                  <a:srgbClr val="FF0000"/>
                </a:solidFill>
              </a:rPr>
              <a:t>Common Problems:</a:t>
            </a:r>
            <a:endParaRPr lang="en-GB" sz="1000" dirty="0"/>
          </a:p>
          <a:p>
            <a:pPr marL="0" indent="0">
              <a:buNone/>
            </a:pPr>
            <a:r>
              <a:rPr sz="1000" b="1" dirty="0"/>
              <a:t>Clever solutions, but proprietary: </a:t>
            </a:r>
            <a:r>
              <a:rPr sz="1000" dirty="0"/>
              <a:t>Each company invents its own format</a:t>
            </a:r>
          </a:p>
          <a:p>
            <a:pPr marL="0" indent="0">
              <a:buNone/>
            </a:pPr>
            <a:r>
              <a:rPr sz="1000" b="1" dirty="0"/>
              <a:t>Platform-specific: </a:t>
            </a:r>
            <a:r>
              <a:rPr sz="1000" dirty="0"/>
              <a:t>Tied to R ecosystem or custom interpreters</a:t>
            </a:r>
          </a:p>
          <a:p>
            <a:pPr marL="0" indent="0">
              <a:buNone/>
            </a:pPr>
            <a:r>
              <a:rPr sz="1000" b="1" dirty="0"/>
              <a:t>Spec ≠ Code: </a:t>
            </a:r>
            <a:r>
              <a:rPr sz="1000" dirty="0"/>
              <a:t>Logic hidden in external code-files (YAML) or requires custom parser (DSL)</a:t>
            </a:r>
          </a:p>
          <a:p>
            <a:pPr marL="0" indent="0">
              <a:buNone/>
            </a:pPr>
            <a:r>
              <a:rPr sz="1000" b="1" dirty="0"/>
              <a:t>Not portable: </a:t>
            </a:r>
            <a:r>
              <a:rPr sz="1000" dirty="0"/>
              <a:t>Can't be shared across companies or tools</a:t>
            </a:r>
          </a:p>
          <a:p>
            <a:pPr marL="0" indent="0">
              <a:buNone/>
            </a:pPr>
            <a:r>
              <a:rPr sz="1000" b="1" dirty="0"/>
              <a:t>Missing intent: </a:t>
            </a:r>
            <a:r>
              <a:rPr sz="1000" dirty="0"/>
              <a:t>Tells us HOW to compute, but not the analytical purpose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2125F1-3B59-BA71-F6FB-423DA4330C14}"/>
              </a:ext>
            </a:extLst>
          </p:cNvPr>
          <p:cNvSpPr txBox="1"/>
          <p:nvPr/>
        </p:nvSpPr>
        <p:spPr>
          <a:xfrm>
            <a:off x="5405153" y="3729420"/>
            <a:ext cx="35423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…if every organisation builds their own LEGO system with proprietary brick sizes, we've just created a hundred incompatible toy boxes. Your bricks won't fit my castle…</a:t>
            </a:r>
            <a:r>
              <a:rPr lang="en-DK" sz="1200" i="1" dirty="0">
                <a:effectLst/>
              </a:rPr>
              <a:t> </a:t>
            </a:r>
            <a:endParaRPr lang="en-GB" sz="1200" i="1" dirty="0"/>
          </a:p>
        </p:txBody>
      </p:sp>
    </p:spTree>
    <p:extLst>
      <p:ext uri="{BB962C8B-B14F-4D97-AF65-F5344CB8AC3E}">
        <p14:creationId xmlns:p14="http://schemas.microsoft.com/office/powerpoint/2010/main" val="578848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The AC/DC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Separating "What" from "How" from "Where"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Think of Analysis Like Cooking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333333"/>
                </a:solidFill>
                <a:latin typeface="Arial"/>
              </a:defRPr>
            </a:pPr>
            <a:r>
              <a:t>Every time you want to prepare a dish, you need three things: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2560320" cy="2377440"/>
          </a:xfrm>
          <a:prstGeom prst="roundRect">
            <a:avLst/>
          </a:prstGeom>
          <a:solidFill>
            <a:srgbClr val="FEF6E8"/>
          </a:solidFill>
          <a:ln w="254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8B5A2B"/>
                </a:solidFill>
                <a:latin typeface="Arial"/>
              </a:defRPr>
            </a:pPr>
            <a: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920239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B5A2B"/>
                </a:solidFill>
                <a:latin typeface="Arial"/>
              </a:defRPr>
            </a:pPr>
            <a:r>
              <a:t>A Recipe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19456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(Template)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65176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The pattern that describes</a:t>
            </a:r>
            <a:br/>
            <a:r>
              <a:t>what you're making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280160"/>
            <a:ext cx="2560320" cy="2377440"/>
          </a:xfrm>
          <a:prstGeom prst="roundRect">
            <a:avLst/>
          </a:prstGeom>
          <a:solidFill>
            <a:srgbClr val="E8F4FC"/>
          </a:solidFill>
          <a:ln w="254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4173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003366"/>
                </a:solidFill>
                <a:latin typeface="Arial"/>
              </a:defRPr>
            </a:pPr>
            <a:r>
              <a:t>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20239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3366"/>
                </a:solidFill>
                <a:latin typeface="Arial"/>
              </a:defRPr>
            </a:pPr>
            <a:r>
              <a:t>Ingredients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94560"/>
            <a:ext cx="23774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rPr dirty="0"/>
              <a:t>(</a:t>
            </a:r>
            <a:r>
              <a:rPr lang="en-GB" noProof="1"/>
              <a:t>Semantic Transformation Concepts</a:t>
            </a:r>
            <a:r>
              <a:rPr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5176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Abstract components —</a:t>
            </a:r>
            <a:br/>
            <a:r>
              <a:t>'oil' not 'Bertolli Extra Virgin'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280160"/>
            <a:ext cx="2560320" cy="2377440"/>
          </a:xfrm>
          <a:prstGeom prst="roundRect">
            <a:avLst/>
          </a:prstGeom>
          <a:solidFill>
            <a:srgbClr val="F0E8F8"/>
          </a:solidFill>
          <a:ln w="25400">
            <a:solidFill>
              <a:srgbClr val="C8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4173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663399"/>
                </a:solidFill>
                <a:latin typeface="Arial"/>
              </a:defRPr>
            </a:pPr>
            <a:r>
              <a:rPr dirty="0"/>
              <a:t>👨‍🍳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1920239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663399"/>
                </a:solidFill>
                <a:latin typeface="Arial"/>
              </a:defRPr>
            </a:pPr>
            <a:r>
              <a:t>Instructions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19456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(Method)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265176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How to combine ingredients</a:t>
            </a:r>
            <a:br/>
            <a:r>
              <a:t>using named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666666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666666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40480"/>
            <a:ext cx="7863840" cy="54864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3366"/>
                </a:solidFill>
                <a:latin typeface="Arial"/>
              </a:defRPr>
            </a:pPr>
            <a:r>
              <a:t>= A complete, reproducible analysis specification</a:t>
            </a:r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499A2DC2-B683-421C-BA27-F64E92446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Separation of Concerns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8229600" cy="640080"/>
          </a:xfrm>
          <a:prstGeom prst="roundRect">
            <a:avLst/>
          </a:prstGeom>
          <a:solidFill>
            <a:srgbClr val="FEF6E8"/>
          </a:solidFill>
          <a:ln w="254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B5A2B"/>
                </a:solidFill>
                <a:latin typeface="Arial"/>
              </a:defRPr>
            </a:pPr>
            <a:r>
              <a:t>A vinaigrette recipe doesn't specify "Bertolli olive oil" — it just says "oil"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AC/DC separates what you need from the specific product you use: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3474720" cy="1280160"/>
          </a:xfrm>
          <a:prstGeom prst="rect">
            <a:avLst/>
          </a:prstGeom>
          <a:solidFill>
            <a:srgbClr val="E8F4FC"/>
          </a:solidFill>
          <a:ln w="254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3366"/>
                </a:solidFill>
                <a:latin typeface="Arial"/>
              </a:defRPr>
            </a:pPr>
            <a:r>
              <a:t>WHAT (Abstract)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33333"/>
                </a:solidFill>
                <a:latin typeface="Arial"/>
              </a:defRPr>
            </a:pPr>
            <a:r>
              <a:t>"oil" → analysis_value</a:t>
            </a:r>
            <a:br/>
            <a:r>
              <a:t>"vinegar" → baseline_value</a:t>
            </a:r>
            <a:br/>
            <a:r>
              <a:t>"emulsify" → Subtraction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6666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965960"/>
            <a:ext cx="3474720" cy="1280160"/>
          </a:xfrm>
          <a:prstGeom prst="rect">
            <a:avLst/>
          </a:prstGeom>
          <a:solidFill>
            <a:srgbClr val="FEF6E8"/>
          </a:solidFill>
          <a:ln w="254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B5A2B"/>
                </a:solidFill>
                <a:latin typeface="Arial"/>
              </a:defRPr>
            </a:pPr>
            <a:r>
              <a:t>WHERE (Concrete)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2860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33333"/>
                </a:solidFill>
                <a:latin typeface="Arial"/>
              </a:defRPr>
            </a:pPr>
            <a:r>
              <a:rPr dirty="0" err="1"/>
              <a:t>ADaM</a:t>
            </a:r>
            <a:r>
              <a:rPr dirty="0"/>
              <a:t>: AVAL, BASE, CHG</a:t>
            </a:r>
            <a:br>
              <a:rPr dirty="0"/>
            </a:br>
            <a:r>
              <a:rPr dirty="0"/>
              <a:t>SAS: PROC GLM</a:t>
            </a:r>
            <a:br>
              <a:rPr dirty="0"/>
            </a:br>
            <a:r>
              <a:rPr dirty="0"/>
              <a:t>Your specific study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Arial"/>
              </a:defRPr>
            </a:pPr>
            <a:r>
              <a:t>This enables: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11880"/>
            <a:ext cx="2651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657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333333"/>
                </a:solidFill>
                <a:latin typeface="Arial"/>
              </a:defRPr>
            </a:pPr>
            <a: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657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Standard-independence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Arial"/>
              </a:defRPr>
            </a:pPr>
            <a:r>
              <a:t>ADaM, SDTM, OMOP, FHIR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79" y="3611880"/>
            <a:ext cx="2651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3657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333333"/>
                </a:solidFill>
                <a:latin typeface="Arial"/>
              </a:defRPr>
            </a:pPr>
            <a:r>
              <a:t>⚙️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79" y="3657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Machine-execution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79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Arial"/>
              </a:defRPr>
            </a:pPr>
            <a:r>
              <a:t>Automated code generation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611880"/>
            <a:ext cx="2651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3657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333333"/>
                </a:solidFill>
                <a:latin typeface="Arial"/>
              </a:defRPr>
            </a:pPr>
            <a:r>
              <a:t>♻️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657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Reusability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Arial"/>
              </a:defRPr>
            </a:pPr>
            <a:r>
              <a:t>Define once, execute anywhere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1">
                <a:solidFill>
                  <a:srgbClr val="003366"/>
                </a:solidFill>
                <a:latin typeface="Arial"/>
              </a:defRPr>
            </a:pPr>
            <a:r>
              <a:t>A good recipe works in any kitchen, with any brand of ingredients.</a:t>
            </a:r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DAE0845B-281A-A4FE-2069-C447B0D7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Arial"/>
              </a:defRPr>
            </a:pPr>
            <a:r>
              <a:t>The Three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B8D4E8"/>
                </a:solidFill>
                <a:latin typeface="Arial"/>
              </a:defRPr>
            </a:pPr>
            <a:r>
              <a:t>Recipe, Ingredients, and Cooking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2926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FFFFFF"/>
                </a:solidFill>
                <a:latin typeface="Arial"/>
              </a:defRPr>
            </a:pPr>
            <a: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3474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B8D4E8"/>
                </a:solidFill>
                <a:latin typeface="Arial"/>
              </a:defRPr>
            </a:pPr>
            <a:r>
              <a:t>Recipe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926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FFFFFF"/>
                </a:solidFill>
                <a:latin typeface="Arial"/>
              </a:defRPr>
            </a:pPr>
            <a:r>
              <a:t>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3474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B8D4E8"/>
                </a:solidFill>
                <a:latin typeface="Arial"/>
              </a:defRPr>
            </a:pPr>
            <a:r>
              <a:t>Ingredients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926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FFFFFF"/>
                </a:solidFill>
                <a:latin typeface="Arial"/>
              </a:defRPr>
            </a:pPr>
            <a:r>
              <a:t>👨‍🍳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474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B8D4E8"/>
                </a:solidFill>
                <a:latin typeface="Arial"/>
              </a:defRPr>
            </a:pPr>
            <a:r>
              <a:t>Instructions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063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B8D4E8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3063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B8D4E8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B8D4E8"/>
                </a:solidFill>
                <a:latin typeface="Arial"/>
              </a:defRPr>
            </a:pPr>
            <a:r>
              <a:t>Let's explore each component in detail...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Big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5140" y="1350183"/>
            <a:ext cx="4114800" cy="2903627"/>
          </a:xfrm>
          <a:prstGeom prst="rect">
            <a:avLst/>
          </a:prstGeom>
          <a:solidFill>
            <a:srgbClr val="E8F4FC"/>
          </a:solidFill>
          <a:ln w="254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6580" y="1441623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366"/>
                </a:solidFill>
                <a:latin typeface="Arial"/>
              </a:defRPr>
            </a:pPr>
            <a:r>
              <a:rPr dirty="0"/>
              <a:t>AC/DC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217" y="1898823"/>
            <a:ext cx="33192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3366"/>
                </a:solidFill>
                <a:latin typeface="Arial"/>
              </a:defRPr>
            </a:pPr>
            <a:r>
              <a:rPr dirty="0"/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340" y="1898823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366"/>
                </a:solidFill>
                <a:latin typeface="Arial"/>
              </a:defRPr>
            </a:pPr>
            <a:r>
              <a:t>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340" y="2127423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rPr dirty="0"/>
              <a:t>Pattern defining clinical intent and what elements are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217" y="2630343"/>
            <a:ext cx="33192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3366"/>
                </a:solidFill>
                <a:latin typeface="Arial"/>
              </a:defRPr>
            </a:pPr>
            <a:r>
              <a:rPr dirty="0"/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340" y="2630343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366"/>
                </a:solidFill>
                <a:latin typeface="Arial"/>
              </a:defRPr>
            </a:pPr>
            <a:r>
              <a:rPr dirty="0"/>
              <a:t>SEMANTIC T</a:t>
            </a:r>
            <a:r>
              <a:rPr lang="da-DK" dirty="0"/>
              <a:t>C</a:t>
            </a:r>
            <a:r>
              <a:rPr dirty="0"/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340" y="2858943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Abstract data concepts (analysis_value, baseline_value)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217" y="3361862"/>
            <a:ext cx="33192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3366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340" y="336186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366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340" y="359046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Operations with named roles (Subtraction, ANCOVA)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12820" y="1350183"/>
            <a:ext cx="4114800" cy="2903627"/>
          </a:xfrm>
          <a:prstGeom prst="rect">
            <a:avLst/>
          </a:prstGeom>
          <a:solidFill>
            <a:srgbClr val="FEF6E8"/>
          </a:solidFill>
          <a:ln w="254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04260" y="1441623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B5A2B"/>
                </a:solidFill>
                <a:latin typeface="Arial"/>
              </a:defRPr>
            </a:pPr>
            <a:r>
              <a:t>Recipe Analogy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6897" y="1898823"/>
            <a:ext cx="33192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A2B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0020" y="1898823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A2B"/>
                </a:solidFill>
                <a:latin typeface="Arial"/>
              </a:defRPr>
            </a:pPr>
            <a:r>
              <a:t>THE RECIPE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0020" y="2127423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Instructions defining what dish to make and what ingredients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6897" y="2630343"/>
            <a:ext cx="33192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A2B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0020" y="2630343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THE INGREDIENTS</a:t>
            </a:r>
            <a:r>
              <a:rPr lang="da-DK" dirty="0"/>
              <a:t> TYPES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5370020" y="2858943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Abstract types: "oil", "vinegar" — not specific brands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6897" y="3361862"/>
            <a:ext cx="33192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A2B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0020" y="336186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A2B"/>
                </a:solidFill>
                <a:latin typeface="Arial"/>
              </a:defRPr>
            </a:pPr>
            <a:r>
              <a:t>THE TECHNIQUE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0020" y="359046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How to combine: emulsification, reduction, sautéing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49D161D-268A-4E6B-BD76-7F1CA5439B60}"/>
              </a:ext>
            </a:extLst>
          </p:cNvPr>
          <p:cNvGrpSpPr/>
          <p:nvPr/>
        </p:nvGrpSpPr>
        <p:grpSpPr>
          <a:xfrm>
            <a:off x="615140" y="825631"/>
            <a:ext cx="8412480" cy="411480"/>
            <a:chOff x="457200" y="4505764"/>
            <a:chExt cx="8412480" cy="411480"/>
          </a:xfrm>
        </p:grpSpPr>
        <p:sp>
          <p:nvSpPr>
            <p:cNvPr id="26" name="Rectangle 25"/>
            <p:cNvSpPr/>
            <p:nvPr/>
          </p:nvSpPr>
          <p:spPr>
            <a:xfrm>
              <a:off x="457200" y="4505764"/>
              <a:ext cx="8412480" cy="411480"/>
            </a:xfrm>
            <a:prstGeom prst="rect">
              <a:avLst/>
            </a:prstGeom>
            <a:solidFill>
              <a:srgbClr val="F5F5F5"/>
            </a:solidFill>
            <a:ln w="1270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02416" y="4526838"/>
              <a:ext cx="82758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i="1">
                  <a:solidFill>
                    <a:srgbClr val="666666"/>
                  </a:solidFill>
                  <a:latin typeface="Arial"/>
                </a:defRPr>
              </a:pPr>
              <a:r>
                <a:rPr lang="en-GB" sz="900" noProof="1"/>
                <a:t>The recipe doesn't care about brands — it works with abstract ingredient types. Similarly, Templates work with semantic concepts </a:t>
              </a:r>
            </a:p>
            <a:p>
              <a:pPr algn="ctr">
                <a:defRPr sz="1000" i="1">
                  <a:solidFill>
                    <a:srgbClr val="666666"/>
                  </a:solidFill>
                  <a:latin typeface="Arial"/>
                </a:defRPr>
              </a:pPr>
              <a:r>
                <a:rPr lang="en-GB" sz="900" noProof="1"/>
                <a:t>(Semantic Transformation Concepts (STC)).</a:t>
              </a:r>
            </a:p>
          </p:txBody>
        </p:sp>
      </p:grpSp>
      <p:sp>
        <p:nvSpPr>
          <p:cNvPr id="29" name="Slide Number Placeholder 4">
            <a:extLst>
              <a:ext uri="{FF2B5EF4-FFF2-40B4-BE49-F238E27FC236}">
                <a16:creationId xmlns:a16="http://schemas.microsoft.com/office/drawing/2014/main" id="{3EEE1BA1-6ED9-BC4D-C256-81CDE49E9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Templates: The Recipe 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01902"/>
            <a:ext cx="4114800" cy="3279483"/>
          </a:xfrm>
          <a:prstGeom prst="rect">
            <a:avLst/>
          </a:prstGeom>
          <a:solidFill>
            <a:srgbClr val="E8F4FC"/>
          </a:solidFill>
          <a:ln w="254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9334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366"/>
                </a:solidFill>
                <a:latin typeface="Arial"/>
              </a:defRPr>
            </a:pPr>
            <a:r>
              <a:t>AC/DC Template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9102"/>
            <a:ext cx="3749039" cy="320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7739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Template: ChangeFromBaseline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70582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66666"/>
                </a:solidFill>
                <a:latin typeface="Arial"/>
              </a:defRPr>
            </a:pPr>
            <a:r>
              <a:t>Clinical Intent: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53461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Arial"/>
              </a:defRPr>
            </a:pPr>
            <a:r>
              <a:t>Calculate absolute change from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27782"/>
            <a:ext cx="37490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66666"/>
                </a:solidFill>
                <a:latin typeface="Arial"/>
              </a:defRPr>
            </a:pPr>
            <a:r>
              <a:rPr dirty="0"/>
              <a:t>Semantic T</a:t>
            </a:r>
            <a:r>
              <a:rPr lang="da-DK" dirty="0"/>
              <a:t>C</a:t>
            </a:r>
            <a:r>
              <a:rPr dirty="0"/>
              <a:t>s needed: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1066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• analysis_value (input measure)</a:t>
            </a:r>
            <a:br/>
            <a:r>
              <a:t>• baseline_value (input measure)</a:t>
            </a:r>
            <a:br/>
            <a:r>
              <a:t>• change_value (output measure)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42182"/>
            <a:ext cx="1828800" cy="2743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46047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Method: Subtraction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45102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Template captures WHAT you're doing clinically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201902"/>
            <a:ext cx="4114800" cy="3279483"/>
          </a:xfrm>
          <a:prstGeom prst="rect">
            <a:avLst/>
          </a:prstGeom>
          <a:solidFill>
            <a:srgbClr val="FEF6E8"/>
          </a:solidFill>
          <a:ln w="254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129334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B5A2B"/>
                </a:solidFill>
                <a:latin typeface="Arial"/>
              </a:defRPr>
            </a:pPr>
            <a:r>
              <a:t>Recipe Card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1659102"/>
            <a:ext cx="3749039" cy="32004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167739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Recipe: Classic Vinaigrette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070582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66666"/>
                </a:solidFill>
                <a:latin typeface="Arial"/>
              </a:defRPr>
            </a:pPr>
            <a:r>
              <a:t>Purpose: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253461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Arial"/>
              </a:defRPr>
            </a:pPr>
            <a:r>
              <a:t>Create an emulsified salad dressing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527782"/>
            <a:ext cx="37490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66666"/>
                </a:solidFill>
                <a:latin typeface="Arial"/>
              </a:defRPr>
            </a:pPr>
            <a:r>
              <a:rPr dirty="0"/>
              <a:t>Ingredients </a:t>
            </a:r>
            <a:r>
              <a:rPr lang="da-DK" dirty="0"/>
              <a:t>types </a:t>
            </a:r>
            <a:r>
              <a:rPr dirty="0"/>
              <a:t>needed: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71066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• oil (3 parts)</a:t>
            </a:r>
            <a:br/>
            <a:r>
              <a:t>• vinegar (1 part)</a:t>
            </a:r>
            <a:br/>
            <a:r>
              <a:t>• seasoning (to taste)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3442182"/>
            <a:ext cx="2011680" cy="27432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0" y="346047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Method: Emulsification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945102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t>Recipe captures WHAT dish you're making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49B2AEE-1A49-5F33-E5C4-52F96DA2E1EF}"/>
              </a:ext>
            </a:extLst>
          </p:cNvPr>
          <p:cNvGrpSpPr/>
          <p:nvPr/>
        </p:nvGrpSpPr>
        <p:grpSpPr>
          <a:xfrm>
            <a:off x="365760" y="712167"/>
            <a:ext cx="8412480" cy="411480"/>
            <a:chOff x="365760" y="4526280"/>
            <a:chExt cx="8412480" cy="411480"/>
          </a:xfrm>
        </p:grpSpPr>
        <p:sp>
          <p:nvSpPr>
            <p:cNvPr id="26" name="Rectangle 25"/>
            <p:cNvSpPr/>
            <p:nvPr/>
          </p:nvSpPr>
          <p:spPr>
            <a:xfrm>
              <a:off x="365760" y="4526280"/>
              <a:ext cx="8412480" cy="411480"/>
            </a:xfrm>
            <a:prstGeom prst="rect">
              <a:avLst/>
            </a:prstGeom>
            <a:solidFill>
              <a:srgbClr val="F5F5F5"/>
            </a:solidFill>
            <a:ln w="1270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57200" y="4572000"/>
              <a:ext cx="822960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 i="1">
                  <a:solidFill>
                    <a:srgbClr val="666666"/>
                  </a:solidFill>
                  <a:latin typeface="Arial"/>
                </a:defRPr>
              </a:pPr>
              <a:r>
                <a:t>The recipe doesn't specify "Bertolli Extra Virgin" — it just says "oil". Templates work the same way.</a:t>
              </a:r>
            </a:p>
          </p:txBody>
        </p:sp>
      </p:grpSp>
      <p:sp>
        <p:nvSpPr>
          <p:cNvPr id="29" name="Slide Number Placeholder 4">
            <a:extLst>
              <a:ext uri="{FF2B5EF4-FFF2-40B4-BE49-F238E27FC236}">
                <a16:creationId xmlns:a16="http://schemas.microsoft.com/office/drawing/2014/main" id="{A30D7FFE-84EB-47C8-E8BD-34BDD58C4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Semantic TEs: The Ingredients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51331"/>
            <a:ext cx="4114800" cy="3263004"/>
          </a:xfrm>
          <a:prstGeom prst="rect">
            <a:avLst/>
          </a:prstGeom>
          <a:solidFill>
            <a:srgbClr val="E8F4FC"/>
          </a:solidFill>
          <a:ln w="254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42771"/>
            <a:ext cx="3931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366"/>
                </a:solidFill>
                <a:latin typeface="Arial"/>
              </a:defRPr>
            </a:pPr>
            <a:r>
              <a:rPr lang="en-GB" noProof="1"/>
              <a:t>Semantic Transformation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98803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6666"/>
                </a:solidFill>
                <a:latin typeface="Arial"/>
              </a:defRPr>
            </a:pPr>
            <a:r>
              <a:t>Abstract concepts, not physical variables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45691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89141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366"/>
                </a:solidFill>
                <a:latin typeface="Arial"/>
              </a:defRPr>
            </a:pPr>
            <a:r>
              <a:t>analysis_value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74291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66666"/>
                </a:solidFill>
                <a:latin typeface="Arial"/>
              </a:defRPr>
            </a:pPr>
            <a:r>
              <a:t>Could be bound to: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11451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rPr dirty="0" err="1"/>
              <a:t>ADaM</a:t>
            </a:r>
            <a:r>
              <a:rPr dirty="0"/>
              <a:t>: AVAL | OMOP: </a:t>
            </a:r>
            <a:r>
              <a:rPr dirty="0" err="1"/>
              <a:t>value_as_number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502920" y="2622931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66865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366"/>
                </a:solidFill>
                <a:latin typeface="Arial"/>
              </a:defRPr>
            </a:pPr>
            <a:r>
              <a:t>baseline_value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51531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66666"/>
                </a:solidFill>
                <a:latin typeface="Arial"/>
              </a:defRPr>
            </a:pPr>
            <a:r>
              <a:t>Could be bound to: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88691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rPr dirty="0" err="1"/>
              <a:t>ADaM</a:t>
            </a:r>
            <a:r>
              <a:rPr dirty="0"/>
              <a:t>: BASE |  OMOP: (derived)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00171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4589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366"/>
                </a:solidFill>
                <a:latin typeface="Arial"/>
              </a:defRPr>
            </a:pPr>
            <a:r>
              <a:t>treatment_planned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628771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66666"/>
                </a:solidFill>
                <a:latin typeface="Arial"/>
              </a:defRPr>
            </a:pPr>
            <a:r>
              <a:t>Could be bound to: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5931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rPr dirty="0" err="1"/>
              <a:t>ADaM</a:t>
            </a:r>
            <a:r>
              <a:rPr dirty="0"/>
              <a:t>: TRT01P | OMOP: </a:t>
            </a:r>
            <a:r>
              <a:rPr dirty="0" err="1"/>
              <a:t>drug_concept_id</a:t>
            </a: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4663440" y="1251331"/>
            <a:ext cx="4114800" cy="3263004"/>
          </a:xfrm>
          <a:prstGeom prst="rect">
            <a:avLst/>
          </a:prstGeom>
          <a:solidFill>
            <a:srgbClr val="FEF6E8"/>
          </a:solidFill>
          <a:ln w="254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1342771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Ingredient 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598803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6666"/>
                </a:solidFill>
                <a:latin typeface="Arial"/>
              </a:defRPr>
            </a:pPr>
            <a:r>
              <a:t>Generic categories, not specific products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1845691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189141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A2B"/>
                </a:solidFill>
                <a:latin typeface="Arial"/>
              </a:defRPr>
            </a:pPr>
            <a:r>
              <a:t>Oil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074291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66666"/>
                </a:solidFill>
                <a:latin typeface="Arial"/>
              </a:defRPr>
            </a:pPr>
            <a:r>
              <a:t>Could be: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21145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Olive oil from Italy | Canola from Canada | Coconut from Thailand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2622931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266865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A2B"/>
                </a:solidFill>
                <a:latin typeface="Arial"/>
              </a:defRPr>
            </a:pPr>
            <a:r>
              <a:t>Vinegar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2851531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66666"/>
                </a:solidFill>
                <a:latin typeface="Arial"/>
              </a:defRPr>
            </a:pPr>
            <a:r>
              <a:t>Could be: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98869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Balsamic | Red wine | Apple cider | Rice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3400171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92040" y="344589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A2B"/>
                </a:solidFill>
                <a:latin typeface="Arial"/>
              </a:defRPr>
            </a:pPr>
            <a:r>
              <a:t>Seasoning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628771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66666"/>
                </a:solidFill>
                <a:latin typeface="Arial"/>
              </a:defRPr>
            </a:pPr>
            <a:r>
              <a:t>Could be: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76593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Salt + pepper | Dijon mustard | Herbs de Provence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348655A-6943-DF8F-A40C-5D5AEE4C902B}"/>
              </a:ext>
            </a:extLst>
          </p:cNvPr>
          <p:cNvGrpSpPr/>
          <p:nvPr/>
        </p:nvGrpSpPr>
        <p:grpSpPr>
          <a:xfrm>
            <a:off x="365760" y="753362"/>
            <a:ext cx="8412480" cy="411480"/>
            <a:chOff x="365760" y="4526280"/>
            <a:chExt cx="8412480" cy="411480"/>
          </a:xfrm>
        </p:grpSpPr>
        <p:sp>
          <p:nvSpPr>
            <p:cNvPr id="34" name="Rectangle 33"/>
            <p:cNvSpPr/>
            <p:nvPr/>
          </p:nvSpPr>
          <p:spPr>
            <a:xfrm>
              <a:off x="365760" y="4526280"/>
              <a:ext cx="8412480" cy="411480"/>
            </a:xfrm>
            <a:prstGeom prst="rect">
              <a:avLst/>
            </a:prstGeom>
            <a:solidFill>
              <a:srgbClr val="F5F5F5"/>
            </a:solidFill>
            <a:ln w="1270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57200" y="4572000"/>
              <a:ext cx="822960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 i="1">
                  <a:solidFill>
                    <a:srgbClr val="666666"/>
                  </a:solidFill>
                  <a:latin typeface="Arial"/>
                </a:defRPr>
              </a:pPr>
              <a:r>
                <a:t>The same recipe works regardless of which specific oil you use — same template works across data standards.</a:t>
              </a:r>
            </a:p>
          </p:txBody>
        </p:sp>
      </p:grpSp>
      <p:sp>
        <p:nvSpPr>
          <p:cNvPr id="37" name="Slide Number Placeholder 4">
            <a:extLst>
              <a:ext uri="{FF2B5EF4-FFF2-40B4-BE49-F238E27FC236}">
                <a16:creationId xmlns:a16="http://schemas.microsoft.com/office/drawing/2014/main" id="{81EB1779-5BBD-881C-BB14-8F0867715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Methods: The Cooking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50183"/>
            <a:ext cx="4114800" cy="3200400"/>
          </a:xfrm>
          <a:prstGeom prst="rect">
            <a:avLst/>
          </a:prstGeom>
          <a:solidFill>
            <a:srgbClr val="E8F4FC"/>
          </a:solidFill>
          <a:ln w="254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41623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366"/>
                </a:solidFill>
                <a:latin typeface="Arial"/>
              </a:defRPr>
            </a:pPr>
            <a:r>
              <a:t>AC/DC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61663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807383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366"/>
                </a:solidFill>
                <a:latin typeface="Arial"/>
              </a:defRPr>
            </a:pPr>
            <a:r>
              <a:t>Derivation Method: Subtraction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35983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ourier New"/>
              </a:defRPr>
            </a:pPr>
            <a:r>
              <a:t>difference := minuend - subtrahend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4583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Arial"/>
              </a:defRPr>
            </a:pPr>
            <a:r>
              <a:t>Roles: minuend (in) | subtrahend (in) | difference (out)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58943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04663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366"/>
                </a:solidFill>
                <a:latin typeface="Arial"/>
              </a:defRPr>
            </a:pPr>
            <a:r>
              <a:t>Analysis Method: ANCOVA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33263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ourier New"/>
              </a:defRPr>
            </a:pPr>
            <a:r>
              <a:t>response ~ covariate +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61863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Arial"/>
              </a:defRPr>
            </a:pPr>
            <a:r>
              <a:t>Roles: response | covariate |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01943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Methods define HOW using named roles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350183"/>
            <a:ext cx="4114800" cy="3200400"/>
          </a:xfrm>
          <a:prstGeom prst="rect">
            <a:avLst/>
          </a:prstGeom>
          <a:solidFill>
            <a:srgbClr val="FEF6E8"/>
          </a:solidFill>
          <a:ln w="254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1441623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Cooking Techniques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1761663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92040" y="1807383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Technique: Emulsification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008551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1. Place [acid] in bowl</a:t>
            </a:r>
            <a:br/>
            <a:r>
              <a:t>2. Slowly drizzle [fat] while whisking</a:t>
            </a:r>
            <a:br/>
            <a:r>
              <a:t>3. Add [seasonings] and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493183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Arial"/>
              </a:defRPr>
            </a:pPr>
            <a:r>
              <a:t>Roles: acid | fat | seasonings | emulsion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2858943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40" y="2904663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A2B"/>
                </a:solidFill>
                <a:latin typeface="Arial"/>
              </a:defRPr>
            </a:pPr>
            <a:r>
              <a:t>Technique: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133263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Simmer [liquid] until volume reduced by [ratio]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361863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Arial"/>
              </a:defRPr>
            </a:pPr>
            <a:r>
              <a:t>Roles: liquid | ratio | concentrated_result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001943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t>Techniques use generic roles, not specific brands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E6C40E6-2A46-4064-DF42-ECDBB57CD99D}"/>
              </a:ext>
            </a:extLst>
          </p:cNvPr>
          <p:cNvGrpSpPr/>
          <p:nvPr/>
        </p:nvGrpSpPr>
        <p:grpSpPr>
          <a:xfrm>
            <a:off x="365760" y="815556"/>
            <a:ext cx="8412480" cy="411480"/>
            <a:chOff x="365760" y="4526280"/>
            <a:chExt cx="8412480" cy="411480"/>
          </a:xfrm>
        </p:grpSpPr>
        <p:sp>
          <p:nvSpPr>
            <p:cNvPr id="26" name="Rectangle 25"/>
            <p:cNvSpPr/>
            <p:nvPr/>
          </p:nvSpPr>
          <p:spPr>
            <a:xfrm>
              <a:off x="365760" y="4526280"/>
              <a:ext cx="8412480" cy="411480"/>
            </a:xfrm>
            <a:prstGeom prst="rect">
              <a:avLst/>
            </a:prstGeom>
            <a:solidFill>
              <a:srgbClr val="F5F5F5"/>
            </a:solidFill>
            <a:ln w="1270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57200" y="4572000"/>
              <a:ext cx="822960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 i="1">
                  <a:solidFill>
                    <a:srgbClr val="666666"/>
                  </a:solidFill>
                  <a:latin typeface="Arial"/>
                </a:defRPr>
              </a:pPr>
              <a:r>
                <a:t>The technique doesn't care what specific oil or vinegar you use — it just combines "fat" and "acid" into an emulsion.</a:t>
              </a:r>
            </a:p>
          </p:txBody>
        </p:sp>
      </p:grpSp>
      <p:sp>
        <p:nvSpPr>
          <p:cNvPr id="29" name="Slide Number Placeholder 4">
            <a:extLst>
              <a:ext uri="{FF2B5EF4-FFF2-40B4-BE49-F238E27FC236}">
                <a16:creationId xmlns:a16="http://schemas.microsoft.com/office/drawing/2014/main" id="{C181EA96-E320-93E6-73D3-E4A60D01D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Three-Layer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  <a:latin typeface="Arial"/>
              </a:defRPr>
            </a:pPr>
            <a:r>
              <a:rPr dirty="0"/>
              <a:t>Both derivation and analysis follow the same pattern: Method → Template →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114800" cy="3246120"/>
          </a:xfrm>
          <a:prstGeom prst="rect">
            <a:avLst/>
          </a:prstGeom>
          <a:solidFill>
            <a:srgbClr val="E8F4FC"/>
          </a:solidFill>
          <a:ln w="254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366"/>
                </a:solidFill>
                <a:latin typeface="Arial"/>
              </a:defRPr>
            </a:pPr>
            <a:r>
              <a:t>AC/DC Framework Layers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METHOD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Derivation: Subtraction, Division</a:t>
            </a:r>
            <a:br/>
            <a:r>
              <a:t>Analysis: t-test, ANCOVA, MMRM, Cox 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66666"/>
                </a:solidFill>
                <a:latin typeface="Arial"/>
              </a:defRPr>
            </a:pPr>
            <a:r>
              <a:t>Pure operations with named roles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77439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42315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TEMPLATE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06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ChangeFromBaseline, PercentChange</a:t>
            </a:r>
            <a:br/>
            <a:r>
              <a:t>CFB_ANCOVA, TTE_CoxPH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26079"/>
            <a:ext cx="3657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66666"/>
                </a:solidFill>
                <a:latin typeface="Arial"/>
              </a:defRPr>
            </a:pPr>
            <a:r>
              <a:rPr dirty="0"/>
              <a:t>Binds </a:t>
            </a:r>
            <a:r>
              <a:rPr lang="da-DK" dirty="0"/>
              <a:t>S</a:t>
            </a:r>
            <a:r>
              <a:rPr dirty="0"/>
              <a:t>T</a:t>
            </a:r>
            <a:r>
              <a:rPr lang="da-DK" dirty="0"/>
              <a:t>C</a:t>
            </a:r>
            <a:r>
              <a:rPr dirty="0"/>
              <a:t>s to method roles for clinical purpose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4612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29183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74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ADaM / SDTM / OMOP variables</a:t>
            </a:r>
            <a:br/>
            <a:r>
              <a:t>R / SAS / Python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9475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66666"/>
                </a:solidFill>
                <a:latin typeface="Arial"/>
              </a:defRPr>
            </a:pPr>
            <a:r>
              <a:t>Physical bindings &amp; code generation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097280"/>
            <a:ext cx="4114800" cy="3246120"/>
          </a:xfrm>
          <a:prstGeom prst="rect">
            <a:avLst/>
          </a:prstGeom>
          <a:solidFill>
            <a:srgbClr val="FEF6E8"/>
          </a:solidFill>
          <a:ln w="254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11887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B5A2B"/>
                </a:solidFill>
                <a:latin typeface="Arial"/>
              </a:defRPr>
            </a:pPr>
            <a:r>
              <a:t>Recipe Parallel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150876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40" y="15544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Emulsification, reduction, sautéing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0574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66666"/>
                </a:solidFill>
                <a:latin typeface="Arial"/>
              </a:defRPr>
            </a:pPr>
            <a:r>
              <a:t>How to combine ingredients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2377439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92040" y="242315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RECIPE CARD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2606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rPr dirty="0"/>
              <a:t>Classic Vinaigrette: oil + vinegar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292607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66666"/>
                </a:solidFill>
                <a:latin typeface="Arial"/>
              </a:defRPr>
            </a:pPr>
            <a:r>
              <a:t>What dish + what ingredients needed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324612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92040" y="329183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t>ACTUAL PRODUCTS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474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Bertolli olive oil, Whole Foods balsamic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79475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66666"/>
                </a:solidFill>
                <a:latin typeface="Arial"/>
              </a:defRPr>
            </a:pPr>
            <a:r>
              <a:t>Physical items from your pantry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79F17A96-AE5C-5A5A-CBAA-DB99D7530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The Core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Derivation and Analysis as Functions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Derivation and Analysis - Functions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dirty="0"/>
                  <a:t>An </a:t>
                </a:r>
                <a:r>
                  <a:rPr lang="en-GB" noProof="0" dirty="0"/>
                  <a:t>analysis or a derivation share the same fundamental structure </a:t>
                </a:r>
              </a:p>
              <a:p>
                <a:pPr marL="0" indent="0">
                  <a:buNone/>
                </a:pPr>
                <a:r>
                  <a:rPr lang="en-GB" noProof="0" dirty="0"/>
                  <a:t>– the </a:t>
                </a:r>
                <a:r>
                  <a:rPr lang="en-GB" noProof="0" dirty="0">
                    <a:solidFill>
                      <a:schemeClr val="accent4">
                        <a:lumMod val="75000"/>
                      </a:schemeClr>
                    </a:solidFill>
                  </a:rPr>
                  <a:t>recipe</a:t>
                </a:r>
                <a:r>
                  <a:rPr lang="en-GB" dirty="0"/>
                  <a:t> – has </a:t>
                </a:r>
                <a:r>
                  <a:rPr lang="en-GB" noProof="0" dirty="0"/>
                  <a:t>this fundamental structure: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𝑶𝑼𝑻𝑷𝑼𝑻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 ( 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𝑰𝑵𝑷𝑼𝑻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b="1" i="1" dirty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GB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a transformation/function/method applied (</a:t>
                </a:r>
                <a:r>
                  <a:rPr lang="en-GB" dirty="0">
                    <a:solidFill>
                      <a:schemeClr val="accent4">
                        <a:lumMod val="75000"/>
                      </a:schemeClr>
                    </a:solidFill>
                  </a:rPr>
                  <a:t>cooking technique</a:t>
                </a:r>
                <a:r>
                  <a:rPr lang="en-GB" dirty="0"/>
                  <a:t>) of an input (</a:t>
                </a:r>
                <a:r>
                  <a:rPr lang="en-GB" dirty="0">
                    <a:solidFill>
                      <a:schemeClr val="accent4">
                        <a:lumMod val="75000"/>
                      </a:schemeClr>
                    </a:solidFill>
                  </a:rPr>
                  <a:t>ingredients</a:t>
                </a:r>
                <a:r>
                  <a:rPr lang="en-GB" dirty="0"/>
                  <a:t>) to provide an output (</a:t>
                </a:r>
                <a:r>
                  <a:rPr lang="en-GB" dirty="0">
                    <a:solidFill>
                      <a:schemeClr val="accent4">
                        <a:lumMod val="75000"/>
                      </a:schemeClr>
                    </a:solidFill>
                  </a:rPr>
                  <a:t>Vinaigrette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sz="2800" b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0100" y="1111250"/>
                <a:ext cx="7886700" cy="3521473"/>
              </a:xfrm>
              <a:blipFill>
                <a:blip r:embed="rId2"/>
                <a:stretch>
                  <a:fillRect l="-1608" t="-28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</a:t>
            </a:r>
            <a:r>
              <a:rPr dirty="0" err="1"/>
              <a:t>ClearDataClearImpact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36BE4-18CF-234C-6F7F-1B43D5A72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9408F-218B-BA0F-D4BE-47DCE0EFF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Layer</a:t>
            </a:r>
            <a:r>
              <a:rPr lang="da-DK" dirty="0"/>
              <a:t>ed</a:t>
            </a:r>
            <a:r>
              <a:rPr dirty="0"/>
              <a:t>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7ECD6-D8DE-E9A8-22A9-AA7DE2606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24A55-5388-7F9A-605F-C23ADB7DFE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t>#ClearDataClearImpact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BA1D2D-8EF9-57B9-2D4D-EF388B6F05D5}"/>
              </a:ext>
            </a:extLst>
          </p:cNvPr>
          <p:cNvSpPr txBox="1"/>
          <p:nvPr/>
        </p:nvSpPr>
        <p:spPr>
          <a:xfrm>
            <a:off x="7401281" y="1065999"/>
            <a:ext cx="10594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TECHNIQUE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13C93-6C58-5473-AC10-4850C3C1A680}"/>
              </a:ext>
            </a:extLst>
          </p:cNvPr>
          <p:cNvSpPr txBox="1"/>
          <p:nvPr/>
        </p:nvSpPr>
        <p:spPr>
          <a:xfrm>
            <a:off x="7401281" y="1957539"/>
            <a:ext cx="10594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RECIPE CARD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A952F8-0279-3661-6234-F516F600DF4C}"/>
              </a:ext>
            </a:extLst>
          </p:cNvPr>
          <p:cNvSpPr txBox="1"/>
          <p:nvPr/>
        </p:nvSpPr>
        <p:spPr>
          <a:xfrm>
            <a:off x="7401281" y="4577629"/>
            <a:ext cx="15159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ACTUAL PRODUCTS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5AF0A8-B7EB-8F6F-8783-65727A12AD05}"/>
              </a:ext>
            </a:extLst>
          </p:cNvPr>
          <p:cNvSpPr txBox="1"/>
          <p:nvPr/>
        </p:nvSpPr>
        <p:spPr>
          <a:xfrm>
            <a:off x="7401281" y="3251749"/>
            <a:ext cx="15159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 b="1" i="0">
                <a:solidFill>
                  <a:srgbClr val="8B5A2B"/>
                </a:solidFill>
                <a:latin typeface="Arial"/>
              </a:defRPr>
            </a:lvl1pPr>
          </a:lstStyle>
          <a:p>
            <a:r>
              <a:rPr lang="en-GB" dirty="0"/>
              <a:t>INGREDIENT TYPES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46332E7-CA02-3747-51C7-15D62189CBBC}"/>
              </a:ext>
            </a:extLst>
          </p:cNvPr>
          <p:cNvSpPr/>
          <p:nvPr/>
        </p:nvSpPr>
        <p:spPr>
          <a:xfrm>
            <a:off x="630454" y="837399"/>
            <a:ext cx="6719104" cy="640080"/>
          </a:xfrm>
          <a:prstGeom prst="roundRect">
            <a:avLst/>
          </a:prstGeom>
          <a:solidFill>
            <a:srgbClr val="1A5A8A"/>
          </a:solidFill>
          <a:ln w="25400">
            <a:solidFill>
              <a:srgbClr val="A1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FFFFFF"/>
                </a:solidFill>
                <a:latin typeface="Arial"/>
              </a:defRPr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METHODS LIBRARY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3CBFF0D-C85D-53A7-2F4A-C2478CAD0EA7}"/>
              </a:ext>
            </a:extLst>
          </p:cNvPr>
          <p:cNvSpPr/>
          <p:nvPr/>
        </p:nvSpPr>
        <p:spPr>
          <a:xfrm>
            <a:off x="721895" y="1128315"/>
            <a:ext cx="3123398" cy="274320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Arial"/>
              </a:defRPr>
            </a:pPr>
            <a:r>
              <a:t>Derivation Methods (Subtraction, DateDiff, Aggregation, ...)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B04C4BB-B13A-A178-23AF-3C8C9054DC65}"/>
              </a:ext>
            </a:extLst>
          </p:cNvPr>
          <p:cNvSpPr/>
          <p:nvPr/>
        </p:nvSpPr>
        <p:spPr>
          <a:xfrm>
            <a:off x="4043091" y="1128315"/>
            <a:ext cx="3123398" cy="274320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Arial"/>
              </a:defRPr>
            </a:pPr>
            <a:r>
              <a:t>Analysis Methods (ANCOVA, MMRM, Cox PH, ...)</a:t>
            </a:r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09C37D3C-F28E-5007-2A73-EB4CE9A31049}"/>
              </a:ext>
            </a:extLst>
          </p:cNvPr>
          <p:cNvSpPr/>
          <p:nvPr/>
        </p:nvSpPr>
        <p:spPr>
          <a:xfrm>
            <a:off x="3807126" y="1523199"/>
            <a:ext cx="365760" cy="182880"/>
          </a:xfrm>
          <a:prstGeom prst="downArrow">
            <a:avLst/>
          </a:prstGeom>
          <a:solidFill>
            <a:srgbClr val="A1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29BBC1A-000B-4CEC-70CE-A3CF25106652}"/>
              </a:ext>
            </a:extLst>
          </p:cNvPr>
          <p:cNvSpPr/>
          <p:nvPr/>
        </p:nvSpPr>
        <p:spPr>
          <a:xfrm>
            <a:off x="630455" y="1751799"/>
            <a:ext cx="6719103" cy="594360"/>
          </a:xfrm>
          <a:prstGeom prst="roundRect">
            <a:avLst/>
          </a:prstGeom>
          <a:solidFill>
            <a:srgbClr val="1A5A8A"/>
          </a:solidFill>
          <a:ln w="25400">
            <a:solidFill>
              <a:srgbClr val="A1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FFFFFF"/>
                </a:solidFill>
                <a:latin typeface="Arial"/>
              </a:defRPr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TEMPLATES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4C16C5A-C061-41D7-682F-B765E536E0EB}"/>
              </a:ext>
            </a:extLst>
          </p:cNvPr>
          <p:cNvSpPr/>
          <p:nvPr/>
        </p:nvSpPr>
        <p:spPr>
          <a:xfrm>
            <a:off x="1011255" y="1997456"/>
            <a:ext cx="2440004" cy="274320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Arial"/>
              </a:defRPr>
            </a:pPr>
            <a:r>
              <a:rPr lang="en-GB" dirty="0"/>
              <a:t>Derivation Templates (derivation role bindings)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1EA333A-C007-2938-B081-4E9C94EAA0F8}"/>
              </a:ext>
            </a:extLst>
          </p:cNvPr>
          <p:cNvSpPr/>
          <p:nvPr/>
        </p:nvSpPr>
        <p:spPr>
          <a:xfrm>
            <a:off x="4277045" y="1997456"/>
            <a:ext cx="2440004" cy="274320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Arial"/>
              </a:defRPr>
            </a:pPr>
            <a:r>
              <a:t>Analysis Templates (analysis role bindings)</a:t>
            </a:r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7FA8439E-5B32-2EA1-DAEA-28F4115D96D6}"/>
              </a:ext>
            </a:extLst>
          </p:cNvPr>
          <p:cNvSpPr/>
          <p:nvPr/>
        </p:nvSpPr>
        <p:spPr>
          <a:xfrm>
            <a:off x="3807126" y="2391879"/>
            <a:ext cx="365760" cy="182880"/>
          </a:xfrm>
          <a:prstGeom prst="downArrow">
            <a:avLst/>
          </a:prstGeom>
          <a:solidFill>
            <a:srgbClr val="A1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E3C73F4-4694-4C52-8BF6-959EA21FBF06}"/>
              </a:ext>
            </a:extLst>
          </p:cNvPr>
          <p:cNvSpPr/>
          <p:nvPr/>
        </p:nvSpPr>
        <p:spPr>
          <a:xfrm>
            <a:off x="630456" y="2620479"/>
            <a:ext cx="6719101" cy="1508760"/>
          </a:xfrm>
          <a:prstGeom prst="roundRect">
            <a:avLst/>
          </a:prstGeom>
          <a:solidFill>
            <a:srgbClr val="1A5A8A"/>
          </a:solidFill>
          <a:ln w="25400">
            <a:solidFill>
              <a:srgbClr val="A1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FFFFFF"/>
                </a:solidFill>
                <a:latin typeface="Arial"/>
              </a:defRPr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CLINICAL SEMANTIC TRANSFORMATION MODEL (CSTM)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A1D0CA"/>
                </a:solidFill>
                <a:latin typeface="Arial"/>
              </a:defRPr>
            </a:pPr>
            <a:r>
              <a:rPr kumimoji="0" lang="en-GB" sz="900" b="0" i="0" u="none" strike="noStrike" kern="1200" cap="none" spc="0" normalizeH="0" baseline="0" noProof="1">
                <a:ln>
                  <a:noFill/>
                </a:ln>
                <a:solidFill>
                  <a:srgbClr val="A1D0C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Semantic Transformation Concept (STC)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040090A-C978-0397-259A-CD00F9DA94A2}"/>
              </a:ext>
            </a:extLst>
          </p:cNvPr>
          <p:cNvSpPr/>
          <p:nvPr/>
        </p:nvSpPr>
        <p:spPr>
          <a:xfrm>
            <a:off x="1082842" y="3147460"/>
            <a:ext cx="2639894" cy="856225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Arial"/>
              </a:defRPr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Observation-level STCs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FFFFFF"/>
                </a:solidFill>
                <a:latin typeface="Arial"/>
              </a:defRPr>
            </a:pP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FFFFFF"/>
                </a:solidFill>
                <a:latin typeface="Arial"/>
              </a:defRPr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• Value (observation, analysis, baseline, change)</a:t>
            </a:r>
            <a:b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• Timing (visit, timepoint, period)</a:t>
            </a:r>
            <a:b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• Treatment, Flags, Identity, TTE, Parameter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4150FA4-6539-E286-9FEB-B2C8F1F344D0}"/>
              </a:ext>
            </a:extLst>
          </p:cNvPr>
          <p:cNvSpPr/>
          <p:nvPr/>
        </p:nvSpPr>
        <p:spPr>
          <a:xfrm>
            <a:off x="4652131" y="3147460"/>
            <a:ext cx="2363002" cy="856225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Arial"/>
              </a:defRPr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Inference-level STCs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FFFFFF"/>
                </a:solidFill>
                <a:latin typeface="Arial"/>
              </a:defRPr>
            </a:pP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FFFFFF"/>
                </a:solidFill>
                <a:latin typeface="Arial"/>
              </a:defRPr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• Estimates (point estimate, LS mean, HR)</a:t>
            </a:r>
            <a:b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• Interval (CI, prediction interval)</a:t>
            </a:r>
            <a:b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• Tests (p-value, test statistic)</a:t>
            </a:r>
          </a:p>
        </p:txBody>
      </p:sp>
      <p:sp>
        <p:nvSpPr>
          <p:cNvPr id="32" name="Down Arrow 31">
            <a:extLst>
              <a:ext uri="{FF2B5EF4-FFF2-40B4-BE49-F238E27FC236}">
                <a16:creationId xmlns:a16="http://schemas.microsoft.com/office/drawing/2014/main" id="{DD0399C1-3550-E2F1-4275-825F3126F55E}"/>
              </a:ext>
            </a:extLst>
          </p:cNvPr>
          <p:cNvSpPr/>
          <p:nvPr/>
        </p:nvSpPr>
        <p:spPr>
          <a:xfrm flipH="1" flipV="1">
            <a:off x="3807126" y="4174959"/>
            <a:ext cx="365760" cy="182880"/>
          </a:xfrm>
          <a:prstGeom prst="downArrow">
            <a:avLst/>
          </a:prstGeom>
          <a:solidFill>
            <a:srgbClr val="A1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8413D35-E1E8-521B-714C-212F443ABB88}"/>
              </a:ext>
            </a:extLst>
          </p:cNvPr>
          <p:cNvSpPr/>
          <p:nvPr/>
        </p:nvSpPr>
        <p:spPr>
          <a:xfrm>
            <a:off x="630456" y="4403559"/>
            <a:ext cx="6719101" cy="594360"/>
          </a:xfrm>
          <a:prstGeom prst="roundRect">
            <a:avLst/>
          </a:prstGeom>
          <a:solidFill>
            <a:srgbClr val="1A5A8A"/>
          </a:solidFill>
          <a:ln w="25400">
            <a:solidFill>
              <a:srgbClr val="A1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FFFFFF"/>
                </a:solidFill>
                <a:latin typeface="Arial"/>
              </a:defRPr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IMPLEMENTATION BINDINGS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5310FFF-F934-0D7F-062A-7BF7D334C8B3}"/>
              </a:ext>
            </a:extLst>
          </p:cNvPr>
          <p:cNvSpPr/>
          <p:nvPr/>
        </p:nvSpPr>
        <p:spPr>
          <a:xfrm>
            <a:off x="761420" y="4684997"/>
            <a:ext cx="893104" cy="256032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ADaM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8BACD0F-D4B6-0104-182E-0A0C44E69160}"/>
              </a:ext>
            </a:extLst>
          </p:cNvPr>
          <p:cNvSpPr/>
          <p:nvPr/>
        </p:nvSpPr>
        <p:spPr>
          <a:xfrm>
            <a:off x="1863813" y="4684997"/>
            <a:ext cx="893104" cy="256032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SDTM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06725C2-CF39-8B15-77C8-27E31060E1D1}"/>
              </a:ext>
            </a:extLst>
          </p:cNvPr>
          <p:cNvSpPr/>
          <p:nvPr/>
        </p:nvSpPr>
        <p:spPr>
          <a:xfrm>
            <a:off x="2966206" y="4684997"/>
            <a:ext cx="893104" cy="256032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OMOP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79185060-1783-499A-576C-4481B6ADC7B0}"/>
              </a:ext>
            </a:extLst>
          </p:cNvPr>
          <p:cNvSpPr/>
          <p:nvPr/>
        </p:nvSpPr>
        <p:spPr>
          <a:xfrm>
            <a:off x="4068599" y="4684997"/>
            <a:ext cx="893104" cy="256032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FHIR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33D171F-A7F5-A86E-EC74-36D26257DA53}"/>
              </a:ext>
            </a:extLst>
          </p:cNvPr>
          <p:cNvSpPr/>
          <p:nvPr/>
        </p:nvSpPr>
        <p:spPr>
          <a:xfrm>
            <a:off x="5170992" y="4684997"/>
            <a:ext cx="893104" cy="256032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USDM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449FCFB-062E-357D-D579-B2DA9D0163CB}"/>
              </a:ext>
            </a:extLst>
          </p:cNvPr>
          <p:cNvSpPr/>
          <p:nvPr/>
        </p:nvSpPr>
        <p:spPr>
          <a:xfrm>
            <a:off x="6273385" y="4684997"/>
            <a:ext cx="893104" cy="256032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4227911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D06E7-9EE3-189C-7D9C-0B4B152CE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framework model - conceptually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C28590-4D24-DB01-A75D-06E170E3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C20A63-38E5-2C92-3118-7A04F00E6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82418" y="4719385"/>
            <a:ext cx="4676172" cy="273844"/>
          </a:xfrm>
        </p:spPr>
        <p:txBody>
          <a:bodyPr/>
          <a:lstStyle/>
          <a:p>
            <a:r>
              <a:rPr lang="en-US" dirty="0"/>
              <a:t>#</a:t>
            </a:r>
            <a:r>
              <a:rPr lang="en-US" dirty="0" err="1"/>
              <a:t>ClearDataClearImpact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5BA104-B5C1-566E-A790-A61C53608534}"/>
              </a:ext>
            </a:extLst>
          </p:cNvPr>
          <p:cNvSpPr/>
          <p:nvPr/>
        </p:nvSpPr>
        <p:spPr>
          <a:xfrm>
            <a:off x="684595" y="1071438"/>
            <a:ext cx="2702011" cy="32786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1200" dirty="0">
                <a:solidFill>
                  <a:schemeClr val="accent1"/>
                </a:solidFill>
              </a:rPr>
              <a:t>Analysis/derivation specification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291BBC8-83E8-E8DC-75D5-A46BE9ACF4E9}"/>
              </a:ext>
            </a:extLst>
          </p:cNvPr>
          <p:cNvSpPr/>
          <p:nvPr/>
        </p:nvSpPr>
        <p:spPr>
          <a:xfrm>
            <a:off x="3799810" y="1073520"/>
            <a:ext cx="2030061" cy="327865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1200" dirty="0">
                <a:solidFill>
                  <a:schemeClr val="accent2">
                    <a:lumMod val="50000"/>
                  </a:schemeClr>
                </a:solidFill>
              </a:rPr>
              <a:t>Clinical Semantic Transformation Model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F797E4D-D32F-6E95-9F97-07B524AAB1BB}"/>
              </a:ext>
            </a:extLst>
          </p:cNvPr>
          <p:cNvSpPr/>
          <p:nvPr/>
        </p:nvSpPr>
        <p:spPr>
          <a:xfrm>
            <a:off x="6243075" y="1071437"/>
            <a:ext cx="2702011" cy="327865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1200" dirty="0">
                <a:solidFill>
                  <a:schemeClr val="accent3"/>
                </a:solidFill>
              </a:rPr>
              <a:t>Standard/Study Implementation</a:t>
            </a:r>
          </a:p>
        </p:txBody>
      </p: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635ED4C4-0920-3F9E-FE9A-FE18464C29D6}"/>
              </a:ext>
            </a:extLst>
          </p:cNvPr>
          <p:cNvCxnSpPr>
            <a:cxnSpLocks/>
            <a:stCxn id="26" idx="3"/>
            <a:endCxn id="92" idx="1"/>
          </p:cNvCxnSpPr>
          <p:nvPr/>
        </p:nvCxnSpPr>
        <p:spPr>
          <a:xfrm flipV="1">
            <a:off x="3262217" y="1991863"/>
            <a:ext cx="1145380" cy="481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8C5ECFA-A2F0-3BC3-5EFD-B63EAC0AC6B6}"/>
              </a:ext>
            </a:extLst>
          </p:cNvPr>
          <p:cNvSpPr txBox="1"/>
          <p:nvPr/>
        </p:nvSpPr>
        <p:spPr>
          <a:xfrm>
            <a:off x="3836184" y="1769891"/>
            <a:ext cx="4010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accent2">
                    <a:lumMod val="50000"/>
                  </a:schemeClr>
                </a:solidFill>
              </a:rPr>
              <a:t>Is 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1E8236-DA78-5C64-76E3-36ECED208FEF}"/>
              </a:ext>
            </a:extLst>
          </p:cNvPr>
          <p:cNvSpPr txBox="1"/>
          <p:nvPr/>
        </p:nvSpPr>
        <p:spPr>
          <a:xfrm>
            <a:off x="5347015" y="1754807"/>
            <a:ext cx="4010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accent2">
                    <a:lumMod val="50000"/>
                  </a:schemeClr>
                </a:solidFill>
              </a:rPr>
              <a:t>Is a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EEB8B33-3E14-97B2-1174-2BE05801D6AC}"/>
              </a:ext>
            </a:extLst>
          </p:cNvPr>
          <p:cNvSpPr/>
          <p:nvPr/>
        </p:nvSpPr>
        <p:spPr>
          <a:xfrm>
            <a:off x="830950" y="1602181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AC/DC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13ED4B9-D737-1AC2-5DE2-32C9721F6697}"/>
              </a:ext>
            </a:extLst>
          </p:cNvPr>
          <p:cNvSpPr/>
          <p:nvPr/>
        </p:nvSpPr>
        <p:spPr>
          <a:xfrm>
            <a:off x="830950" y="2458947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Method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5DC800B1-C268-3C15-88F1-DC97264B3BA3}"/>
              </a:ext>
            </a:extLst>
          </p:cNvPr>
          <p:cNvCxnSpPr>
            <a:cxnSpLocks/>
            <a:stCxn id="18" idx="0"/>
            <a:endCxn id="17" idx="2"/>
          </p:cNvCxnSpPr>
          <p:nvPr/>
        </p:nvCxnSpPr>
        <p:spPr>
          <a:xfrm rot="5400000" flipH="1" flipV="1">
            <a:off x="855329" y="2185924"/>
            <a:ext cx="546047" cy="12700"/>
          </a:xfrm>
          <a:prstGeom prst="curvedConnector3">
            <a:avLst/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5E25D77-F980-9EFF-877A-406EE2F069AA}"/>
              </a:ext>
            </a:extLst>
          </p:cNvPr>
          <p:cNvSpPr/>
          <p:nvPr/>
        </p:nvSpPr>
        <p:spPr>
          <a:xfrm>
            <a:off x="1694303" y="1958205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Input Cube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463FBDF-13D9-1B90-EBE9-E379808C0A2C}"/>
              </a:ext>
            </a:extLst>
          </p:cNvPr>
          <p:cNvSpPr/>
          <p:nvPr/>
        </p:nvSpPr>
        <p:spPr>
          <a:xfrm>
            <a:off x="1694303" y="2985798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Output Cube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D283D98-A7F0-D2F8-4BEE-C5AC77323BBB}"/>
              </a:ext>
            </a:extLst>
          </p:cNvPr>
          <p:cNvSpPr/>
          <p:nvPr/>
        </p:nvSpPr>
        <p:spPr>
          <a:xfrm>
            <a:off x="830950" y="3114563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Slice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1627F2F-FF20-1EEA-529E-610A0ED8CF19}"/>
              </a:ext>
            </a:extLst>
          </p:cNvPr>
          <p:cNvSpPr/>
          <p:nvPr/>
        </p:nvSpPr>
        <p:spPr>
          <a:xfrm>
            <a:off x="2667413" y="1841315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Dimension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F8BADD9-526A-81C6-3FC5-8333925EBA28}"/>
              </a:ext>
            </a:extLst>
          </p:cNvPr>
          <p:cNvSpPr/>
          <p:nvPr/>
        </p:nvSpPr>
        <p:spPr>
          <a:xfrm>
            <a:off x="2667413" y="3336991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Attribute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D7ACE31E-6C38-F2CB-4B45-F4C55FB22136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1425754" y="2113565"/>
            <a:ext cx="268549" cy="500742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5EF508A9-64B9-488D-36FF-4F80B1B0961E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1425754" y="2614307"/>
            <a:ext cx="268549" cy="526851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6757806C-368F-6A25-40F2-233408B9A398}"/>
              </a:ext>
            </a:extLst>
          </p:cNvPr>
          <p:cNvCxnSpPr>
            <a:cxnSpLocks/>
            <a:stCxn id="21" idx="3"/>
            <a:endCxn id="26" idx="1"/>
          </p:cNvCxnSpPr>
          <p:nvPr/>
        </p:nvCxnSpPr>
        <p:spPr>
          <a:xfrm flipV="1">
            <a:off x="2289107" y="1996675"/>
            <a:ext cx="378306" cy="116890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49B2CD8F-CAB5-6E1C-DAD5-3089181A36ED}"/>
              </a:ext>
            </a:extLst>
          </p:cNvPr>
          <p:cNvCxnSpPr>
            <a:cxnSpLocks/>
            <a:stCxn id="21" idx="3"/>
            <a:endCxn id="27" idx="1"/>
          </p:cNvCxnSpPr>
          <p:nvPr/>
        </p:nvCxnSpPr>
        <p:spPr>
          <a:xfrm>
            <a:off x="2289107" y="2113565"/>
            <a:ext cx="378306" cy="630948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5D4A67CF-459A-C392-B0E0-3858836B4F48}"/>
              </a:ext>
            </a:extLst>
          </p:cNvPr>
          <p:cNvCxnSpPr>
            <a:cxnSpLocks/>
            <a:stCxn id="21" idx="3"/>
            <a:endCxn id="28" idx="1"/>
          </p:cNvCxnSpPr>
          <p:nvPr/>
        </p:nvCxnSpPr>
        <p:spPr>
          <a:xfrm>
            <a:off x="2289107" y="2113565"/>
            <a:ext cx="378306" cy="1378786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08C1CBAD-29FD-AB3A-E390-9F4087F1A25D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 flipV="1">
            <a:off x="2289107" y="1996675"/>
            <a:ext cx="378306" cy="1144483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>
            <a:extLst>
              <a:ext uri="{FF2B5EF4-FFF2-40B4-BE49-F238E27FC236}">
                <a16:creationId xmlns:a16="http://schemas.microsoft.com/office/drawing/2014/main" id="{620886D8-C343-D9F2-381A-64453E25033A}"/>
              </a:ext>
            </a:extLst>
          </p:cNvPr>
          <p:cNvCxnSpPr>
            <a:cxnSpLocks/>
            <a:stCxn id="22" idx="3"/>
            <a:endCxn id="28" idx="1"/>
          </p:cNvCxnSpPr>
          <p:nvPr/>
        </p:nvCxnSpPr>
        <p:spPr>
          <a:xfrm>
            <a:off x="2289107" y="3141158"/>
            <a:ext cx="378306" cy="351193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65246D82-2D6D-D4E0-6145-A2FB5DF29B23}"/>
              </a:ext>
            </a:extLst>
          </p:cNvPr>
          <p:cNvCxnSpPr>
            <a:cxnSpLocks/>
            <a:stCxn id="22" idx="3"/>
            <a:endCxn id="27" idx="1"/>
          </p:cNvCxnSpPr>
          <p:nvPr/>
        </p:nvCxnSpPr>
        <p:spPr>
          <a:xfrm flipV="1">
            <a:off x="2289107" y="2744513"/>
            <a:ext cx="378306" cy="396645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urved Connector 77">
            <a:extLst>
              <a:ext uri="{FF2B5EF4-FFF2-40B4-BE49-F238E27FC236}">
                <a16:creationId xmlns:a16="http://schemas.microsoft.com/office/drawing/2014/main" id="{324BFC58-3BE4-F562-9466-8C6D4DDB3A02}"/>
              </a:ext>
            </a:extLst>
          </p:cNvPr>
          <p:cNvCxnSpPr>
            <a:cxnSpLocks/>
            <a:stCxn id="25" idx="3"/>
            <a:endCxn id="22" idx="1"/>
          </p:cNvCxnSpPr>
          <p:nvPr/>
        </p:nvCxnSpPr>
        <p:spPr>
          <a:xfrm flipV="1">
            <a:off x="1425754" y="3141158"/>
            <a:ext cx="268549" cy="128765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urved Connector 80">
            <a:extLst>
              <a:ext uri="{FF2B5EF4-FFF2-40B4-BE49-F238E27FC236}">
                <a16:creationId xmlns:a16="http://schemas.microsoft.com/office/drawing/2014/main" id="{CF82924A-FCB7-DF6B-AAAD-0F3360B745D0}"/>
              </a:ext>
            </a:extLst>
          </p:cNvPr>
          <p:cNvCxnSpPr>
            <a:cxnSpLocks/>
            <a:stCxn id="25" idx="3"/>
            <a:endCxn id="21" idx="1"/>
          </p:cNvCxnSpPr>
          <p:nvPr/>
        </p:nvCxnSpPr>
        <p:spPr>
          <a:xfrm flipV="1">
            <a:off x="1425754" y="2113565"/>
            <a:ext cx="268549" cy="1156358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5B58E88-68BE-3E17-3B5F-3525620856DF}"/>
              </a:ext>
            </a:extLst>
          </p:cNvPr>
          <p:cNvSpPr/>
          <p:nvPr/>
        </p:nvSpPr>
        <p:spPr>
          <a:xfrm>
            <a:off x="4407597" y="1836503"/>
            <a:ext cx="594804" cy="310719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Concept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222102D0-FE97-73F2-F485-915E76CD40B2}"/>
              </a:ext>
            </a:extLst>
          </p:cNvPr>
          <p:cNvSpPr/>
          <p:nvPr/>
        </p:nvSpPr>
        <p:spPr>
          <a:xfrm>
            <a:off x="4389297" y="2581193"/>
            <a:ext cx="594804" cy="310719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Concept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FD50188E-82CA-1118-61CA-257BC6351911}"/>
              </a:ext>
            </a:extLst>
          </p:cNvPr>
          <p:cNvSpPr/>
          <p:nvPr/>
        </p:nvSpPr>
        <p:spPr>
          <a:xfrm>
            <a:off x="4389297" y="3336519"/>
            <a:ext cx="594804" cy="310719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Concept</a:t>
            </a:r>
          </a:p>
        </p:txBody>
      </p:sp>
      <p:cxnSp>
        <p:nvCxnSpPr>
          <p:cNvPr id="99" name="Curved Connector 98">
            <a:extLst>
              <a:ext uri="{FF2B5EF4-FFF2-40B4-BE49-F238E27FC236}">
                <a16:creationId xmlns:a16="http://schemas.microsoft.com/office/drawing/2014/main" id="{E426F983-A135-A87E-97FA-1438993A2D87}"/>
              </a:ext>
            </a:extLst>
          </p:cNvPr>
          <p:cNvCxnSpPr>
            <a:cxnSpLocks/>
            <a:stCxn id="27" idx="3"/>
            <a:endCxn id="93" idx="1"/>
          </p:cNvCxnSpPr>
          <p:nvPr/>
        </p:nvCxnSpPr>
        <p:spPr>
          <a:xfrm flipV="1">
            <a:off x="3262217" y="2736553"/>
            <a:ext cx="1127080" cy="796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urved Connector 101">
            <a:extLst>
              <a:ext uri="{FF2B5EF4-FFF2-40B4-BE49-F238E27FC236}">
                <a16:creationId xmlns:a16="http://schemas.microsoft.com/office/drawing/2014/main" id="{64CC11AE-380B-F07D-8FA7-112494D6A43E}"/>
              </a:ext>
            </a:extLst>
          </p:cNvPr>
          <p:cNvCxnSpPr>
            <a:cxnSpLocks/>
            <a:stCxn id="28" idx="3"/>
            <a:endCxn id="94" idx="1"/>
          </p:cNvCxnSpPr>
          <p:nvPr/>
        </p:nvCxnSpPr>
        <p:spPr>
          <a:xfrm flipV="1">
            <a:off x="3262217" y="3491879"/>
            <a:ext cx="1127080" cy="47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80D5179-55E7-DE51-01EB-F78D03461610}"/>
              </a:ext>
            </a:extLst>
          </p:cNvPr>
          <p:cNvSpPr/>
          <p:nvPr/>
        </p:nvSpPr>
        <p:spPr>
          <a:xfrm>
            <a:off x="2667413" y="2589153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Measure</a:t>
            </a:r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F66C2853-735A-B32B-C799-F8C3C87B2806}"/>
              </a:ext>
            </a:extLst>
          </p:cNvPr>
          <p:cNvSpPr/>
          <p:nvPr/>
        </p:nvSpPr>
        <p:spPr>
          <a:xfrm>
            <a:off x="6594968" y="1757540"/>
            <a:ext cx="594804" cy="310719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 err="1"/>
              <a:t>ADaM</a:t>
            </a:r>
            <a:r>
              <a:rPr lang="en-GB" sz="600" dirty="0"/>
              <a:t> Standard Variable</a:t>
            </a:r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B4378404-4071-D206-1A87-B0B9E04F6E1B}"/>
              </a:ext>
            </a:extLst>
          </p:cNvPr>
          <p:cNvSpPr/>
          <p:nvPr/>
        </p:nvSpPr>
        <p:spPr>
          <a:xfrm>
            <a:off x="7487174" y="1596274"/>
            <a:ext cx="594804" cy="310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 err="1"/>
              <a:t>ADaM</a:t>
            </a:r>
            <a:r>
              <a:rPr lang="en-GB" sz="600" dirty="0"/>
              <a:t> Sponsor Variable</a:t>
            </a:r>
          </a:p>
        </p:txBody>
      </p:sp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A14DEAC8-2BE9-FE75-23CC-96360661ADDB}"/>
              </a:ext>
            </a:extLst>
          </p:cNvPr>
          <p:cNvSpPr/>
          <p:nvPr/>
        </p:nvSpPr>
        <p:spPr>
          <a:xfrm>
            <a:off x="8287135" y="1949901"/>
            <a:ext cx="594804" cy="310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 err="1"/>
              <a:t>ADaM</a:t>
            </a:r>
            <a:r>
              <a:rPr lang="en-GB" sz="600" dirty="0"/>
              <a:t> Sponsor Dataset</a:t>
            </a: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19A18A40-B5B4-EE1D-F25B-47D9F28098EC}"/>
              </a:ext>
            </a:extLst>
          </p:cNvPr>
          <p:cNvSpPr/>
          <p:nvPr/>
        </p:nvSpPr>
        <p:spPr>
          <a:xfrm>
            <a:off x="6599119" y="2130272"/>
            <a:ext cx="594804" cy="310719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 err="1"/>
              <a:t>ADaM</a:t>
            </a:r>
            <a:r>
              <a:rPr lang="en-GB" sz="600" dirty="0"/>
              <a:t> Standard Variable</a:t>
            </a:r>
          </a:p>
        </p:txBody>
      </p: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FF88711C-3B72-0E9C-B510-F2BFED34DE81}"/>
              </a:ext>
            </a:extLst>
          </p:cNvPr>
          <p:cNvSpPr/>
          <p:nvPr/>
        </p:nvSpPr>
        <p:spPr>
          <a:xfrm>
            <a:off x="7487174" y="1949901"/>
            <a:ext cx="594804" cy="310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 err="1"/>
              <a:t>ADaM</a:t>
            </a:r>
            <a:r>
              <a:rPr lang="en-GB" sz="600" dirty="0"/>
              <a:t> Sponsor Variable</a:t>
            </a:r>
          </a:p>
        </p:txBody>
      </p: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F80DD00F-30E8-4AF6-1088-F99047BCB8CE}"/>
              </a:ext>
            </a:extLst>
          </p:cNvPr>
          <p:cNvSpPr/>
          <p:nvPr/>
        </p:nvSpPr>
        <p:spPr>
          <a:xfrm>
            <a:off x="7487174" y="2345111"/>
            <a:ext cx="594804" cy="310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 err="1"/>
              <a:t>ADaM</a:t>
            </a:r>
            <a:r>
              <a:rPr lang="en-GB" sz="600" dirty="0"/>
              <a:t> Sponsor Variable</a:t>
            </a:r>
          </a:p>
        </p:txBody>
      </p:sp>
      <p:cxnSp>
        <p:nvCxnSpPr>
          <p:cNvPr id="174" name="Curved Connector 173">
            <a:extLst>
              <a:ext uri="{FF2B5EF4-FFF2-40B4-BE49-F238E27FC236}">
                <a16:creationId xmlns:a16="http://schemas.microsoft.com/office/drawing/2014/main" id="{458C293C-2474-D3BB-E51C-CDBE26ED9C9E}"/>
              </a:ext>
            </a:extLst>
          </p:cNvPr>
          <p:cNvCxnSpPr>
            <a:cxnSpLocks/>
            <a:stCxn id="169" idx="1"/>
            <a:endCxn id="168" idx="3"/>
          </p:cNvCxnSpPr>
          <p:nvPr/>
        </p:nvCxnSpPr>
        <p:spPr>
          <a:xfrm rot="10800000">
            <a:off x="8081979" y="1751635"/>
            <a:ext cx="205157" cy="353627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urved Connector 176">
            <a:extLst>
              <a:ext uri="{FF2B5EF4-FFF2-40B4-BE49-F238E27FC236}">
                <a16:creationId xmlns:a16="http://schemas.microsoft.com/office/drawing/2014/main" id="{44052915-A687-F024-D4B3-13B07524C91A}"/>
              </a:ext>
            </a:extLst>
          </p:cNvPr>
          <p:cNvCxnSpPr>
            <a:cxnSpLocks/>
            <a:stCxn id="169" idx="1"/>
            <a:endCxn id="172" idx="3"/>
          </p:cNvCxnSpPr>
          <p:nvPr/>
        </p:nvCxnSpPr>
        <p:spPr>
          <a:xfrm rot="10800000">
            <a:off x="8081979" y="2105261"/>
            <a:ext cx="205157" cy="12700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urved Connector 179">
            <a:extLst>
              <a:ext uri="{FF2B5EF4-FFF2-40B4-BE49-F238E27FC236}">
                <a16:creationId xmlns:a16="http://schemas.microsoft.com/office/drawing/2014/main" id="{34B8A817-8CA7-235B-A4BD-94BDE828D4AD}"/>
              </a:ext>
            </a:extLst>
          </p:cNvPr>
          <p:cNvCxnSpPr>
            <a:cxnSpLocks/>
            <a:stCxn id="169" idx="1"/>
            <a:endCxn id="173" idx="3"/>
          </p:cNvCxnSpPr>
          <p:nvPr/>
        </p:nvCxnSpPr>
        <p:spPr>
          <a:xfrm rot="10800000" flipV="1">
            <a:off x="8081979" y="2105261"/>
            <a:ext cx="205157" cy="395210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urved Connector 185">
            <a:extLst>
              <a:ext uri="{FF2B5EF4-FFF2-40B4-BE49-F238E27FC236}">
                <a16:creationId xmlns:a16="http://schemas.microsoft.com/office/drawing/2014/main" id="{02DD08F3-421A-0C0F-2AA9-0F078C9793E2}"/>
              </a:ext>
            </a:extLst>
          </p:cNvPr>
          <p:cNvCxnSpPr>
            <a:cxnSpLocks/>
            <a:stCxn id="173" idx="1"/>
            <a:endCxn id="170" idx="3"/>
          </p:cNvCxnSpPr>
          <p:nvPr/>
        </p:nvCxnSpPr>
        <p:spPr>
          <a:xfrm rot="10800000">
            <a:off x="7193924" y="2285633"/>
            <a:ext cx="293251" cy="214839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urved Connector 188">
            <a:extLst>
              <a:ext uri="{FF2B5EF4-FFF2-40B4-BE49-F238E27FC236}">
                <a16:creationId xmlns:a16="http://schemas.microsoft.com/office/drawing/2014/main" id="{6592C3E8-7209-A378-0CE9-93CB2DE355B7}"/>
              </a:ext>
            </a:extLst>
          </p:cNvPr>
          <p:cNvCxnSpPr>
            <a:cxnSpLocks/>
            <a:stCxn id="168" idx="1"/>
            <a:endCxn id="167" idx="3"/>
          </p:cNvCxnSpPr>
          <p:nvPr/>
        </p:nvCxnSpPr>
        <p:spPr>
          <a:xfrm rot="10800000" flipV="1">
            <a:off x="7189772" y="1751634"/>
            <a:ext cx="297402" cy="161266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urved Connector 191">
            <a:extLst>
              <a:ext uri="{FF2B5EF4-FFF2-40B4-BE49-F238E27FC236}">
                <a16:creationId xmlns:a16="http://schemas.microsoft.com/office/drawing/2014/main" id="{E15F5760-3291-C6E0-7E05-426EE1B42D17}"/>
              </a:ext>
            </a:extLst>
          </p:cNvPr>
          <p:cNvCxnSpPr>
            <a:cxnSpLocks/>
            <a:stCxn id="172" idx="1"/>
            <a:endCxn id="167" idx="3"/>
          </p:cNvCxnSpPr>
          <p:nvPr/>
        </p:nvCxnSpPr>
        <p:spPr>
          <a:xfrm rot="10800000">
            <a:off x="7189772" y="1912901"/>
            <a:ext cx="297402" cy="192361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urved Connector 194">
            <a:extLst>
              <a:ext uri="{FF2B5EF4-FFF2-40B4-BE49-F238E27FC236}">
                <a16:creationId xmlns:a16="http://schemas.microsoft.com/office/drawing/2014/main" id="{C1F30A6A-F170-3D5B-AC93-2EC712B2C620}"/>
              </a:ext>
            </a:extLst>
          </p:cNvPr>
          <p:cNvCxnSpPr>
            <a:cxnSpLocks/>
            <a:stCxn id="167" idx="1"/>
            <a:endCxn id="92" idx="3"/>
          </p:cNvCxnSpPr>
          <p:nvPr/>
        </p:nvCxnSpPr>
        <p:spPr>
          <a:xfrm rot="10800000" flipV="1">
            <a:off x="5002402" y="1912899"/>
            <a:ext cx="1592567" cy="7896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Rounded Rectangle 209">
            <a:extLst>
              <a:ext uri="{FF2B5EF4-FFF2-40B4-BE49-F238E27FC236}">
                <a16:creationId xmlns:a16="http://schemas.microsoft.com/office/drawing/2014/main" id="{DDAF385E-20C5-5AAA-F517-00CA72E46301}"/>
              </a:ext>
            </a:extLst>
          </p:cNvPr>
          <p:cNvSpPr/>
          <p:nvPr/>
        </p:nvSpPr>
        <p:spPr>
          <a:xfrm>
            <a:off x="8287135" y="3269923"/>
            <a:ext cx="563365" cy="31071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Analysis Output Dataset</a:t>
            </a:r>
          </a:p>
        </p:txBody>
      </p:sp>
      <p:sp>
        <p:nvSpPr>
          <p:cNvPr id="211" name="Rounded Rectangle 210">
            <a:extLst>
              <a:ext uri="{FF2B5EF4-FFF2-40B4-BE49-F238E27FC236}">
                <a16:creationId xmlns:a16="http://schemas.microsoft.com/office/drawing/2014/main" id="{25A35903-F04E-FA1A-CE7C-D985CB9423E8}"/>
              </a:ext>
            </a:extLst>
          </p:cNvPr>
          <p:cNvSpPr/>
          <p:nvPr/>
        </p:nvSpPr>
        <p:spPr>
          <a:xfrm>
            <a:off x="6465378" y="2891912"/>
            <a:ext cx="632424" cy="31071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Dimension Component</a:t>
            </a:r>
            <a:endParaRPr lang="en-GB" sz="400" dirty="0"/>
          </a:p>
        </p:txBody>
      </p:sp>
      <p:sp>
        <p:nvSpPr>
          <p:cNvPr id="212" name="Rounded Rectangle 211">
            <a:extLst>
              <a:ext uri="{FF2B5EF4-FFF2-40B4-BE49-F238E27FC236}">
                <a16:creationId xmlns:a16="http://schemas.microsoft.com/office/drawing/2014/main" id="{56AC64E6-6698-42D3-2DFA-706CB1999758}"/>
              </a:ext>
            </a:extLst>
          </p:cNvPr>
          <p:cNvSpPr/>
          <p:nvPr/>
        </p:nvSpPr>
        <p:spPr>
          <a:xfrm>
            <a:off x="6465378" y="3375532"/>
            <a:ext cx="632424" cy="31071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Measure Component</a:t>
            </a:r>
            <a:endParaRPr lang="en-GB" sz="400" dirty="0"/>
          </a:p>
        </p:txBody>
      </p:sp>
      <p:sp>
        <p:nvSpPr>
          <p:cNvPr id="213" name="Rounded Rectangle 212">
            <a:extLst>
              <a:ext uri="{FF2B5EF4-FFF2-40B4-BE49-F238E27FC236}">
                <a16:creationId xmlns:a16="http://schemas.microsoft.com/office/drawing/2014/main" id="{88B6CB0E-D625-7B42-0314-4AB93CB3C414}"/>
              </a:ext>
            </a:extLst>
          </p:cNvPr>
          <p:cNvSpPr/>
          <p:nvPr/>
        </p:nvSpPr>
        <p:spPr>
          <a:xfrm>
            <a:off x="6465378" y="3803966"/>
            <a:ext cx="632424" cy="31071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Attribute Component</a:t>
            </a:r>
            <a:endParaRPr lang="en-GB" sz="400" dirty="0"/>
          </a:p>
        </p:txBody>
      </p:sp>
      <p:cxnSp>
        <p:nvCxnSpPr>
          <p:cNvPr id="214" name="Curved Connector 213">
            <a:extLst>
              <a:ext uri="{FF2B5EF4-FFF2-40B4-BE49-F238E27FC236}">
                <a16:creationId xmlns:a16="http://schemas.microsoft.com/office/drawing/2014/main" id="{3FC45425-48C1-B6AC-1291-B78D50EF2F05}"/>
              </a:ext>
            </a:extLst>
          </p:cNvPr>
          <p:cNvCxnSpPr>
            <a:cxnSpLocks/>
            <a:stCxn id="210" idx="1"/>
            <a:endCxn id="211" idx="3"/>
          </p:cNvCxnSpPr>
          <p:nvPr/>
        </p:nvCxnSpPr>
        <p:spPr>
          <a:xfrm rot="10800000">
            <a:off x="7097803" y="3047273"/>
            <a:ext cx="1189333" cy="378011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urved Connector 216">
            <a:extLst>
              <a:ext uri="{FF2B5EF4-FFF2-40B4-BE49-F238E27FC236}">
                <a16:creationId xmlns:a16="http://schemas.microsoft.com/office/drawing/2014/main" id="{37F68ED0-384B-A05B-9FB1-F59D238CBA3E}"/>
              </a:ext>
            </a:extLst>
          </p:cNvPr>
          <p:cNvCxnSpPr>
            <a:cxnSpLocks/>
            <a:stCxn id="210" idx="1"/>
            <a:endCxn id="212" idx="3"/>
          </p:cNvCxnSpPr>
          <p:nvPr/>
        </p:nvCxnSpPr>
        <p:spPr>
          <a:xfrm rot="10800000" flipV="1">
            <a:off x="7097803" y="3425282"/>
            <a:ext cx="1189333" cy="105609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urved Connector 219">
            <a:extLst>
              <a:ext uri="{FF2B5EF4-FFF2-40B4-BE49-F238E27FC236}">
                <a16:creationId xmlns:a16="http://schemas.microsoft.com/office/drawing/2014/main" id="{825A7A62-09B2-D6F4-5110-DDA9A2A46C42}"/>
              </a:ext>
            </a:extLst>
          </p:cNvPr>
          <p:cNvCxnSpPr>
            <a:cxnSpLocks/>
            <a:stCxn id="210" idx="1"/>
            <a:endCxn id="213" idx="3"/>
          </p:cNvCxnSpPr>
          <p:nvPr/>
        </p:nvCxnSpPr>
        <p:spPr>
          <a:xfrm rot="10800000" flipV="1">
            <a:off x="7097803" y="3425282"/>
            <a:ext cx="1189333" cy="534043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urved Connector 222">
            <a:extLst>
              <a:ext uri="{FF2B5EF4-FFF2-40B4-BE49-F238E27FC236}">
                <a16:creationId xmlns:a16="http://schemas.microsoft.com/office/drawing/2014/main" id="{913B2684-7D5F-CE9D-0537-6713147FC64A}"/>
              </a:ext>
            </a:extLst>
          </p:cNvPr>
          <p:cNvCxnSpPr>
            <a:cxnSpLocks/>
            <a:stCxn id="211" idx="1"/>
            <a:endCxn id="92" idx="3"/>
          </p:cNvCxnSpPr>
          <p:nvPr/>
        </p:nvCxnSpPr>
        <p:spPr>
          <a:xfrm rot="10800000">
            <a:off x="5002402" y="1991864"/>
            <a:ext cx="1462977" cy="105540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urved Connector 225">
            <a:extLst>
              <a:ext uri="{FF2B5EF4-FFF2-40B4-BE49-F238E27FC236}">
                <a16:creationId xmlns:a16="http://schemas.microsoft.com/office/drawing/2014/main" id="{D3C881AE-CB1F-7C12-4BBD-F3A201EA082F}"/>
              </a:ext>
            </a:extLst>
          </p:cNvPr>
          <p:cNvCxnSpPr>
            <a:cxnSpLocks/>
            <a:stCxn id="212" idx="1"/>
            <a:endCxn id="93" idx="3"/>
          </p:cNvCxnSpPr>
          <p:nvPr/>
        </p:nvCxnSpPr>
        <p:spPr>
          <a:xfrm rot="10800000">
            <a:off x="4984102" y="2736554"/>
            <a:ext cx="1481277" cy="79433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urved Connector 229">
            <a:extLst>
              <a:ext uri="{FF2B5EF4-FFF2-40B4-BE49-F238E27FC236}">
                <a16:creationId xmlns:a16="http://schemas.microsoft.com/office/drawing/2014/main" id="{3F372F83-B2E5-85FF-75F7-3D631447B4B6}"/>
              </a:ext>
            </a:extLst>
          </p:cNvPr>
          <p:cNvCxnSpPr>
            <a:cxnSpLocks/>
            <a:stCxn id="213" idx="1"/>
            <a:endCxn id="94" idx="3"/>
          </p:cNvCxnSpPr>
          <p:nvPr/>
        </p:nvCxnSpPr>
        <p:spPr>
          <a:xfrm rot="10800000">
            <a:off x="4984102" y="3491880"/>
            <a:ext cx="1481277" cy="46744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Curved Connector 283">
            <a:extLst>
              <a:ext uri="{FF2B5EF4-FFF2-40B4-BE49-F238E27FC236}">
                <a16:creationId xmlns:a16="http://schemas.microsoft.com/office/drawing/2014/main" id="{2C8669FE-A73E-0EB9-8DE0-A7327531D254}"/>
              </a:ext>
            </a:extLst>
          </p:cNvPr>
          <p:cNvCxnSpPr>
            <a:cxnSpLocks/>
            <a:stCxn id="170" idx="1"/>
            <a:endCxn id="93" idx="3"/>
          </p:cNvCxnSpPr>
          <p:nvPr/>
        </p:nvCxnSpPr>
        <p:spPr>
          <a:xfrm rot="10800000" flipV="1">
            <a:off x="4984101" y="2285631"/>
            <a:ext cx="1615018" cy="45092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F28DC37-FD77-8975-E837-FF2AE63C05A9}"/>
              </a:ext>
            </a:extLst>
          </p:cNvPr>
          <p:cNvSpPr txBox="1"/>
          <p:nvPr/>
        </p:nvSpPr>
        <p:spPr>
          <a:xfrm>
            <a:off x="634828" y="2758992"/>
            <a:ext cx="10594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TECHNIQUE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0565D8-3E12-EC42-05EC-76E0F593622C}"/>
              </a:ext>
            </a:extLst>
          </p:cNvPr>
          <p:cNvSpPr txBox="1"/>
          <p:nvPr/>
        </p:nvSpPr>
        <p:spPr>
          <a:xfrm>
            <a:off x="1409710" y="3970153"/>
            <a:ext cx="10594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RECIPE CARD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50C757-80D0-26F5-9346-048EF29EA1B7}"/>
              </a:ext>
            </a:extLst>
          </p:cNvPr>
          <p:cNvSpPr txBox="1"/>
          <p:nvPr/>
        </p:nvSpPr>
        <p:spPr>
          <a:xfrm>
            <a:off x="7263482" y="3938483"/>
            <a:ext cx="16816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ACTUAL </a:t>
            </a:r>
            <a:r>
              <a:rPr lang="da-DK" dirty="0"/>
              <a:t>INGREDIENTS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404508-F926-FCF5-D37A-FA213DA2F1FF}"/>
              </a:ext>
            </a:extLst>
          </p:cNvPr>
          <p:cNvSpPr txBox="1"/>
          <p:nvPr/>
        </p:nvSpPr>
        <p:spPr>
          <a:xfrm>
            <a:off x="4069200" y="3938483"/>
            <a:ext cx="15159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 b="1" i="0">
                <a:solidFill>
                  <a:srgbClr val="8B5A2B"/>
                </a:solidFill>
                <a:latin typeface="Arial"/>
              </a:defRPr>
            </a:lvl1pPr>
          </a:lstStyle>
          <a:p>
            <a:r>
              <a:rPr lang="en-GB" dirty="0"/>
              <a:t>INGREDIENT TYPES</a:t>
            </a:r>
          </a:p>
        </p:txBody>
      </p:sp>
    </p:spTree>
    <p:extLst>
      <p:ext uri="{BB962C8B-B14F-4D97-AF65-F5344CB8AC3E}">
        <p14:creationId xmlns:p14="http://schemas.microsoft.com/office/powerpoint/2010/main" val="2868529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noProof="1"/>
              <a:t>Three-Layer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noProof="1"/>
              <a:t>Layer 1: AC/DC Instance – the derivation/analysis logic</a:t>
            </a:r>
          </a:p>
          <a:p>
            <a:r>
              <a:rPr lang="en-GB" noProof="1"/>
              <a:t>"What am I deriving/analyzing"</a:t>
            </a:r>
          </a:p>
          <a:p>
            <a:r>
              <a:rPr lang="en-GB" noProof="1"/>
              <a:t>template based on semantic concepts (change_value, baseline_value)</a:t>
            </a:r>
          </a:p>
          <a:p>
            <a:r>
              <a:rPr lang="en-GB" noProof="1"/>
              <a:t>references the Clinical Semantic Transformation Model via IS_A relationships</a:t>
            </a:r>
          </a:p>
          <a:p>
            <a:endParaRPr lang="en-GB" noProof="1"/>
          </a:p>
          <a:p>
            <a:pPr marL="0" indent="0">
              <a:buNone/>
            </a:pPr>
            <a:r>
              <a:rPr lang="en-GB" b="1" noProof="1"/>
              <a:t>Layer 2: Clinical Semantic Transformation Model</a:t>
            </a:r>
          </a:p>
          <a:p>
            <a:r>
              <a:rPr lang="en-GB" noProof="1"/>
              <a:t>Definitions of analytical concepts and their relationships</a:t>
            </a:r>
          </a:p>
          <a:p>
            <a:r>
              <a:rPr lang="en-GB" noProof="1"/>
              <a:t>study-independent</a:t>
            </a:r>
          </a:p>
          <a:p>
            <a:r>
              <a:rPr lang="en-GB" noProof="1"/>
              <a:t>generic definition of change_value, baseline_value, treatment, LSMean, p-value...</a:t>
            </a:r>
          </a:p>
          <a:p>
            <a:endParaRPr lang="en-GB" noProof="1"/>
          </a:p>
          <a:p>
            <a:pPr marL="0" indent="0">
              <a:buNone/>
            </a:pPr>
            <a:r>
              <a:rPr lang="en-GB" b="1" noProof="1"/>
              <a:t>Layer 3: Implementation/presentation layer</a:t>
            </a:r>
          </a:p>
          <a:p>
            <a:r>
              <a:rPr lang="en-GB" noProof="1"/>
              <a:t>"Where is my data?" — Study-specific</a:t>
            </a:r>
          </a:p>
          <a:p>
            <a:r>
              <a:rPr lang="en-GB" noProof="1"/>
              <a:t>How does my presentation layer relate to the Analytical Data Model</a:t>
            </a:r>
          </a:p>
          <a:p>
            <a:r>
              <a:rPr lang="en-GB" noProof="1"/>
              <a:t>change_value ← CHG ← ADQSADAS.CHG</a:t>
            </a:r>
          </a:p>
          <a:p>
            <a:r>
              <a:rPr lang="en-GB" noProof="1"/>
              <a:t>treatment ← TRT01P ← ADQSADAS.TRT01P</a:t>
            </a:r>
          </a:p>
          <a:p>
            <a:endParaRPr lang="en-GB" noProof="1"/>
          </a:p>
          <a:p>
            <a:pPr marL="0" indent="0">
              <a:buNone/>
            </a:pPr>
            <a:r>
              <a:rPr lang="en-GB" b="1" noProof="1"/>
              <a:t>Same analysis, different study? Only Implementation layer changes.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GB" noProof="1" smtClean="0"/>
              <a:pPr/>
              <a:t>19</a:t>
            </a:fld>
            <a:endParaRPr lang="en-GB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GB" noProof="1"/>
              <a:t>#ClearDataClearImpact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537EA55-97A3-174A-0D56-8384F6A8B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754" y="628891"/>
            <a:ext cx="1384300" cy="16446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137BF68-4297-2240-6ED0-F18BB7260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860" y="1735164"/>
            <a:ext cx="1438800" cy="2059459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225A0032-D3C0-7F28-B6C7-5298B3209568}"/>
              </a:ext>
            </a:extLst>
          </p:cNvPr>
          <p:cNvSpPr txBox="1"/>
          <p:nvPr/>
        </p:nvSpPr>
        <p:spPr>
          <a:xfrm>
            <a:off x="5802210" y="2580227"/>
            <a:ext cx="137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“Translator”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19194BC-A350-27FB-7A23-BF35F7D54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754" y="3196372"/>
            <a:ext cx="1520002" cy="185540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noProof="1"/>
              <a:t>The Clinical Semantic Transformation Model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The semantic vocabulary — concepts that AC/DCs reference:</a:t>
            </a:r>
          </a:p>
          <a:p>
            <a:pPr marL="0" indent="0">
              <a:buNone/>
            </a:pPr>
            <a:endParaRPr lang="da-DK" b="1" dirty="0"/>
          </a:p>
          <a:p>
            <a:pPr marL="0" indent="0">
              <a:buNone/>
            </a:pPr>
            <a:r>
              <a:rPr b="1" dirty="0"/>
              <a:t>Concepts (standard-agnostic):</a:t>
            </a:r>
          </a:p>
          <a:p>
            <a:r>
              <a:rPr dirty="0"/>
              <a:t>subject, parameter, visit, treatment, site</a:t>
            </a:r>
          </a:p>
          <a:p>
            <a:r>
              <a:rPr dirty="0" err="1"/>
              <a:t>analysis_value</a:t>
            </a:r>
            <a:r>
              <a:rPr dirty="0"/>
              <a:t>, </a:t>
            </a:r>
            <a:r>
              <a:rPr dirty="0" err="1"/>
              <a:t>baseline_value</a:t>
            </a:r>
            <a:r>
              <a:rPr dirty="0"/>
              <a:t>, </a:t>
            </a:r>
            <a:r>
              <a:rPr dirty="0" err="1"/>
              <a:t>change_value</a:t>
            </a:r>
            <a:endParaRPr dirty="0"/>
          </a:p>
          <a:p>
            <a:r>
              <a:rPr dirty="0" err="1"/>
              <a:t>population_flag</a:t>
            </a:r>
            <a:r>
              <a:rPr dirty="0"/>
              <a:t>, </a:t>
            </a:r>
            <a:r>
              <a:rPr dirty="0" err="1"/>
              <a:t>baseline_flag</a:t>
            </a:r>
            <a:endParaRPr lang="da-DK" dirty="0"/>
          </a:p>
          <a:p>
            <a:endParaRPr dirty="0"/>
          </a:p>
          <a:p>
            <a:pPr marL="0" indent="0">
              <a:buNone/>
            </a:pPr>
            <a:r>
              <a:rPr b="1" dirty="0"/>
              <a:t>Semantic relationships:</a:t>
            </a:r>
          </a:p>
          <a:p>
            <a:r>
              <a:rPr dirty="0" err="1"/>
              <a:t>change_value</a:t>
            </a:r>
            <a:r>
              <a:rPr dirty="0"/>
              <a:t> </a:t>
            </a:r>
            <a:r>
              <a:rPr dirty="0" err="1"/>
              <a:t>derived_from</a:t>
            </a:r>
            <a:r>
              <a:rPr dirty="0"/>
              <a:t> (</a:t>
            </a:r>
            <a:r>
              <a:rPr dirty="0" err="1"/>
              <a:t>analysis_value</a:t>
            </a:r>
            <a:r>
              <a:rPr dirty="0"/>
              <a:t>, </a:t>
            </a:r>
            <a:r>
              <a:rPr dirty="0" err="1"/>
              <a:t>baseline_value</a:t>
            </a:r>
            <a:r>
              <a:rPr dirty="0"/>
              <a:t>)</a:t>
            </a:r>
          </a:p>
          <a:p>
            <a:r>
              <a:rPr dirty="0" err="1"/>
              <a:t>baseline_value</a:t>
            </a:r>
            <a:r>
              <a:rPr dirty="0"/>
              <a:t> </a:t>
            </a:r>
            <a:r>
              <a:rPr dirty="0" err="1"/>
              <a:t>identified_by</a:t>
            </a:r>
            <a:r>
              <a:rPr dirty="0"/>
              <a:t> (subject, parameter, </a:t>
            </a:r>
            <a:r>
              <a:rPr dirty="0" err="1"/>
              <a:t>baseline_flag</a:t>
            </a:r>
            <a:r>
              <a:rPr dirty="0"/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</a:t>
            </a:r>
            <a:r>
              <a:rPr dirty="0" err="1"/>
              <a:t>ClearDataClearImpact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From Template to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The Three Layers of Resolution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8229600" cy="73152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indent="0" defTabSz="685800">
              <a:lnSpc>
                <a:spcPct val="90000"/>
              </a:lnSpc>
              <a:spcBef>
                <a:spcPct val="0"/>
              </a:spcBef>
              <a:buNone/>
              <a:defRPr sz="2400" b="1"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Layer 1: The Recipe Card (Template)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8001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1600">
                <a:solidFill>
                  <a:srgbClr val="333333"/>
                </a:solidFill>
              </a:defRPr>
            </a:pPr>
            <a:r>
              <a:rPr dirty="0"/>
              <a:t>You decide to make vinaigrette — you pull out the recipe card (Template)</a:t>
            </a:r>
            <a:endParaRPr lang="da-DK" dirty="0"/>
          </a:p>
          <a:p>
            <a:pPr marL="0" indent="0">
              <a:buNone/>
              <a:defRPr sz="1600">
                <a:solidFill>
                  <a:srgbClr val="333333"/>
                </a:solidFill>
              </a:defRPr>
            </a:pPr>
            <a:endParaRPr dirty="0"/>
          </a:p>
          <a:p>
            <a:pPr marL="0" indent="0">
              <a:buNone/>
            </a:pPr>
            <a:r>
              <a:rPr b="1" dirty="0"/>
              <a:t>Tonight's Vinaigrette Instance: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dirty="0"/>
              <a:t>Using recipe: Classic Vinaigrette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dirty="0"/>
              <a:t>For: Caesar salad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dirty="0"/>
              <a:t>Serving: 4 people</a:t>
            </a:r>
            <a:endParaRPr lang="da-DK" dirty="0"/>
          </a:p>
          <a:p>
            <a:endParaRPr dirty="0"/>
          </a:p>
          <a:p>
            <a:pPr marL="0" indent="0">
              <a:buNone/>
            </a:pPr>
            <a:r>
              <a:rPr b="1" dirty="0"/>
              <a:t>The Template captures your clinical analysis intent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dirty="0"/>
              <a:t>It references semantic concepts, not physical variables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82B5029-F089-191C-4FED-A72647B21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8229600" cy="73152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indent="0" defTabSz="685800">
              <a:lnSpc>
                <a:spcPct val="90000"/>
              </a:lnSpc>
              <a:spcBef>
                <a:spcPct val="0"/>
              </a:spcBef>
              <a:buNone/>
              <a:defRPr sz="2400" b="1">
                <a:latin typeface="+mj-lt"/>
                <a:ea typeface="+mj-ea"/>
                <a:cs typeface="+mj-cs"/>
              </a:defRPr>
            </a:lvl1pPr>
          </a:lstStyle>
          <a:p>
            <a:r>
              <a:rPr lang="en-GB" noProof="1"/>
              <a:t>Layer 2: The Pantry (Semantic TE Bindings)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80010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1600">
                <a:solidFill>
                  <a:srgbClr val="333333"/>
                </a:solidFill>
              </a:defRPr>
            </a:pPr>
            <a:r>
              <a:rPr lang="en-GB" noProof="1"/>
              <a:t>Your pantry has a labeling system — the jar labeled 'OIL' holds different products</a:t>
            </a:r>
          </a:p>
          <a:p>
            <a:pPr marL="0" indent="0">
              <a:buNone/>
            </a:pPr>
            <a:endParaRPr lang="en-GB" b="1" noProof="1"/>
          </a:p>
          <a:p>
            <a:pPr marL="0" indent="0">
              <a:buNone/>
            </a:pPr>
            <a:r>
              <a:rPr lang="en-GB" b="1" noProof="1"/>
              <a:t>CSTM Bindings map concepts to standards:</a:t>
            </a:r>
          </a:p>
          <a:p>
            <a:pPr marL="0" indent="0">
              <a:buNone/>
            </a:pPr>
            <a:r>
              <a:rPr lang="en-GB" noProof="1"/>
              <a:t>ADaM: AVAL → analysis_value</a:t>
            </a:r>
          </a:p>
          <a:p>
            <a:pPr marL="0" indent="0">
              <a:buNone/>
            </a:pPr>
            <a:r>
              <a:rPr lang="en-GB" noProof="1"/>
              <a:t>ADaM: BASE → baseline_value</a:t>
            </a:r>
          </a:p>
          <a:p>
            <a:pPr marL="0" indent="0">
              <a:buNone/>
            </a:pPr>
            <a:r>
              <a:rPr lang="en-GB" noProof="1"/>
              <a:t>ADaM: CHG → change_value</a:t>
            </a:r>
          </a:p>
          <a:p>
            <a:pPr marL="0" indent="0">
              <a:buNone/>
            </a:pPr>
            <a:endParaRPr lang="en-GB" b="1" noProof="1"/>
          </a:p>
          <a:p>
            <a:pPr marL="0" indent="0">
              <a:buNone/>
            </a:pPr>
            <a:r>
              <a:rPr lang="en-GB" b="1" noProof="1"/>
              <a:t>The Semantic TC is the semantic connector</a:t>
            </a:r>
          </a:p>
          <a:p>
            <a:pPr marL="0" indent="0">
              <a:buNone/>
            </a:pPr>
            <a:endParaRPr lang="en-GB" noProof="1"/>
          </a:p>
          <a:p>
            <a:pPr marL="0" indent="0">
              <a:buNone/>
            </a:pPr>
            <a:r>
              <a:rPr lang="en-GB" noProof="1"/>
              <a:t>Same labels work with ADaM/SDTM, OMOP, FHIR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ECE0C7-593A-7C05-F1BA-0FC572C26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8229600" cy="73152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indent="0" defTabSz="685800">
              <a:lnSpc>
                <a:spcPct val="90000"/>
              </a:lnSpc>
              <a:spcBef>
                <a:spcPct val="0"/>
              </a:spcBef>
              <a:buNone/>
              <a:defRPr sz="2400" b="1"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Layer 3: Actual Products (Implementation)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80010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1600">
                <a:solidFill>
                  <a:srgbClr val="333333"/>
                </a:solidFill>
              </a:defRPr>
            </a:pPr>
            <a:r>
              <a:rPr dirty="0"/>
              <a:t>When you open the pantry, you grab actual physical items</a:t>
            </a:r>
          </a:p>
          <a:p>
            <a:pPr marL="0" indent="0">
              <a:buNone/>
            </a:pPr>
            <a:endParaRPr lang="da-DK" b="1" dirty="0"/>
          </a:p>
          <a:p>
            <a:pPr marL="0" indent="0">
              <a:buNone/>
            </a:pPr>
            <a:r>
              <a:rPr b="1" dirty="0"/>
              <a:t>Study Implementation: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dirty="0"/>
              <a:t>AVAL → ADQSADAS.AVAL (physical column)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dirty="0"/>
              <a:t>BASE → ADQSADAS.BASE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dirty="0"/>
              <a:t>CHG → ADQSADAS.CHG</a:t>
            </a:r>
          </a:p>
          <a:p>
            <a:pPr marL="0" indent="0">
              <a:buNone/>
            </a:pPr>
            <a:endParaRPr lang="da-DK" b="1" dirty="0"/>
          </a:p>
          <a:p>
            <a:pPr marL="0" indent="0">
              <a:buNone/>
            </a:pPr>
            <a:r>
              <a:rPr b="1" dirty="0"/>
              <a:t>This is where abstract concepts meet real data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dirty="0"/>
              <a:t>And generate executable code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F30A083-36A1-94F4-9AB7-99BC31751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The Magic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Same Recipe, Different Kitchens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30185"/>
            <a:ext cx="3417923" cy="432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indent="0" defTabSz="685800">
              <a:lnSpc>
                <a:spcPct val="90000"/>
              </a:lnSpc>
              <a:spcBef>
                <a:spcPct val="0"/>
              </a:spcBef>
              <a:buNone/>
              <a:defRPr sz="2400" b="1"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Home Kitchen (</a:t>
            </a:r>
            <a:r>
              <a:rPr dirty="0" err="1"/>
              <a:t>ADaM</a:t>
            </a:r>
            <a:r>
              <a:rPr dirty="0"/>
              <a:t>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78B344-D757-0D7A-9215-B4D21E61C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626" y="230185"/>
            <a:ext cx="4260368" cy="432000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/>
              <a:t>Restaurant Kitchen (OMOP)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602246-D1E4-7957-5B33-BDEB7898A5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0100" y="1111250"/>
            <a:ext cx="3819525" cy="3024145"/>
          </a:xfrm>
        </p:spPr>
        <p:txBody>
          <a:bodyPr>
            <a:normAutofit/>
          </a:bodyPr>
          <a:lstStyle/>
          <a:p>
            <a:pPr marL="0" indent="0">
              <a:buNone/>
              <a:defRPr sz="1600">
                <a:solidFill>
                  <a:srgbClr val="333333"/>
                </a:solidFill>
              </a:defRPr>
            </a:pPr>
            <a:r>
              <a:rPr lang="en-GB" dirty="0"/>
              <a:t>Template: </a:t>
            </a:r>
            <a:r>
              <a:rPr lang="en-GB" dirty="0" err="1"/>
              <a:t>ChangeFromBaseline</a:t>
            </a:r>
            <a:endParaRPr lang="en-GB" dirty="0"/>
          </a:p>
          <a:p>
            <a:pPr marL="0" indent="0">
              <a:buNone/>
              <a:defRPr sz="1600">
                <a:solidFill>
                  <a:srgbClr val="333333"/>
                </a:solidFill>
              </a:defRPr>
            </a:pPr>
            <a:endParaRPr lang="en-GB" dirty="0"/>
          </a:p>
          <a:p>
            <a:pPr marL="0" indent="0">
              <a:buNone/>
            </a:pPr>
            <a:r>
              <a:rPr lang="en-GB" dirty="0"/>
              <a:t>Standard: </a:t>
            </a:r>
            <a:r>
              <a:rPr lang="en-GB" dirty="0" err="1"/>
              <a:t>ADaM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Study: ADQSADAS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Generated Code:</a:t>
            </a:r>
          </a:p>
          <a:p>
            <a:pPr marL="0" indent="0">
              <a:buNone/>
            </a:pPr>
            <a:r>
              <a:rPr lang="en-GB" dirty="0"/>
              <a:t>CHG = AVAL - BASE</a:t>
            </a:r>
          </a:p>
          <a:p>
            <a:pPr marL="0" indent="0">
              <a:buNone/>
            </a:pPr>
            <a:r>
              <a:rPr lang="en-GB" dirty="0"/>
              <a:t>PROC GLM; CLASS TRT;</a:t>
            </a:r>
          </a:p>
          <a:p>
            <a:pPr marL="0" indent="0">
              <a:buNone/>
            </a:pPr>
            <a:r>
              <a:rPr lang="en-GB" dirty="0"/>
              <a:t>MODEL CHG = BASE TRT;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55F6B-4754-7F7D-0ED0-D6867D5A6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76824" y="1111250"/>
            <a:ext cx="3609975" cy="3024145"/>
          </a:xfrm>
        </p:spPr>
        <p:txBody>
          <a:bodyPr>
            <a:normAutofit/>
          </a:bodyPr>
          <a:lstStyle/>
          <a:p>
            <a:pPr marL="0" indent="0">
              <a:buNone/>
              <a:defRPr sz="1600">
                <a:solidFill>
                  <a:srgbClr val="333333"/>
                </a:solidFill>
              </a:defRPr>
            </a:pPr>
            <a:r>
              <a:rPr lang="en-GB" dirty="0"/>
              <a:t>Template: </a:t>
            </a:r>
            <a:r>
              <a:rPr lang="en-GB" dirty="0" err="1"/>
              <a:t>ChangeFromBaseline</a:t>
            </a:r>
            <a:r>
              <a:rPr lang="en-GB" dirty="0"/>
              <a:t> (same!)</a:t>
            </a:r>
          </a:p>
          <a:p>
            <a:pPr marL="0" indent="0">
              <a:buNone/>
              <a:defRPr sz="1600">
                <a:solidFill>
                  <a:srgbClr val="333333"/>
                </a:solidFill>
              </a:defRPr>
            </a:pPr>
            <a:endParaRPr lang="en-GB" dirty="0"/>
          </a:p>
          <a:p>
            <a:pPr marL="0" indent="0">
              <a:buNone/>
            </a:pPr>
            <a:r>
              <a:rPr lang="en-GB" dirty="0"/>
              <a:t>Standard: OMOP CDM</a:t>
            </a:r>
          </a:p>
          <a:p>
            <a:pPr marL="0" indent="0">
              <a:buNone/>
            </a:pPr>
            <a:r>
              <a:rPr lang="en-GB" dirty="0"/>
              <a:t>Study: measurement table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Generated Code:</a:t>
            </a:r>
          </a:p>
          <a:p>
            <a:pPr marL="0" indent="0">
              <a:buNone/>
            </a:pPr>
            <a:r>
              <a:rPr lang="en-GB" dirty="0"/>
              <a:t>change = </a:t>
            </a:r>
            <a:r>
              <a:rPr lang="en-GB" dirty="0" err="1"/>
              <a:t>value_as_number</a:t>
            </a:r>
            <a:r>
              <a:rPr lang="en-GB" dirty="0"/>
              <a:t> - </a:t>
            </a:r>
            <a:r>
              <a:rPr lang="en-GB" dirty="0" err="1"/>
              <a:t>baseline_value</a:t>
            </a:r>
            <a:endParaRPr lang="en-GB" dirty="0"/>
          </a:p>
          <a:p>
            <a:pPr marL="0" indent="0">
              <a:buNone/>
            </a:pPr>
            <a:endParaRPr lang="en-GB" b="1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697FDD1-ECD8-D49F-47DC-EEE535EA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0E5E08-BB91-3D6A-CC65-6A46E1A2D4FC}"/>
              </a:ext>
            </a:extLst>
          </p:cNvPr>
          <p:cNvSpPr txBox="1"/>
          <p:nvPr/>
        </p:nvSpPr>
        <p:spPr>
          <a:xfrm>
            <a:off x="2709862" y="4334979"/>
            <a:ext cx="4003976" cy="693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The recipe didn't change.</a:t>
            </a:r>
          </a:p>
          <a:p>
            <a:r>
              <a:rPr lang="en-GB" dirty="0"/>
              <a:t>Only the pantry labelling changed.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Data Cubes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The Technical Foundation for Machine-Executable Specifications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D5D9A-2100-DB18-4C74-ABA830B2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9D216-3AE5-A4AB-59F9-402B8714A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The AC/DC Model: A Function Over Data Cubes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7BD06A-4E0C-5F2A-4BAF-6E116AB391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0101" y="1111250"/>
                <a:ext cx="4676172" cy="3521473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noProof="0" dirty="0"/>
                  <a:t>Analysis Concepts and Derivation Concepts use </a:t>
                </a:r>
                <a:r>
                  <a:rPr lang="en-US" dirty="0"/>
                  <a:t>a CUBE structure as input and output </a:t>
                </a:r>
              </a:p>
              <a:p>
                <a:pPr marL="0" indent="0">
                  <a:buNone/>
                </a:pPr>
                <a:r>
                  <a:rPr lang="en-US" dirty="0"/>
                  <a:t>– this is to overcome the need for pseudo coding</a:t>
                </a:r>
                <a:r>
                  <a:rPr lang="en-US" noProof="0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600" b="1" i="1" smtClean="0">
                          <a:latin typeface="Cambria Math" panose="02040503050406030204" pitchFamily="18" charset="0"/>
                        </a:rPr>
                        <m:t>𝒐𝒖𝒕𝒑𝒖𝒕</m:t>
                      </m:r>
                      <m:r>
                        <a:rPr lang="da-DK" sz="2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600" b="1" i="1" smtClean="0">
                          <a:latin typeface="Cambria Math" panose="02040503050406030204" pitchFamily="18" charset="0"/>
                        </a:rPr>
                        <m:t>𝒄𝒖𝒃𝒆</m:t>
                      </m:r>
                      <m:r>
                        <a:rPr lang="da-DK" sz="2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26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da-DK" sz="2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600" b="1" i="1" smtClean="0">
                              <a:latin typeface="Cambria Math" panose="02040503050406030204" pitchFamily="18" charset="0"/>
                            </a:rPr>
                            <m:t>𝒊𝒏𝒑𝒖𝒕</m:t>
                          </m:r>
                          <m:r>
                            <a:rPr lang="da-DK" sz="2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a-DK" sz="2600" b="1" i="1" smtClean="0">
                              <a:latin typeface="Cambria Math" panose="02040503050406030204" pitchFamily="18" charset="0"/>
                            </a:rPr>
                            <m:t>𝒄𝒖𝒃𝒆</m:t>
                          </m:r>
                        </m:e>
                      </m:d>
                    </m:oMath>
                  </m:oMathPara>
                </a14:m>
                <a:endParaRPr lang="en-US" sz="2600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Key: Both INPUT and OUTPUT are defined as W3C Data Cubes </a:t>
                </a:r>
              </a:p>
              <a:p>
                <a:pPr marL="0" indent="0">
                  <a:buNone/>
                </a:pPr>
                <a:r>
                  <a:rPr lang="en-US" b="1" dirty="0"/>
                  <a:t>— a standard structure with precise semantics.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7BD06A-4E0C-5F2A-4BAF-6E116AB391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0101" y="1111250"/>
                <a:ext cx="4676172" cy="3521473"/>
              </a:xfrm>
              <a:blipFill>
                <a:blip r:embed="rId2"/>
                <a:stretch>
                  <a:fillRect l="-2432" t="-3237" r="-10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AA425-1263-A603-0C6E-75FEA6D9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0E785-18C6-B647-9FC1-44C9A07DCF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t>#ClearDataClearImpact</a:t>
            </a:r>
          </a:p>
        </p:txBody>
      </p:sp>
      <p:pic>
        <p:nvPicPr>
          <p:cNvPr id="7" name="Picture 6" descr="A graph of a patient&#10;&#10;AI-generated content may be incorrect.">
            <a:extLst>
              <a:ext uri="{FF2B5EF4-FFF2-40B4-BE49-F238E27FC236}">
                <a16:creationId xmlns:a16="http://schemas.microsoft.com/office/drawing/2014/main" id="{805C51D4-48FA-B283-1784-8ED01F208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382" y="1423910"/>
            <a:ext cx="3619844" cy="285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067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The SDMX Data Cube: Three Component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000" lnSpcReduction="20000"/>
          </a:bodyPr>
          <a:lstStyle/>
          <a:p>
            <a:pPr marL="0" indent="0">
              <a:buNone/>
            </a:pPr>
            <a:r>
              <a:rPr dirty="0"/>
              <a:t>Each component has a defined role that determines how it participates in operations:</a:t>
            </a:r>
            <a:endParaRPr lang="da-DK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DIMENSION</a:t>
            </a:r>
          </a:p>
          <a:p>
            <a:r>
              <a:rPr dirty="0"/>
              <a:t>Identifies the observation — the "coordinates" in the cube</a:t>
            </a:r>
          </a:p>
          <a:p>
            <a:r>
              <a:rPr i="1" dirty="0"/>
              <a:t>Examples: subject, visit, parameter, treatment</a:t>
            </a:r>
          </a:p>
          <a:p>
            <a:pPr marL="0" indent="0">
              <a:buNone/>
            </a:pPr>
            <a:r>
              <a:rPr b="1" dirty="0"/>
              <a:t>MEASURE</a:t>
            </a:r>
          </a:p>
          <a:p>
            <a:r>
              <a:rPr dirty="0"/>
              <a:t>The observed/computed value at that point — numeric quantities</a:t>
            </a:r>
          </a:p>
          <a:p>
            <a:r>
              <a:rPr i="1" dirty="0"/>
              <a:t>Examples: </a:t>
            </a:r>
            <a:r>
              <a:rPr i="1" dirty="0" err="1"/>
              <a:t>analysis_value</a:t>
            </a:r>
            <a:r>
              <a:rPr i="1" dirty="0"/>
              <a:t>, </a:t>
            </a:r>
            <a:r>
              <a:rPr i="1" dirty="0" err="1"/>
              <a:t>baseline_value</a:t>
            </a:r>
            <a:r>
              <a:rPr i="1" dirty="0"/>
              <a:t>, </a:t>
            </a:r>
            <a:r>
              <a:rPr i="1" dirty="0" err="1"/>
              <a:t>change_value</a:t>
            </a:r>
            <a:r>
              <a:rPr i="1" dirty="0"/>
              <a:t>, </a:t>
            </a:r>
            <a:r>
              <a:rPr i="1" dirty="0" err="1"/>
              <a:t>lsmean</a:t>
            </a:r>
            <a:r>
              <a:rPr i="1" dirty="0"/>
              <a:t>, </a:t>
            </a:r>
            <a:r>
              <a:rPr i="1" dirty="0" err="1"/>
              <a:t>p_value</a:t>
            </a:r>
            <a:endParaRPr i="1" dirty="0"/>
          </a:p>
          <a:p>
            <a:pPr marL="0" indent="0">
              <a:buNone/>
            </a:pPr>
            <a:r>
              <a:rPr b="1" dirty="0"/>
              <a:t>ATTRIBUTE</a:t>
            </a:r>
          </a:p>
          <a:p>
            <a:r>
              <a:rPr dirty="0"/>
              <a:t>Metadata that qualifies but does not identify — context and flags</a:t>
            </a:r>
          </a:p>
          <a:p>
            <a:r>
              <a:rPr i="1" dirty="0"/>
              <a:t>Examples: </a:t>
            </a:r>
            <a:r>
              <a:rPr i="1" dirty="0" err="1"/>
              <a:t>population_flag</a:t>
            </a:r>
            <a:r>
              <a:rPr i="1" dirty="0"/>
              <a:t>, </a:t>
            </a:r>
            <a:r>
              <a:rPr i="1" dirty="0" err="1"/>
              <a:t>baseline_flag</a:t>
            </a:r>
            <a:r>
              <a:rPr i="1" dirty="0"/>
              <a:t>, unit, </a:t>
            </a:r>
            <a:r>
              <a:rPr i="1" dirty="0" err="1"/>
              <a:t>reason_for_exclusio</a:t>
            </a:r>
            <a:r>
              <a:rPr lang="da-DK" i="1" dirty="0"/>
              <a:t>n</a:t>
            </a:r>
          </a:p>
          <a:p>
            <a:pPr marL="0" indent="0">
              <a:buNone/>
            </a:pPr>
            <a:endParaRPr i="1" dirty="0"/>
          </a:p>
          <a:p>
            <a:pPr marL="0" indent="0">
              <a:buNone/>
            </a:pPr>
            <a:r>
              <a:rPr b="1" dirty="0"/>
              <a:t>Why </a:t>
            </a:r>
            <a:r>
              <a:rPr lang="da-DK" b="1" dirty="0" err="1"/>
              <a:t>CUBEs</a:t>
            </a:r>
            <a:r>
              <a:rPr b="1" dirty="0"/>
              <a:t>? </a:t>
            </a:r>
            <a:r>
              <a:rPr lang="da-DK" b="1" dirty="0"/>
              <a:t>W3C</a:t>
            </a:r>
            <a:r>
              <a:rPr b="1" dirty="0"/>
              <a:t> standard for statistical data exchange.</a:t>
            </a:r>
          </a:p>
          <a:p>
            <a:pPr marL="0" indent="0">
              <a:buNone/>
            </a:pPr>
            <a:r>
              <a:rPr dirty="0"/>
              <a:t>The roles are not arbitrary — they have standardized meaning across tools and platforms.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</a:t>
            </a:r>
            <a:r>
              <a:rPr dirty="0" err="1"/>
              <a:t>ClearDataClearImpact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Slices: Subsetting the Cube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9500"/>
          </a:bodyPr>
          <a:lstStyle/>
          <a:p>
            <a:pPr marL="0" indent="0">
              <a:buNone/>
            </a:pPr>
            <a:r>
              <a:rPr dirty="0"/>
              <a:t>A Slice fixes certain dimensions or attributes to create a subset of the cube.</a:t>
            </a:r>
          </a:p>
          <a:p>
            <a:pPr marL="0" indent="0">
              <a:buNone/>
            </a:pPr>
            <a:r>
              <a:rPr b="1" dirty="0"/>
              <a:t>Full Cube (all data):</a:t>
            </a:r>
          </a:p>
          <a:p>
            <a:r>
              <a:rPr dirty="0"/>
              <a:t>Dimensions: subject, visit, parameter, treatment</a:t>
            </a:r>
          </a:p>
          <a:p>
            <a:r>
              <a:rPr dirty="0"/>
              <a:t>Measures: </a:t>
            </a:r>
            <a:r>
              <a:rPr dirty="0" err="1"/>
              <a:t>analysis_value</a:t>
            </a:r>
            <a:r>
              <a:rPr dirty="0"/>
              <a:t>, </a:t>
            </a:r>
            <a:r>
              <a:rPr dirty="0" err="1"/>
              <a:t>baseline_value</a:t>
            </a:r>
            <a:r>
              <a:rPr dirty="0"/>
              <a:t>, </a:t>
            </a:r>
            <a:r>
              <a:rPr dirty="0" err="1"/>
              <a:t>change_value</a:t>
            </a:r>
            <a:endParaRPr dirty="0"/>
          </a:p>
          <a:p>
            <a:r>
              <a:rPr dirty="0"/>
              <a:t>Attributes: </a:t>
            </a:r>
            <a:r>
              <a:rPr dirty="0" err="1"/>
              <a:t>population_flag</a:t>
            </a:r>
            <a:r>
              <a:rPr dirty="0"/>
              <a:t>, </a:t>
            </a:r>
            <a:r>
              <a:rPr dirty="0" err="1"/>
              <a:t>baseline_flag</a:t>
            </a:r>
            <a:endParaRPr lang="da-DK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Slice (analysis context):</a:t>
            </a:r>
          </a:p>
          <a:p>
            <a:r>
              <a:rPr dirty="0"/>
              <a:t>parameter = "ADAS-Cog(11)"</a:t>
            </a:r>
          </a:p>
          <a:p>
            <a:r>
              <a:rPr dirty="0"/>
              <a:t>visit = "Week 24"</a:t>
            </a:r>
          </a:p>
          <a:p>
            <a:r>
              <a:rPr dirty="0" err="1"/>
              <a:t>population_flag</a:t>
            </a:r>
            <a:r>
              <a:rPr dirty="0"/>
              <a:t> = "Y" (efficacy population)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</a:t>
            </a:r>
            <a:r>
              <a:rPr dirty="0" err="1"/>
              <a:t>ClearDataClearImpact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Machine-Executable: Roles Define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2500" lnSpcReduction="20000"/>
          </a:bodyPr>
          <a:lstStyle/>
          <a:p>
            <a:pPr marL="0" indent="0">
              <a:buNone/>
            </a:pPr>
            <a:r>
              <a:rPr lang="en-GB" noProof="1"/>
              <a:t>Each CUBE role has inherent computational semantics — no pseudo-code needed:</a:t>
            </a:r>
          </a:p>
          <a:p>
            <a:pPr marL="0" indent="0">
              <a:buNone/>
            </a:pPr>
            <a:r>
              <a:rPr lang="en-GB" b="1" noProof="1"/>
              <a:t>CUBE Role → Code Generation Operation</a:t>
            </a:r>
          </a:p>
          <a:p>
            <a:r>
              <a:rPr lang="en-GB" noProof="1"/>
              <a:t>DIMENSION → GROUP BY / BY statement / stratification axis</a:t>
            </a:r>
          </a:p>
          <a:p>
            <a:r>
              <a:rPr lang="en-GB" noProof="1"/>
              <a:t>MEASURE (input) → Function arguments / MODEL variables</a:t>
            </a:r>
          </a:p>
          <a:p>
            <a:r>
              <a:rPr lang="en-GB" noProof="1"/>
              <a:t>MEASURE (output) → Return values / result columns</a:t>
            </a:r>
          </a:p>
          <a:p>
            <a:r>
              <a:rPr lang="en-GB" noProof="1"/>
              <a:t>ATTRIBUTE (slice) → WHERE clause / filter condition</a:t>
            </a:r>
          </a:p>
          <a:p>
            <a:endParaRPr lang="en-GB" noProof="1"/>
          </a:p>
          <a:p>
            <a:pPr marL="0" indent="0">
              <a:buNone/>
            </a:pPr>
            <a:r>
              <a:rPr lang="en-GB" b="1" noProof="1"/>
              <a:t>Declarative, Not Procedural</a:t>
            </a:r>
          </a:p>
          <a:p>
            <a:pPr>
              <a:buFont typeface="Wingdings" pitchFamily="2" charset="2"/>
              <a:buChar char="ü"/>
            </a:pPr>
            <a:r>
              <a:rPr lang="en-GB" noProof="1"/>
              <a:t>You specify the structure of input/output, not the steps</a:t>
            </a:r>
          </a:p>
          <a:p>
            <a:pPr marL="0" indent="0">
              <a:buNone/>
            </a:pPr>
            <a:r>
              <a:rPr lang="en-GB" b="1" noProof="1"/>
              <a:t>Platform Independent</a:t>
            </a:r>
          </a:p>
          <a:p>
            <a:pPr>
              <a:buFont typeface="Wingdings" pitchFamily="2" charset="2"/>
              <a:buChar char="ü"/>
            </a:pPr>
            <a:r>
              <a:rPr lang="en-GB" noProof="1"/>
              <a:t>Same cube definition can generate SAS, R, or Python if engine is developed</a:t>
            </a:r>
          </a:p>
          <a:p>
            <a:pPr marL="0" indent="0">
              <a:buNone/>
            </a:pPr>
            <a:r>
              <a:rPr lang="en-GB" b="1" noProof="1"/>
              <a:t>Unambiguous Semantics</a:t>
            </a:r>
          </a:p>
          <a:p>
            <a:pPr>
              <a:buFont typeface="Wingdings" pitchFamily="2" charset="2"/>
              <a:buChar char="ü"/>
            </a:pPr>
            <a:r>
              <a:rPr lang="en-GB" noProof="1"/>
              <a:t>A generator knows exactly what to do with DIMENSION vs MEASURE</a:t>
            </a:r>
          </a:p>
          <a:p>
            <a:pPr marL="0" indent="0">
              <a:buNone/>
            </a:pPr>
            <a:r>
              <a:rPr lang="en-GB" b="1" noProof="1"/>
              <a:t>Standardized</a:t>
            </a:r>
          </a:p>
          <a:p>
            <a:pPr>
              <a:buFont typeface="Wingdings" pitchFamily="2" charset="2"/>
              <a:buChar char="ü"/>
            </a:pPr>
            <a:r>
              <a:rPr lang="en-GB" noProof="1"/>
              <a:t>Standard is used by statistical agencies worldwide</a:t>
            </a:r>
          </a:p>
          <a:p>
            <a:pPr marL="0" indent="0">
              <a:buNone/>
            </a:pPr>
            <a:endParaRPr lang="en-GB" b="1" noProof="1"/>
          </a:p>
          <a:p>
            <a:pPr marL="0" indent="0">
              <a:buNone/>
            </a:pPr>
            <a:r>
              <a:rPr lang="en-GB" b="1" noProof="1"/>
              <a:t>The cube structure IS the specification. </a:t>
            </a:r>
          </a:p>
          <a:p>
            <a:pPr marL="0" indent="0">
              <a:buNone/>
            </a:pPr>
            <a:r>
              <a:rPr lang="en-GB" b="1" noProof="1"/>
              <a:t>Roles carry meaning; a generator traverses the structure and emits code.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</a:t>
            </a:r>
            <a:r>
              <a:rPr dirty="0" err="1"/>
              <a:t>ClearDataClearImpact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Both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Derivation Concepts &amp; Analysis Concepts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Modularity &amp; Traceability: The Recipe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62001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  <a:latin typeface="Arial"/>
              </a:defRPr>
            </a:pPr>
            <a:r>
              <a:t>Recipes reference other recipes — just like AC/DC derivations and analyses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53163"/>
            <a:ext cx="4206240" cy="3840480"/>
          </a:xfrm>
          <a:prstGeom prst="roundRect">
            <a:avLst/>
          </a:prstGeom>
          <a:solidFill>
            <a:srgbClr val="E8F4FC"/>
          </a:solidFill>
          <a:ln w="254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198883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3366"/>
                </a:solidFill>
                <a:latin typeface="Arial"/>
              </a:defRPr>
            </a:pPr>
            <a:r>
              <a:t>AC/DC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18923"/>
            <a:ext cx="39319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46355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S_AC_001: ANCOVA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29235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Uses: S_DC_004 (change_value)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148840" y="2067563"/>
            <a:ext cx="182880" cy="228600"/>
          </a:xfrm>
          <a:prstGeom prst="down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5760" y="2341883"/>
            <a:ext cx="39319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369315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S_DC_004: ChangeFromBaseline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52195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Uses: S_DC_001, S_DC_003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148840" y="2890523"/>
            <a:ext cx="182880" cy="228600"/>
          </a:xfrm>
          <a:prstGeom prst="down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65760" y="3164843"/>
            <a:ext cx="182880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210563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03366"/>
                </a:solidFill>
                <a:latin typeface="Arial"/>
              </a:defRPr>
            </a:pPr>
            <a:r>
              <a:t>S_DC_001: AVAL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75155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Template: CopyValue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3164843"/>
            <a:ext cx="182880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3210563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03366"/>
                </a:solidFill>
                <a:latin typeface="Arial"/>
              </a:defRPr>
            </a:pPr>
            <a:r>
              <a:t>S_DC_003: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375155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Template: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713483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E7D32"/>
                </a:solidFill>
                <a:latin typeface="Arial"/>
              </a:defRPr>
            </a:pPr>
            <a:r>
              <a:t>↓ Top-Down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896363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Planning: What do I need?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3713483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65100"/>
                </a:solidFill>
                <a:latin typeface="Arial"/>
              </a:defRPr>
            </a:pPr>
            <a:r>
              <a:t>↑ Bottom-Up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896363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Audit: Where is this used?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247904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65100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165608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65100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1153163"/>
            <a:ext cx="4206240" cy="3840480"/>
          </a:xfrm>
          <a:prstGeom prst="roundRect">
            <a:avLst/>
          </a:prstGeom>
          <a:solidFill>
            <a:srgbClr val="FEF6E8"/>
          </a:solidFill>
          <a:ln w="254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00600" y="1198883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B5A2B"/>
                </a:solidFill>
                <a:latin typeface="Arial"/>
              </a:defRPr>
            </a:pPr>
            <a:r>
              <a:t>Recipe Analogy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1518923"/>
            <a:ext cx="39319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0" y="1546355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t>Recipe: Caesar Salad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1729235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Uses: Caesar Dressing recipe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6629400" y="2067563"/>
            <a:ext cx="182880" cy="228600"/>
          </a:xfrm>
          <a:prstGeom prst="downArrow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846320" y="2341883"/>
            <a:ext cx="39319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37760" y="2369315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t>Recipe: Caesar Dressing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552195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Uses: Vinaigrette Base, Garlic Paste recipes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6629400" y="2890523"/>
            <a:ext cx="182880" cy="228600"/>
          </a:xfrm>
          <a:prstGeom prst="downArrow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846320" y="3164843"/>
            <a:ext cx="182880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37760" y="3210563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B5A2B"/>
                </a:solidFill>
                <a:latin typeface="Arial"/>
              </a:defRPr>
            </a:pPr>
            <a:r>
              <a:t>Recipe: Vinaigrette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3375155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Technique: Emulsify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49440" y="3164843"/>
            <a:ext cx="182880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40880" y="3210563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B5A2B"/>
                </a:solidFill>
                <a:latin typeface="Arial"/>
              </a:defRPr>
            </a:pPr>
            <a:r>
              <a:t>Recipe: Garlic Paste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3375155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Technique: Mince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3713483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E7D32"/>
                </a:solidFill>
                <a:latin typeface="Arial"/>
              </a:defRPr>
            </a:pPr>
            <a:r>
              <a:t>↓ Planning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600" y="3896363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What recipes do I need?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3713483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65100"/>
                </a:solidFill>
                <a:latin typeface="Arial"/>
              </a:defRPr>
            </a:pPr>
            <a:r>
              <a:t>↑ Tracing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896363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Where is this recipe used?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247904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65100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165608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65100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4262123"/>
            <a:ext cx="8686800" cy="41148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0040" y="4307843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Modularity: Recipes build on other recipes  •  Traceability: Follow dependencies in either direction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34840" y="170180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666666"/>
                </a:solidFill>
                <a:latin typeface="Arial"/>
              </a:defRPr>
            </a:pPr>
            <a:r>
              <a:t>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34840" y="252476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666666"/>
                </a:solidFill>
                <a:latin typeface="Arial"/>
              </a:defRPr>
            </a:pPr>
            <a:r>
              <a:t>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34840" y="330200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666666"/>
                </a:solidFill>
                <a:latin typeface="Arial"/>
              </a:defRPr>
            </a:pPr>
            <a:r>
              <a:t>≈</a:t>
            </a:r>
          </a:p>
        </p:txBody>
      </p:sp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1B5F4C99-53F7-41E3-77FD-87829E8A3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Derivation Concepts (DC): ADaM Variable Derivations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noProof="1"/>
              <a:t>Instead of 500-line monolithic programs:</a:t>
            </a:r>
          </a:p>
          <a:p>
            <a:pPr marL="0" indent="0">
              <a:buNone/>
            </a:pPr>
            <a:r>
              <a:rPr lang="en-GB" noProof="1"/>
              <a:t>CHG = AVAL - BASE; /* buried in code */</a:t>
            </a:r>
          </a:p>
          <a:p>
            <a:pPr marL="0" indent="0">
              <a:buNone/>
            </a:pPr>
            <a:endParaRPr lang="en-GB" noProof="1"/>
          </a:p>
          <a:p>
            <a:pPr marL="0" indent="0">
              <a:buNone/>
            </a:pPr>
            <a:r>
              <a:rPr lang="en-GB" sz="1900" b="1" noProof="1"/>
              <a:t>Define atomic, composable derivations</a:t>
            </a:r>
            <a:r>
              <a:rPr lang="en-GB" b="1" noProof="1"/>
              <a:t>:</a:t>
            </a:r>
          </a:p>
          <a:p>
            <a:pPr marL="0" indent="0">
              <a:buNone/>
            </a:pPr>
            <a:endParaRPr lang="en-GB" b="1" noProof="1"/>
          </a:p>
          <a:p>
            <a:pPr marL="0" indent="0">
              <a:buNone/>
            </a:pPr>
            <a:r>
              <a:rPr lang="en-GB" b="1" noProof="1"/>
              <a:t>DC Instance: S_DC_004 (based on T_DC_ChangeFromBaseline)</a:t>
            </a:r>
          </a:p>
          <a:p>
            <a:pPr marL="365760" indent="-182880" algn="l">
              <a:buChar char="•"/>
            </a:pPr>
            <a:r>
              <a:rPr lang="en-GB" noProof="1"/>
              <a:t>Input concepts: analysis_value, baseline_value</a:t>
            </a:r>
          </a:p>
          <a:p>
            <a:pPr marL="365760" indent="-182880" algn="l">
              <a:buChar char="•"/>
            </a:pPr>
            <a:r>
              <a:rPr lang="en-GB" noProof="1"/>
              <a:t>Output concept: change_value</a:t>
            </a:r>
          </a:p>
          <a:p>
            <a:pPr marL="365760" indent="-182880" algn="l">
              <a:buChar char="•"/>
            </a:pPr>
            <a:r>
              <a:rPr lang="en-GB" noProof="1"/>
              <a:t>Formula: target = analysis_value - baseline_value</a:t>
            </a:r>
          </a:p>
          <a:p>
            <a:pPr marL="365760" indent="-182880" algn="l">
              <a:buChar char="•"/>
            </a:pPr>
            <a:r>
              <a:rPr lang="en-GB" noProof="1"/>
              <a:t>Depends on: S_DC_001 (AVAL), S_DC_003 (BASE)</a:t>
            </a:r>
          </a:p>
          <a:p>
            <a:pPr marL="0" indent="0">
              <a:buNone/>
            </a:pPr>
            <a:endParaRPr lang="en-GB" noProof="1"/>
          </a:p>
          <a:p>
            <a:pPr marL="0" indent="0">
              <a:buNone/>
            </a:pPr>
            <a:r>
              <a:rPr lang="en-GB" b="1" noProof="1"/>
              <a:t>Benefits:</a:t>
            </a:r>
          </a:p>
          <a:p>
            <a:pPr marL="365760" indent="-182880" algn="l">
              <a:buChar char="•"/>
            </a:pPr>
            <a:r>
              <a:rPr lang="en-GB" noProof="1"/>
              <a:t>Explicit dependency graph</a:t>
            </a:r>
          </a:p>
          <a:p>
            <a:pPr marL="365760" indent="-182880" algn="l">
              <a:buChar char="•"/>
            </a:pPr>
            <a:r>
              <a:rPr lang="en-GB" noProof="1"/>
              <a:t>Reusable across studies (same template, different implementation)</a:t>
            </a:r>
          </a:p>
          <a:p>
            <a:pPr marL="365760" indent="-182880" algn="l">
              <a:buChar char="•"/>
            </a:pPr>
            <a:r>
              <a:rPr lang="en-GB" noProof="1"/>
              <a:t>Automatic traceability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</a:t>
            </a:r>
            <a:r>
              <a:rPr dirty="0" err="1"/>
              <a:t>ClearDataClearImpact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Analysis Concepts (AC): Complex Analyses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200" b="1" dirty="0"/>
              <a:t>For statistical operations beyond simple derivations:</a:t>
            </a:r>
          </a:p>
          <a:p>
            <a:pPr marL="0" indent="0">
              <a:buNone/>
            </a:pPr>
            <a:endParaRPr sz="1200" b="1" dirty="0"/>
          </a:p>
          <a:p>
            <a:pPr marL="0" indent="0">
              <a:buNone/>
            </a:pPr>
            <a:r>
              <a:rPr sz="1200" b="1" dirty="0"/>
              <a:t>AC Instance: S_AC_001 (based on T_AC_ANCOVA)</a:t>
            </a:r>
          </a:p>
          <a:p>
            <a:pPr marL="0" indent="0">
              <a:buNone/>
            </a:pPr>
            <a:endParaRPr sz="1200" b="1" dirty="0"/>
          </a:p>
          <a:p>
            <a:pPr marL="0" indent="0">
              <a:buNone/>
            </a:pPr>
            <a:r>
              <a:rPr sz="1200" b="1" dirty="0"/>
              <a:t>Template's cube roles map to statistical operations:</a:t>
            </a:r>
          </a:p>
          <a:p>
            <a:pPr marL="365760" indent="-182880" algn="l">
              <a:buChar char="•"/>
            </a:pPr>
            <a:r>
              <a:rPr sz="1200" dirty="0"/>
              <a:t>Concept with role=dimension (factor) → CLASS variables</a:t>
            </a:r>
          </a:p>
          <a:p>
            <a:pPr marL="365760" indent="-182880" algn="l">
              <a:buChar char="•"/>
            </a:pPr>
            <a:r>
              <a:rPr sz="1200" dirty="0"/>
              <a:t>Concept with role=measure (dependent) → MODEL left side</a:t>
            </a:r>
          </a:p>
          <a:p>
            <a:pPr marL="365760" indent="-182880" algn="l">
              <a:buChar char="•"/>
            </a:pPr>
            <a:r>
              <a:rPr sz="1200" dirty="0"/>
              <a:t>Concept with role=measure (covariate) → MODEL right side</a:t>
            </a:r>
          </a:p>
          <a:p>
            <a:pPr marL="365760" indent="-182880" algn="l">
              <a:buChar char="•"/>
            </a:pPr>
            <a:r>
              <a:rPr sz="1200" dirty="0"/>
              <a:t>Concept with fixed value (slice) → WHERE clause</a:t>
            </a:r>
          </a:p>
          <a:p>
            <a:pPr marL="0" indent="0">
              <a:buNone/>
            </a:pPr>
            <a:endParaRPr sz="1200" dirty="0"/>
          </a:p>
          <a:p>
            <a:pPr marL="0" indent="0">
              <a:buNone/>
            </a:pPr>
            <a:r>
              <a:rPr sz="1200" b="1" dirty="0"/>
              <a:t>Output cube contains results:</a:t>
            </a:r>
          </a:p>
          <a:p>
            <a:pPr marL="0" indent="0">
              <a:buNone/>
            </a:pPr>
            <a:r>
              <a:rPr sz="1200" dirty="0" err="1"/>
              <a:t>lsmean</a:t>
            </a:r>
            <a:r>
              <a:rPr sz="1200" dirty="0"/>
              <a:t>, </a:t>
            </a:r>
            <a:r>
              <a:rPr sz="1200" dirty="0" err="1"/>
              <a:t>lsmean_se</a:t>
            </a:r>
            <a:r>
              <a:rPr sz="1200" dirty="0"/>
              <a:t>, </a:t>
            </a:r>
            <a:r>
              <a:rPr sz="1200" dirty="0" err="1"/>
              <a:t>ci_lower</a:t>
            </a:r>
            <a:r>
              <a:rPr sz="1200" dirty="0"/>
              <a:t>, </a:t>
            </a:r>
            <a:r>
              <a:rPr sz="1200" dirty="0" err="1"/>
              <a:t>ci_upper</a:t>
            </a:r>
            <a:r>
              <a:rPr sz="1200" dirty="0"/>
              <a:t>, </a:t>
            </a:r>
            <a:r>
              <a:rPr sz="1200" dirty="0" err="1"/>
              <a:t>p_value</a:t>
            </a:r>
            <a:endParaRPr sz="1200" dirty="0"/>
          </a:p>
          <a:p>
            <a:pPr marL="0" indent="0">
              <a:buNone/>
            </a:pPr>
            <a:r>
              <a:rPr sz="1200" dirty="0"/>
              <a:t>Same template handles ADAS-Cog, MMSE, any efficacy endpoint — only the slice changes.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t>#ClearDataClearImpact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Bidirectional Traceability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200" b="1" dirty="0"/>
              <a:t>At SAP Writing Time (Top-Down):</a:t>
            </a:r>
          </a:p>
          <a:p>
            <a:pPr marL="0" indent="0">
              <a:buNone/>
            </a:pPr>
            <a:r>
              <a:rPr sz="1200" dirty="0"/>
              <a:t>1. Author defines: "ANCOVA of change from baseline in ADAS-Cog(11)"</a:t>
            </a:r>
          </a:p>
          <a:p>
            <a:pPr marL="0" indent="0">
              <a:buNone/>
            </a:pPr>
            <a:r>
              <a:rPr sz="1200" dirty="0"/>
              <a:t>2. System identifies required concepts: </a:t>
            </a:r>
            <a:r>
              <a:rPr sz="1200" dirty="0" err="1"/>
              <a:t>change_value</a:t>
            </a:r>
            <a:r>
              <a:rPr sz="1200" dirty="0"/>
              <a:t>, </a:t>
            </a:r>
            <a:r>
              <a:rPr sz="1200" dirty="0" err="1"/>
              <a:t>baseline_value</a:t>
            </a:r>
            <a:endParaRPr sz="1200" dirty="0"/>
          </a:p>
          <a:p>
            <a:pPr marL="0" indent="0">
              <a:buNone/>
            </a:pPr>
            <a:r>
              <a:rPr sz="1200" dirty="0"/>
              <a:t>3. System surfaces DC requirements: CHG needs BASE needs ABLFL</a:t>
            </a:r>
          </a:p>
          <a:p>
            <a:pPr marL="0" indent="0">
              <a:buNone/>
            </a:pPr>
            <a:r>
              <a:rPr sz="1200" dirty="0"/>
              <a:t>4. </a:t>
            </a:r>
            <a:r>
              <a:rPr sz="1200" dirty="0" err="1"/>
              <a:t>ADaM</a:t>
            </a:r>
            <a:r>
              <a:rPr sz="1200" dirty="0"/>
              <a:t> specs generated from the dependency graph</a:t>
            </a:r>
          </a:p>
          <a:p>
            <a:pPr marL="0" indent="0">
              <a:buNone/>
            </a:pPr>
            <a:endParaRPr sz="1200" dirty="0"/>
          </a:p>
          <a:p>
            <a:pPr marL="0" indent="0">
              <a:buNone/>
            </a:pPr>
            <a:r>
              <a:rPr sz="1200" b="1" dirty="0"/>
              <a:t>At Submission Time (Bottom-Up):</a:t>
            </a:r>
          </a:p>
          <a:p>
            <a:pPr marL="0" indent="0">
              <a:buNone/>
            </a:pPr>
            <a:r>
              <a:rPr sz="1200" dirty="0"/>
              <a:t>Reviewer: "How was the LS Mean difference of -3.2 calculated?"</a:t>
            </a:r>
          </a:p>
          <a:p>
            <a:pPr marL="0" indent="0">
              <a:buNone/>
            </a:pPr>
            <a:r>
              <a:rPr sz="1200" b="1" dirty="0"/>
              <a:t>System traces:</a:t>
            </a:r>
          </a:p>
          <a:p>
            <a:pPr marL="365760" indent="-182880" algn="l">
              <a:buChar char="•"/>
            </a:pPr>
            <a:r>
              <a:rPr sz="1200" dirty="0"/>
              <a:t>Result (-3.2) → S_AC_001 (ANCOVA)</a:t>
            </a:r>
          </a:p>
          <a:p>
            <a:pPr marL="731520" lvl="1" indent="-182880" algn="l">
              <a:buChar char="•"/>
            </a:pPr>
            <a:r>
              <a:rPr sz="1050" dirty="0"/>
              <a:t>→ Input: ADQSADAS.CHG</a:t>
            </a:r>
          </a:p>
          <a:p>
            <a:pPr marL="731520" lvl="1" indent="-182880" algn="l">
              <a:buChar char="•"/>
            </a:pPr>
            <a:r>
              <a:rPr sz="1050" dirty="0"/>
              <a:t>→ Derived by: S_DC_004 (</a:t>
            </a:r>
            <a:r>
              <a:rPr sz="1050" dirty="0" err="1"/>
              <a:t>ChangeFromBaseline</a:t>
            </a:r>
            <a:r>
              <a:rPr sz="1050" dirty="0"/>
              <a:t>)</a:t>
            </a:r>
          </a:p>
          <a:p>
            <a:pPr marL="731520" lvl="1" indent="-182880" algn="l">
              <a:buChar char="•"/>
            </a:pPr>
            <a:r>
              <a:rPr sz="1050" dirty="0"/>
              <a:t>→ Sources: AVAL, BASE</a:t>
            </a:r>
          </a:p>
          <a:p>
            <a:pPr marL="0" indent="0">
              <a:buNone/>
            </a:pPr>
            <a:r>
              <a:rPr sz="1200" dirty="0"/>
              <a:t>The same metadata supports both directions.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t>#ClearDataClearImpact</a:t>
            </a:r>
          </a:p>
        </p:txBody>
      </p:sp>
      <p:pic>
        <p:nvPicPr>
          <p:cNvPr id="4" name="Picture 3" descr="A screenshot of a diagram  AI-generated content may be incorrect.">
            <a:extLst>
              <a:ext uri="{FF2B5EF4-FFF2-40B4-BE49-F238E27FC236}">
                <a16:creationId xmlns:a16="http://schemas.microsoft.com/office/drawing/2014/main" id="{B5A91370-18FC-BC46-695D-CBB0232136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445" y="1939608"/>
            <a:ext cx="3769949" cy="282765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5ED0-C8F6-60A0-C10E-4007CFBD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BDC67-74A7-AEAE-37F8-94CDC3650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63857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7015062" cy="64633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indent="0" defTabSz="685800">
              <a:lnSpc>
                <a:spcPct val="90000"/>
              </a:lnSpc>
              <a:spcBef>
                <a:spcPct val="0"/>
              </a:spcBef>
              <a:buNone/>
              <a:defRPr sz="2400" b="1"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What the Framework Guarantees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3840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1400" b="1">
                <a:solidFill>
                  <a:srgbClr val="005A8B"/>
                </a:solidFill>
              </a:defRPr>
            </a:pPr>
            <a:r>
              <a:rPr b="1" dirty="0"/>
              <a:t>STANDARDIZED</a:t>
            </a:r>
            <a:endParaRPr lang="da-DK" b="1" dirty="0"/>
          </a:p>
          <a:p>
            <a:pPr marL="0" indent="0">
              <a:buNone/>
              <a:defRPr sz="1400" b="1">
                <a:solidFill>
                  <a:srgbClr val="005A8B"/>
                </a:solidFill>
              </a:defRPr>
            </a:pPr>
            <a:endParaRPr b="1" dirty="0"/>
          </a:p>
          <a:p>
            <a:pPr marL="0" indent="0">
              <a:buNone/>
            </a:pPr>
            <a:r>
              <a:rPr dirty="0"/>
              <a:t>ANCOVA will be performed</a:t>
            </a:r>
          </a:p>
          <a:p>
            <a:pPr marL="0" indent="0">
              <a:buNone/>
            </a:pPr>
            <a:r>
              <a:rPr dirty="0"/>
              <a:t>Change from baseline calculated</a:t>
            </a:r>
          </a:p>
          <a:p>
            <a:pPr marL="0" indent="0">
              <a:buNone/>
            </a:pPr>
            <a:r>
              <a:rPr dirty="0"/>
              <a:t>Model structure defined</a:t>
            </a:r>
          </a:p>
          <a:p>
            <a:pPr marL="0" indent="0">
              <a:buNone/>
            </a:pPr>
            <a:r>
              <a:rPr dirty="0"/>
              <a:t>Results traceable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84048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1400" b="1">
                <a:solidFill>
                  <a:srgbClr val="005A8B"/>
                </a:solidFill>
              </a:defRPr>
            </a:pPr>
            <a:r>
              <a:rPr lang="en-GB" b="1" noProof="1"/>
              <a:t>NOT STANDARDIZED</a:t>
            </a:r>
          </a:p>
          <a:p>
            <a:pPr marL="0" indent="0">
              <a:buNone/>
            </a:pPr>
            <a:endParaRPr lang="en-GB" noProof="1"/>
          </a:p>
          <a:p>
            <a:pPr marL="0" indent="0">
              <a:buNone/>
            </a:pPr>
            <a:r>
              <a:rPr lang="en-GB" noProof="1"/>
              <a:t>The choice of derivation and analysis for your study</a:t>
            </a:r>
          </a:p>
          <a:p>
            <a:pPr marL="0" indent="0">
              <a:buNone/>
            </a:pPr>
            <a:endParaRPr lang="en-GB" noProof="1"/>
          </a:p>
          <a:p>
            <a:pPr marL="0" indent="0">
              <a:buNone/>
            </a:pPr>
            <a:r>
              <a:rPr lang="en-GB" noProof="1"/>
              <a:t>We standardize the cookbook,</a:t>
            </a:r>
          </a:p>
          <a:p>
            <a:pPr marL="0" indent="0">
              <a:buNone/>
            </a:pPr>
            <a:r>
              <a:rPr lang="en-GB" noProof="1"/>
              <a:t>not the chef's judgment.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6171E-339B-EC09-5865-A0936C20F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38</a:t>
            </a:fld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8229600" cy="73152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indent="0" defTabSz="685800">
              <a:lnSpc>
                <a:spcPct val="90000"/>
              </a:lnSpc>
              <a:spcBef>
                <a:spcPct val="0"/>
              </a:spcBef>
              <a:buNone/>
              <a:defRPr sz="2400" b="1"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The Cookbook Guides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80010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1600">
                <a:solidFill>
                  <a:srgbClr val="333333"/>
                </a:solidFill>
              </a:defRPr>
            </a:pPr>
            <a:r>
              <a:rPr lang="en-GB" noProof="1"/>
              <a:t>For example, ANCOVA template prompts you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noProof="1"/>
              <a:t>Required: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Response, Treatment, Baseline covariate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noProof="1"/>
              <a:t>Optional: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Additional covariates?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Include interactions?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noProof="1"/>
              <a:t>Parameters: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SS type, Alpha, CI level</a:t>
            </a:r>
          </a:p>
          <a:p>
            <a:pPr lvl="1"/>
            <a:endParaRPr lang="en-GB" noProof="1"/>
          </a:p>
          <a:p>
            <a:pPr marL="0" indent="0">
              <a:buNone/>
            </a:pPr>
            <a:r>
              <a:rPr lang="en-GB" b="1" noProof="1"/>
              <a:t>Ensures you don't miss decisions.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66ABD28-16AC-B9FF-0ECA-120860D76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9C721-B29A-1023-BB2E-AAB5B2590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Principles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A3C0E-82E6-9DC6-2FD4-AEFDC4C9A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40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4131A-6BA9-EA4D-2CE6-9B21B6183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#ClearDataClearImpact</a:t>
            </a:r>
          </a:p>
          <a:p>
            <a:endParaRPr lang="en-US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419B9D58-E052-36F2-A49D-FB54F7FBC1E9}"/>
              </a:ext>
            </a:extLst>
          </p:cNvPr>
          <p:cNvSpPr/>
          <p:nvPr/>
        </p:nvSpPr>
        <p:spPr>
          <a:xfrm>
            <a:off x="304800" y="895350"/>
            <a:ext cx="2768650" cy="967383"/>
          </a:xfrm>
          <a:prstGeom prst="roundRect">
            <a:avLst>
              <a:gd name="adj" fmla="val 5908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C10D52D-1D67-5B96-FB90-6E0421F22A41}"/>
              </a:ext>
            </a:extLst>
          </p:cNvPr>
          <p:cNvSpPr/>
          <p:nvPr/>
        </p:nvSpPr>
        <p:spPr>
          <a:xfrm>
            <a:off x="323850" y="895350"/>
            <a:ext cx="0" cy="967383"/>
          </a:xfrm>
          <a:prstGeom prst="line">
            <a:avLst/>
          </a:prstGeom>
          <a:noFill/>
          <a:ln w="381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9B73E5C-FD72-23BF-D941-1AD6ED705ECB}"/>
              </a:ext>
            </a:extLst>
          </p:cNvPr>
          <p:cNvSpPr/>
          <p:nvPr/>
        </p:nvSpPr>
        <p:spPr>
          <a:xfrm>
            <a:off x="457200" y="1047750"/>
            <a:ext cx="25519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</a:t>
            </a:r>
            <a:endParaRPr lang="en-US" sz="975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ADB38CA-FAB1-3CEC-4458-F1A4355DFEED}"/>
              </a:ext>
            </a:extLst>
          </p:cNvPr>
          <p:cNvSpPr/>
          <p:nvPr/>
        </p:nvSpPr>
        <p:spPr>
          <a:xfrm>
            <a:off x="457200" y="1259086"/>
            <a:ext cx="25519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concepts exist (CTM) vs HOW transformations work (Methods/Templates)</a:t>
            </a:r>
            <a:endParaRPr lang="en-US" sz="825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C9F4999-AD67-8F84-333A-9736729B7EC5}"/>
              </a:ext>
            </a:extLst>
          </p:cNvPr>
          <p:cNvSpPr/>
          <p:nvPr/>
        </p:nvSpPr>
        <p:spPr>
          <a:xfrm>
            <a:off x="457200" y="1590377"/>
            <a:ext cx="25519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 Ingredients vs cooking techniques</a:t>
            </a:r>
            <a:endParaRPr lang="en-US" sz="675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CDD2CBB-A07F-2CE2-9D8E-ECBF74327711}"/>
              </a:ext>
            </a:extLst>
          </p:cNvPr>
          <p:cNvSpPr/>
          <p:nvPr/>
        </p:nvSpPr>
        <p:spPr>
          <a:xfrm>
            <a:off x="3187750" y="895350"/>
            <a:ext cx="2768650" cy="967383"/>
          </a:xfrm>
          <a:prstGeom prst="roundRect">
            <a:avLst>
              <a:gd name="adj" fmla="val 5908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CCE62389-7A28-3C74-A643-C9067AEB4884}"/>
              </a:ext>
            </a:extLst>
          </p:cNvPr>
          <p:cNvSpPr/>
          <p:nvPr/>
        </p:nvSpPr>
        <p:spPr>
          <a:xfrm>
            <a:off x="3206800" y="895350"/>
            <a:ext cx="0" cy="967383"/>
          </a:xfrm>
          <a:prstGeom prst="line">
            <a:avLst/>
          </a:prstGeom>
          <a:noFill/>
          <a:ln w="381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BB03809-F8DE-28D5-12CE-A5E4DDF79C02}"/>
              </a:ext>
            </a:extLst>
          </p:cNvPr>
          <p:cNvSpPr/>
          <p:nvPr/>
        </p:nvSpPr>
        <p:spPr>
          <a:xfrm>
            <a:off x="3340150" y="1047750"/>
            <a:ext cx="25519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Implementation-Independence</a:t>
            </a:r>
            <a:endParaRPr lang="en-US" sz="975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14F4427-1875-935C-94D4-05CBBCD62218}"/>
              </a:ext>
            </a:extLst>
          </p:cNvPr>
          <p:cNvSpPr/>
          <p:nvPr/>
        </p:nvSpPr>
        <p:spPr>
          <a:xfrm>
            <a:off x="3340150" y="1259086"/>
            <a:ext cx="25519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specifications work across </a:t>
            </a:r>
            <a:r>
              <a:rPr lang="en-US" sz="825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</a:t>
            </a: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/SDTM, OMOP, FHIR, and future standards</a:t>
            </a:r>
            <a:endParaRPr lang="en-US" sz="825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93DEF993-8116-DF08-EF9E-EA22CC45E673}"/>
              </a:ext>
            </a:extLst>
          </p:cNvPr>
          <p:cNvSpPr/>
          <p:nvPr/>
        </p:nvSpPr>
        <p:spPr>
          <a:xfrm>
            <a:off x="3340150" y="1590377"/>
            <a:ext cx="25519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 Same recipe, any kitchen</a:t>
            </a:r>
            <a:endParaRPr lang="en-US" sz="675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D1DD55D-C63E-E788-EB25-208079AFD5C0}"/>
              </a:ext>
            </a:extLst>
          </p:cNvPr>
          <p:cNvSpPr/>
          <p:nvPr/>
        </p:nvSpPr>
        <p:spPr>
          <a:xfrm>
            <a:off x="6070699" y="895350"/>
            <a:ext cx="2768650" cy="967383"/>
          </a:xfrm>
          <a:prstGeom prst="roundRect">
            <a:avLst>
              <a:gd name="adj" fmla="val 5908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A0795962-81FC-F464-C07A-C74464C1396A}"/>
              </a:ext>
            </a:extLst>
          </p:cNvPr>
          <p:cNvSpPr/>
          <p:nvPr/>
        </p:nvSpPr>
        <p:spPr>
          <a:xfrm>
            <a:off x="6089749" y="895350"/>
            <a:ext cx="0" cy="967383"/>
          </a:xfrm>
          <a:prstGeom prst="line">
            <a:avLst/>
          </a:prstGeom>
          <a:noFill/>
          <a:ln w="381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1DABF98B-4F13-AE57-347F-5F178D9BB79E}"/>
              </a:ext>
            </a:extLst>
          </p:cNvPr>
          <p:cNvSpPr/>
          <p:nvPr/>
        </p:nvSpPr>
        <p:spPr>
          <a:xfrm>
            <a:off x="6223099" y="1047750"/>
            <a:ext cx="25519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Machine-Executable</a:t>
            </a:r>
            <a:endParaRPr lang="en-US" sz="975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CB7B15C8-68DB-F704-D31F-E4156E9788A2}"/>
              </a:ext>
            </a:extLst>
          </p:cNvPr>
          <p:cNvSpPr/>
          <p:nvPr/>
        </p:nvSpPr>
        <p:spPr>
          <a:xfrm>
            <a:off x="6223099" y="1259086"/>
            <a:ext cx="25519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drives automated code generation to R, SAS, Python</a:t>
            </a:r>
            <a:endParaRPr lang="en-US" sz="825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68FE7557-833F-7558-1109-FDB5CCD4DC84}"/>
              </a:ext>
            </a:extLst>
          </p:cNvPr>
          <p:cNvSpPr/>
          <p:nvPr/>
        </p:nvSpPr>
        <p:spPr>
          <a:xfrm>
            <a:off x="6223099" y="1590377"/>
            <a:ext cx="25519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 Recipe translates to any equipment</a:t>
            </a:r>
            <a:endParaRPr lang="en-US" sz="675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A7398767-0B75-3D6F-4979-F98A7CD58B37}"/>
              </a:ext>
            </a:extLst>
          </p:cNvPr>
          <p:cNvSpPr/>
          <p:nvPr/>
        </p:nvSpPr>
        <p:spPr>
          <a:xfrm>
            <a:off x="304800" y="1977033"/>
            <a:ext cx="2768650" cy="967383"/>
          </a:xfrm>
          <a:prstGeom prst="roundRect">
            <a:avLst>
              <a:gd name="adj" fmla="val 5908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07E89BB2-E5AF-855D-7593-269AF55F2D21}"/>
              </a:ext>
            </a:extLst>
          </p:cNvPr>
          <p:cNvSpPr/>
          <p:nvPr/>
        </p:nvSpPr>
        <p:spPr>
          <a:xfrm>
            <a:off x="323850" y="1977033"/>
            <a:ext cx="0" cy="967383"/>
          </a:xfrm>
          <a:prstGeom prst="line">
            <a:avLst/>
          </a:prstGeom>
          <a:noFill/>
          <a:ln w="381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DB5D637E-6CF9-F6CC-D984-B7327C1EFF51}"/>
              </a:ext>
            </a:extLst>
          </p:cNvPr>
          <p:cNvSpPr/>
          <p:nvPr/>
        </p:nvSpPr>
        <p:spPr>
          <a:xfrm>
            <a:off x="457200" y="2129433"/>
            <a:ext cx="25519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Richness</a:t>
            </a:r>
            <a:endParaRPr lang="en-US" sz="975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40AEDFD-A41C-0B8C-EF3D-5201AC67131F}"/>
              </a:ext>
            </a:extLst>
          </p:cNvPr>
          <p:cNvSpPr/>
          <p:nvPr/>
        </p:nvSpPr>
        <p:spPr>
          <a:xfrm>
            <a:off x="457200" y="2340769"/>
            <a:ext cx="25519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clinical intent, not just computational steps</a:t>
            </a:r>
            <a:endParaRPr lang="en-US" sz="825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03D92B7E-F87E-C8E3-ABFA-7AFCD1FA9A49}"/>
              </a:ext>
            </a:extLst>
          </p:cNvPr>
          <p:cNvSpPr/>
          <p:nvPr/>
        </p:nvSpPr>
        <p:spPr>
          <a:xfrm>
            <a:off x="457200" y="2525464"/>
            <a:ext cx="25519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 Why you're making vinaigrette, not just how</a:t>
            </a:r>
            <a:endParaRPr lang="en-US" sz="675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57FD7D5D-06D9-C8C3-F178-91545C84D46C}"/>
              </a:ext>
            </a:extLst>
          </p:cNvPr>
          <p:cNvSpPr/>
          <p:nvPr/>
        </p:nvSpPr>
        <p:spPr>
          <a:xfrm>
            <a:off x="3187750" y="1977033"/>
            <a:ext cx="2768650" cy="967383"/>
          </a:xfrm>
          <a:prstGeom prst="roundRect">
            <a:avLst>
              <a:gd name="adj" fmla="val 5908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86AFA91E-A97C-EBCA-FA15-C3B1A7E16D4D}"/>
              </a:ext>
            </a:extLst>
          </p:cNvPr>
          <p:cNvSpPr/>
          <p:nvPr/>
        </p:nvSpPr>
        <p:spPr>
          <a:xfrm>
            <a:off x="3206800" y="1977033"/>
            <a:ext cx="0" cy="967383"/>
          </a:xfrm>
          <a:prstGeom prst="line">
            <a:avLst/>
          </a:prstGeom>
          <a:noFill/>
          <a:ln w="381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368CE163-08A0-D42A-C186-CAE438CED75E}"/>
              </a:ext>
            </a:extLst>
          </p:cNvPr>
          <p:cNvSpPr/>
          <p:nvPr/>
        </p:nvSpPr>
        <p:spPr>
          <a:xfrm>
            <a:off x="3340150" y="2129433"/>
            <a:ext cx="25519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9B2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Pattern</a:t>
            </a:r>
            <a:endParaRPr lang="en-US" sz="975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AAE1781E-540D-D6FE-C3C3-203919F45FB4}"/>
              </a:ext>
            </a:extLst>
          </p:cNvPr>
          <p:cNvSpPr/>
          <p:nvPr/>
        </p:nvSpPr>
        <p:spPr>
          <a:xfrm>
            <a:off x="3340150" y="2340769"/>
            <a:ext cx="25519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derivation and analysis follow Method → Template → Implementation</a:t>
            </a:r>
            <a:endParaRPr lang="en-US" sz="825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9EFFE2BC-5790-E475-1044-981EC871E8BE}"/>
              </a:ext>
            </a:extLst>
          </p:cNvPr>
          <p:cNvSpPr/>
          <p:nvPr/>
        </p:nvSpPr>
        <p:spPr>
          <a:xfrm>
            <a:off x="3340150" y="2672060"/>
            <a:ext cx="25519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 Consistent approach for all recipes</a:t>
            </a:r>
            <a:endParaRPr lang="en-US" sz="675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A2CA2E96-EC85-575A-6A94-85D4AC627A34}"/>
              </a:ext>
            </a:extLst>
          </p:cNvPr>
          <p:cNvSpPr/>
          <p:nvPr/>
        </p:nvSpPr>
        <p:spPr>
          <a:xfrm>
            <a:off x="6070699" y="1977033"/>
            <a:ext cx="2768650" cy="967383"/>
          </a:xfrm>
          <a:prstGeom prst="roundRect">
            <a:avLst>
              <a:gd name="adj" fmla="val 5908"/>
            </a:avLst>
          </a:prstGeom>
          <a:solidFill>
            <a:srgbClr val="E0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CFA5AA0D-8647-439D-FBBE-1C970C844F48}"/>
              </a:ext>
            </a:extLst>
          </p:cNvPr>
          <p:cNvSpPr/>
          <p:nvPr/>
        </p:nvSpPr>
        <p:spPr>
          <a:xfrm>
            <a:off x="6089749" y="1977033"/>
            <a:ext cx="0" cy="967383"/>
          </a:xfrm>
          <a:prstGeom prst="line">
            <a:avLst/>
          </a:prstGeom>
          <a:noFill/>
          <a:ln w="381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A6F80337-2E4D-DB2A-72F5-A7BE7CCF19F7}"/>
              </a:ext>
            </a:extLst>
          </p:cNvPr>
          <p:cNvSpPr/>
          <p:nvPr/>
        </p:nvSpPr>
        <p:spPr>
          <a:xfrm>
            <a:off x="6223099" y="2129433"/>
            <a:ext cx="25519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CDISC-Maintained &amp; Extensible</a:t>
            </a:r>
            <a:endParaRPr lang="en-US" sz="975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10A8449F-ABFB-991B-ABA9-24D35CB62C7A}"/>
              </a:ext>
            </a:extLst>
          </p:cNvPr>
          <p:cNvSpPr/>
          <p:nvPr/>
        </p:nvSpPr>
        <p:spPr>
          <a:xfrm>
            <a:off x="6223099" y="2340769"/>
            <a:ext cx="25519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library of Methods/Templates; organizations can extend</a:t>
            </a:r>
            <a:endParaRPr lang="en-US" sz="825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9750E68E-9FA9-C659-4738-75720A2A8C66}"/>
              </a:ext>
            </a:extLst>
          </p:cNvPr>
          <p:cNvSpPr/>
          <p:nvPr/>
        </p:nvSpPr>
        <p:spPr>
          <a:xfrm>
            <a:off x="6223099" y="2672060"/>
            <a:ext cx="25519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 Master cookbook with room for house specials</a:t>
            </a:r>
            <a:endParaRPr lang="en-US" sz="675" dirty="0"/>
          </a:p>
        </p:txBody>
      </p:sp>
    </p:spTree>
    <p:extLst>
      <p:ext uri="{BB962C8B-B14F-4D97-AF65-F5344CB8AC3E}">
        <p14:creationId xmlns:p14="http://schemas.microsoft.com/office/powerpoint/2010/main" val="30727327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6930" y="413445"/>
            <a:ext cx="341014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spcAft>
                <a:spcPts val="1500"/>
              </a:spcAft>
              <a:buNone/>
            </a:pPr>
            <a:r>
              <a:rPr lang="en-US" sz="3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Insight</a:t>
            </a:r>
            <a:endParaRPr lang="en-US" sz="3300" dirty="0">
              <a:solidFill>
                <a:schemeClr val="accent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238250" y="1023045"/>
            <a:ext cx="6667500" cy="2447925"/>
          </a:xfrm>
          <a:prstGeom prst="roundRect">
            <a:avLst>
              <a:gd name="adj" fmla="val 4669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443609" y="1327845"/>
            <a:ext cx="62567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</a:t>
            </a: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AC/DC Template</a:t>
            </a:r>
            <a:r>
              <a:rPr lang="en-US" sz="15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works with any data standard, any study, as long as you have the right types of data concepts and apply the appropriate statistical method.</a:t>
            </a:r>
            <a:endParaRPr lang="en-US" sz="1500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443609" y="2394645"/>
            <a:ext cx="6256782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as a recipe doesn't need to know if your olive oil is organic, cold-pressed, or from a specific region — it just needs "oil" that plays the role of "fat" in the process.</a:t>
            </a:r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171575" y="3699570"/>
            <a:ext cx="68008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power of separation of concerns.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91000" y="4324350"/>
            <a:ext cx="762000" cy="2857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171575" y="4505325"/>
            <a:ext cx="68008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AC/DC Framework - CDISC Standards</a:t>
            </a:r>
            <a:endParaRPr lang="en-US" sz="1050" dirty="0">
              <a:solidFill>
                <a:schemeClr val="accent1"/>
              </a:solidFill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29EE7D2A-889A-4CF0-762C-FAE1B5CBD8DC}"/>
              </a:ext>
            </a:extLst>
          </p:cNvPr>
          <p:cNvSpPr txBox="1">
            <a:spLocks/>
          </p:cNvSpPr>
          <p:nvPr/>
        </p:nvSpPr>
        <p:spPr>
          <a:xfrm>
            <a:off x="8380520" y="4767263"/>
            <a:ext cx="30628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4FF9C4-EEBF-D24D-8A4E-C0B9CCE3F975}" type="slidenum">
              <a:rPr lang="en-US" sz="800" b="1" smtClean="0"/>
              <a:pPr/>
              <a:t>41</a:t>
            </a:fld>
            <a:endParaRPr lang="en-US" sz="8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DISC-1 1">
      <a:dk1>
        <a:srgbClr val="134678"/>
      </a:dk1>
      <a:lt1>
        <a:srgbClr val="FFFFFF"/>
      </a:lt1>
      <a:dk2>
        <a:srgbClr val="515349"/>
      </a:dk2>
      <a:lt2>
        <a:srgbClr val="F5F5F5"/>
      </a:lt2>
      <a:accent1>
        <a:srgbClr val="134678"/>
      </a:accent1>
      <a:accent2>
        <a:srgbClr val="A1D0CA"/>
      </a:accent2>
      <a:accent3>
        <a:srgbClr val="C94543"/>
      </a:accent3>
      <a:accent4>
        <a:srgbClr val="EDAA00"/>
      </a:accent4>
      <a:accent5>
        <a:srgbClr val="553278"/>
      </a:accent5>
      <a:accent6>
        <a:srgbClr val="40B3E5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5_Events-Slide-Template_CDISC-Staff_v4.pptx" id="{FC5671AF-E8C3-4A45-B01C-9ECD26A83B7F}" vid="{B4BDB1CE-3FE9-4318-B55C-55F720F10B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98eacbea-7562-4a40-a7f2-e999cdc0cec5" xsi:nil="true"/>
    <lcf76f155ced4ddcb4097134ff3c332f xmlns="98eacbea-7562-4a40-a7f2-e999cdc0cec5">
      <Terms xmlns="http://schemas.microsoft.com/office/infopath/2007/PartnerControls"/>
    </lcf76f155ced4ddcb4097134ff3c332f>
    <TaxCatchAll xmlns="75bf9804-c18d-470a-a27f-eeaf4abcd24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7D794EB48E7144959FE534A5ED3D9A" ma:contentTypeVersion="13" ma:contentTypeDescription="Create a new document." ma:contentTypeScope="" ma:versionID="332ebed6bf1f21540ac8ed4139e2af2e">
  <xsd:schema xmlns:xsd="http://www.w3.org/2001/XMLSchema" xmlns:xs="http://www.w3.org/2001/XMLSchema" xmlns:p="http://schemas.microsoft.com/office/2006/metadata/properties" xmlns:ns2="98eacbea-7562-4a40-a7f2-e999cdc0cec5" xmlns:ns3="75bf9804-c18d-470a-a27f-eeaf4abcd247" targetNamespace="http://schemas.microsoft.com/office/2006/metadata/properties" ma:root="true" ma:fieldsID="9643d50ff51ef4e8f7efba950a0a6c6b" ns2:_="" ns3:_="">
    <xsd:import namespace="98eacbea-7562-4a40-a7f2-e999cdc0cec5"/>
    <xsd:import namespace="75bf9804-c18d-470a-a27f-eeaf4abcd2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eacbea-7562-4a40-a7f2-e999cdc0ce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6b7e412-6c7f-44cd-93fc-1283bc8f8f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bf9804-c18d-470a-a27f-eeaf4abcd247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2440c8f-637a-4f66-b4f6-bf5ca76e88b3}" ma:internalName="TaxCatchAll" ma:showField="CatchAllData" ma:web="75bf9804-c18d-470a-a27f-eeaf4abcd2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3EAD0D-AD33-4DE9-A04C-ADBA8D81216E}">
  <ds:schemaRefs>
    <ds:schemaRef ds:uri="http://purl.org/dc/elements/1.1/"/>
    <ds:schemaRef ds:uri="http://www.w3.org/XML/1998/namespace"/>
    <ds:schemaRef ds:uri="http://schemas.microsoft.com/office/infopath/2007/PartnerControls"/>
    <ds:schemaRef ds:uri="42fd8685-662d-4ea0-adda-db2055aa5e88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openxmlformats.org/package/2006/metadata/core-properties"/>
    <ds:schemaRef ds:uri="6cd05e2c-1080-4123-b907-f31487dbd913"/>
    <ds:schemaRef ds:uri="http://purl.org/dc/dcmitype/"/>
    <ds:schemaRef ds:uri="e4bfa1c1-cbed-43b5-9d42-fe24faecfd28"/>
    <ds:schemaRef ds:uri="6942efca-e753-43c0-b995-a96645848828"/>
    <ds:schemaRef ds:uri="98eacbea-7562-4a40-a7f2-e999cdc0cec5"/>
    <ds:schemaRef ds:uri="75bf9804-c18d-470a-a27f-eeaf4abcd247"/>
  </ds:schemaRefs>
</ds:datastoreItem>
</file>

<file path=customXml/itemProps2.xml><?xml version="1.0" encoding="utf-8"?>
<ds:datastoreItem xmlns:ds="http://schemas.openxmlformats.org/officeDocument/2006/customXml" ds:itemID="{39A0DB44-58DC-4864-B5DB-6A708BBC18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eacbea-7562-4a40-a7f2-e999cdc0cec5"/>
    <ds:schemaRef ds:uri="75bf9804-c18d-470a-a27f-eeaf4abcd2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69330B-154C-43B9-AAF7-1A571867C6C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8794</TotalTime>
  <Words>3395</Words>
  <Application>Microsoft Macintosh PowerPoint</Application>
  <PresentationFormat>On-screen Show (16:9)</PresentationFormat>
  <Paragraphs>597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Arial</vt:lpstr>
      <vt:lpstr>Calibri</vt:lpstr>
      <vt:lpstr>Cambria Math</vt:lpstr>
      <vt:lpstr>Courier New</vt:lpstr>
      <vt:lpstr>Wingdings</vt:lpstr>
      <vt:lpstr>Office Theme</vt:lpstr>
      <vt:lpstr>The AC/DC Framework</vt:lpstr>
      <vt:lpstr>Agenda</vt:lpstr>
      <vt:lpstr>The Problem</vt:lpstr>
      <vt:lpstr>Everything is Hardcoded</vt:lpstr>
      <vt:lpstr>An automated approach – tied to specific language</vt:lpstr>
      <vt:lpstr>The AC/DC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Core Model</vt:lpstr>
      <vt:lpstr>Derivation and Analysis - Functions</vt:lpstr>
      <vt:lpstr>Layered Architecture</vt:lpstr>
      <vt:lpstr>The framework model - conceptually</vt:lpstr>
      <vt:lpstr>Three-Layer Architecture</vt:lpstr>
      <vt:lpstr>The Clinical Semantic Transformation Model  </vt:lpstr>
      <vt:lpstr>From Template to Study</vt:lpstr>
      <vt:lpstr>PowerPoint Presentation</vt:lpstr>
      <vt:lpstr>PowerPoint Presentation</vt:lpstr>
      <vt:lpstr>PowerPoint Presentation</vt:lpstr>
      <vt:lpstr>The Magic</vt:lpstr>
      <vt:lpstr>Restaurant Kitchen (OMOP)</vt:lpstr>
      <vt:lpstr>Data Cubes</vt:lpstr>
      <vt:lpstr>The AC/DC Model: A Function Over Data Cubes</vt:lpstr>
      <vt:lpstr>The SDMX Data Cube: Three Component Types</vt:lpstr>
      <vt:lpstr>Slices: Subsetting the Cube</vt:lpstr>
      <vt:lpstr>Machine-Executable: Roles Define Operations</vt:lpstr>
      <vt:lpstr>Both Directions</vt:lpstr>
      <vt:lpstr>PowerPoint Presentation</vt:lpstr>
      <vt:lpstr>Derivation Concepts (DC): ADaM Variable Derivations</vt:lpstr>
      <vt:lpstr>Analysis Concepts (AC): Complex Analyses</vt:lpstr>
      <vt:lpstr>Bidirectional Traceability</vt:lpstr>
      <vt:lpstr>Summary</vt:lpstr>
      <vt:lpstr>PowerPoint Presentation</vt:lpstr>
      <vt:lpstr>PowerPoint Presentation</vt:lpstr>
      <vt:lpstr>Key Principles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Melissa Kirwin</dc:creator>
  <cp:lastModifiedBy>Kirsten Langendorf</cp:lastModifiedBy>
  <cp:revision>32</cp:revision>
  <dcterms:created xsi:type="dcterms:W3CDTF">2025-01-22T00:21:32Z</dcterms:created>
  <dcterms:modified xsi:type="dcterms:W3CDTF">2026-01-28T13:43:42Z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0x010100D47D794EB48E7144959FE534A5ED3D9A</vt:lpwstr>
  </property>
  <property fmtid="{D5CDD505-2E9C-101B-9397-08002B2CF9AE}" pid="3" name="SharedWithUsers">
    <vt:lpwstr>51;#Sheila Leaman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MediaServiceImageTags">
    <vt:lpwstr/>
  </property>
</Properties>
</file>