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  <p:sldMasterId id="2147483682" r:id="rId6"/>
  </p:sldMasterIdLst>
  <p:notesMasterIdLst>
    <p:notesMasterId r:id="rId18"/>
  </p:notesMasterIdLst>
  <p:sldIdLst>
    <p:sldId id="267" r:id="rId7"/>
    <p:sldId id="305" r:id="rId8"/>
    <p:sldId id="2147482004" r:id="rId9"/>
    <p:sldId id="257" r:id="rId10"/>
    <p:sldId id="269" r:id="rId11"/>
    <p:sldId id="2147482005" r:id="rId12"/>
    <p:sldId id="2147481921" r:id="rId13"/>
    <p:sldId id="266" r:id="rId14"/>
    <p:sldId id="264" r:id="rId15"/>
    <p:sldId id="265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 Slides" id="{3E374DE5-8894-DD4E-8C00-9F17C52B5D29}">
          <p14:sldIdLst>
            <p14:sldId id="267"/>
            <p14:sldId id="305"/>
            <p14:sldId id="2147482004"/>
          </p14:sldIdLst>
        </p14:section>
        <p14:section name="Phase 1" id="{FC31DF5C-B833-456A-AE25-02D8612BCD59}">
          <p14:sldIdLst>
            <p14:sldId id="257"/>
            <p14:sldId id="269"/>
            <p14:sldId id="2147482005"/>
            <p14:sldId id="2147481921"/>
            <p14:sldId id="266"/>
            <p14:sldId id="264"/>
            <p14:sldId id="265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147F01-A2F7-7472-04AE-369BFB032A62}" name="Peter Van Reusel | Innovion" initials="PVR|I" userId="S::peter.van.reusel@innovion.be::29de67b4-cab3-439d-8c0d-c2267ed86c67" providerId="AD"/>
  <p188:author id="{EB8F7331-1BD9-195D-C5E3-7F69B8B128E9}" name="Lex Jansen (Contractor)" initials="LJ" userId="S::ljansen@cdisc.org::037d483d-cb71-4fe4-bf61-b6645badbd16" providerId="AD"/>
  <p188:author id="{6C9F9975-A703-E11F-1301-27D98714773E}" name="Sam Hume" initials="SH" userId="S::shume@cdisc.org::215624e0-cf4b-4ac0-b03c-fc890724767b" providerId="AD"/>
  <p188:author id="{FB985498-38AC-CE2D-2FA6-40E8BEB659F6}" name="Julie Smiley" initials="JS" userId="S::jsmiley@cdisc.org::31dda62b-8b27-4881-b0a7-6f75c3d514b9" providerId="AD"/>
  <p188:author id="{226C43C7-AD48-65C0-919D-77CD0A608306}" name="Bess LeRoy" initials="BL" userId="S::bleroy@cdisc.org::ee487b5a-2a83-4ba1-a8ee-c6d026b5d7a3" providerId="AD"/>
  <p188:author id="{919DDEE1-126A-0E29-6354-98E72B0E0509}" name="Peter Van Reusel" initials="PR" userId="S::pvanreusel@cdisc.org::ceee7418-dc66-49b8-a362-a1a89257fb58" providerId="AD"/>
  <p188:author id="{3EB15DED-DC60-AEFD-7FFC-182470623111}" name="Anthony Chow" initials="AC" userId="S::achow@cdisc.org::5de5fd86-59a0-4276-88cf-023e212b07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A91E"/>
    <a:srgbClr val="797979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2E8EE-4EAA-4882-86F4-64D01C1062EC}" v="4" dt="2026-02-19T15:57:00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1"/>
    <p:restoredTop sz="88862" autoAdjust="0"/>
  </p:normalViewPr>
  <p:slideViewPr>
    <p:cSldViewPr snapToGrid="0">
      <p:cViewPr varScale="1">
        <p:scale>
          <a:sx n="64" d="100"/>
          <a:sy n="64" d="100"/>
        </p:scale>
        <p:origin x="652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7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Van Reusel | Innovion" userId="29de67b4-cab3-439d-8c0d-c2267ed86c67" providerId="ADAL" clId="{A4EFF205-54EE-4AB4-A649-65A7E3BBB005}"/>
    <pc:docChg chg="custSel addSld delSld modSld sldOrd delSection modSection">
      <pc:chgData name="Peter Van Reusel | Innovion" userId="29de67b4-cab3-439d-8c0d-c2267ed86c67" providerId="ADAL" clId="{A4EFF205-54EE-4AB4-A649-65A7E3BBB005}" dt="2026-02-19T15:57:00.385" v="236"/>
      <pc:docMkLst>
        <pc:docMk/>
      </pc:docMkLst>
      <pc:sldChg chg="add">
        <pc:chgData name="Peter Van Reusel | Innovion" userId="29de67b4-cab3-439d-8c0d-c2267ed86c67" providerId="ADAL" clId="{A4EFF205-54EE-4AB4-A649-65A7E3BBB005}" dt="2026-02-19T15:57:00.385" v="236"/>
        <pc:sldMkLst>
          <pc:docMk/>
          <pc:sldMk cId="4150096435" sldId="257"/>
        </pc:sldMkLst>
      </pc:sldChg>
      <pc:sldChg chg="del">
        <pc:chgData name="Peter Van Reusel | Innovion" userId="29de67b4-cab3-439d-8c0d-c2267ed86c67" providerId="ADAL" clId="{A4EFF205-54EE-4AB4-A649-65A7E3BBB005}" dt="2026-02-19T15:48:19.425" v="185" actId="2696"/>
        <pc:sldMkLst>
          <pc:docMk/>
          <pc:sldMk cId="698394860" sldId="258"/>
        </pc:sldMkLst>
      </pc:sldChg>
      <pc:sldChg chg="ord">
        <pc:chgData name="Peter Van Reusel | Innovion" userId="29de67b4-cab3-439d-8c0d-c2267ed86c67" providerId="ADAL" clId="{A4EFF205-54EE-4AB4-A649-65A7E3BBB005}" dt="2026-02-19T15:49:41.536" v="189"/>
        <pc:sldMkLst>
          <pc:docMk/>
          <pc:sldMk cId="4240463373" sldId="264"/>
        </pc:sldMkLst>
      </pc:sldChg>
      <pc:sldChg chg="modSp add mod">
        <pc:chgData name="Peter Van Reusel | Innovion" userId="29de67b4-cab3-439d-8c0d-c2267ed86c67" providerId="ADAL" clId="{A4EFF205-54EE-4AB4-A649-65A7E3BBB005}" dt="2026-02-19T15:54:06.639" v="235" actId="27636"/>
        <pc:sldMkLst>
          <pc:docMk/>
          <pc:sldMk cId="4218661488" sldId="267"/>
        </pc:sldMkLst>
        <pc:spChg chg="mod">
          <ac:chgData name="Peter Van Reusel | Innovion" userId="29de67b4-cab3-439d-8c0d-c2267ed86c67" providerId="ADAL" clId="{A4EFF205-54EE-4AB4-A649-65A7E3BBB005}" dt="2026-02-19T15:40:56.139" v="65" actId="20577"/>
          <ac:spMkLst>
            <pc:docMk/>
            <pc:sldMk cId="4218661488" sldId="267"/>
            <ac:spMk id="2" creationId="{0DDCF067-C970-F1A3-3AD5-B5048FBFE52E}"/>
          </ac:spMkLst>
        </pc:spChg>
        <pc:spChg chg="mod">
          <ac:chgData name="Peter Van Reusel | Innovion" userId="29de67b4-cab3-439d-8c0d-c2267ed86c67" providerId="ADAL" clId="{A4EFF205-54EE-4AB4-A649-65A7E3BBB005}" dt="2026-02-19T15:54:06.639" v="235" actId="27636"/>
          <ac:spMkLst>
            <pc:docMk/>
            <pc:sldMk cId="4218661488" sldId="267"/>
            <ac:spMk id="3" creationId="{755D7A29-DF34-AEAB-E27C-FE5E544BDBC3}"/>
          </ac:spMkLst>
        </pc:spChg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3005474708" sldId="280"/>
        </pc:sldMkLst>
      </pc:sldChg>
      <pc:sldChg chg="del">
        <pc:chgData name="Peter Van Reusel | Innovion" userId="29de67b4-cab3-439d-8c0d-c2267ed86c67" providerId="ADAL" clId="{A4EFF205-54EE-4AB4-A649-65A7E3BBB005}" dt="2026-02-19T15:40:09.068" v="1" actId="47"/>
        <pc:sldMkLst>
          <pc:docMk/>
          <pc:sldMk cId="944330484" sldId="281"/>
        </pc:sldMkLst>
      </pc:sldChg>
      <pc:sldChg chg="del">
        <pc:chgData name="Peter Van Reusel | Innovion" userId="29de67b4-cab3-439d-8c0d-c2267ed86c67" providerId="ADAL" clId="{A4EFF205-54EE-4AB4-A649-65A7E3BBB005}" dt="2026-02-19T15:43:52.640" v="179" actId="2696"/>
        <pc:sldMkLst>
          <pc:docMk/>
          <pc:sldMk cId="2418586347" sldId="319"/>
        </pc:sldMkLst>
      </pc:sldChg>
      <pc:sldChg chg="del">
        <pc:chgData name="Peter Van Reusel | Innovion" userId="29de67b4-cab3-439d-8c0d-c2267ed86c67" providerId="ADAL" clId="{A4EFF205-54EE-4AB4-A649-65A7E3BBB005}" dt="2026-02-19T15:45:26.896" v="180" actId="2696"/>
        <pc:sldMkLst>
          <pc:docMk/>
          <pc:sldMk cId="1162426583" sldId="2147473166"/>
        </pc:sldMkLst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49801858" sldId="2147481919"/>
        </pc:sldMkLst>
      </pc:sldChg>
      <pc:sldChg chg="del">
        <pc:chgData name="Peter Van Reusel | Innovion" userId="29de67b4-cab3-439d-8c0d-c2267ed86c67" providerId="ADAL" clId="{A4EFF205-54EE-4AB4-A649-65A7E3BBB005}" dt="2026-02-19T15:45:26.896" v="180" actId="2696"/>
        <pc:sldMkLst>
          <pc:docMk/>
          <pc:sldMk cId="1571134288" sldId="2147481920"/>
        </pc:sldMkLst>
      </pc:sldChg>
      <pc:sldChg chg="add ord">
        <pc:chgData name="Peter Van Reusel | Innovion" userId="29de67b4-cab3-439d-8c0d-c2267ed86c67" providerId="ADAL" clId="{A4EFF205-54EE-4AB4-A649-65A7E3BBB005}" dt="2026-02-19T15:45:51.591" v="183"/>
        <pc:sldMkLst>
          <pc:docMk/>
          <pc:sldMk cId="4283187997" sldId="2147481921"/>
        </pc:sldMkLst>
      </pc:sldChg>
      <pc:sldChg chg="del">
        <pc:chgData name="Peter Van Reusel | Innovion" userId="29de67b4-cab3-439d-8c0d-c2267ed86c67" providerId="ADAL" clId="{A4EFF205-54EE-4AB4-A649-65A7E3BBB005}" dt="2026-02-19T15:42:51.555" v="173" actId="47"/>
        <pc:sldMkLst>
          <pc:docMk/>
          <pc:sldMk cId="3492910200" sldId="2147482000"/>
        </pc:sldMkLst>
      </pc:sldChg>
      <pc:sldChg chg="del">
        <pc:chgData name="Peter Van Reusel | Innovion" userId="29de67b4-cab3-439d-8c0d-c2267ed86c67" providerId="ADAL" clId="{A4EFF205-54EE-4AB4-A649-65A7E3BBB005}" dt="2026-02-19T15:42:49.809" v="172" actId="47"/>
        <pc:sldMkLst>
          <pc:docMk/>
          <pc:sldMk cId="3613824525" sldId="2147482001"/>
        </pc:sldMkLst>
      </pc:sldChg>
      <pc:sldChg chg="del">
        <pc:chgData name="Peter Van Reusel | Innovion" userId="29de67b4-cab3-439d-8c0d-c2267ed86c67" providerId="ADAL" clId="{A4EFF205-54EE-4AB4-A649-65A7E3BBB005}" dt="2026-02-19T15:42:53.841" v="174" actId="47"/>
        <pc:sldMkLst>
          <pc:docMk/>
          <pc:sldMk cId="0" sldId="2147482002"/>
        </pc:sldMkLst>
      </pc:sldChg>
      <pc:sldChg chg="del">
        <pc:chgData name="Peter Van Reusel | Innovion" userId="29de67b4-cab3-439d-8c0d-c2267ed86c67" providerId="ADAL" clId="{A4EFF205-54EE-4AB4-A649-65A7E3BBB005}" dt="2026-02-19T15:42:57.009" v="175" actId="47"/>
        <pc:sldMkLst>
          <pc:docMk/>
          <pc:sldMk cId="436610545" sldId="2147482003"/>
        </pc:sldMkLst>
      </pc:sldChg>
      <pc:sldChg chg="modSp add mod">
        <pc:chgData name="Peter Van Reusel | Innovion" userId="29de67b4-cab3-439d-8c0d-c2267ed86c67" providerId="ADAL" clId="{A4EFF205-54EE-4AB4-A649-65A7E3BBB005}" dt="2026-02-19T15:50:54.526" v="209" actId="20577"/>
        <pc:sldMkLst>
          <pc:docMk/>
          <pc:sldMk cId="4117055585" sldId="2147482005"/>
        </pc:sldMkLst>
        <pc:spChg chg="mod">
          <ac:chgData name="Peter Van Reusel | Innovion" userId="29de67b4-cab3-439d-8c0d-c2267ed86c67" providerId="ADAL" clId="{A4EFF205-54EE-4AB4-A649-65A7E3BBB005}" dt="2026-02-19T15:50:54.526" v="209" actId="20577"/>
          <ac:spMkLst>
            <pc:docMk/>
            <pc:sldMk cId="4117055585" sldId="2147482005"/>
            <ac:spMk id="2" creationId="{8705BFC1-32BE-3AAA-B961-428A0F11DF97}"/>
          </ac:spMkLst>
        </pc:spChg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1549405183" sldId="2147482012"/>
        </pc:sldMkLst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508574656" sldId="2147482013"/>
        </pc:sldMkLst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619372046" sldId="2147482017"/>
        </pc:sldMkLst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2334629447" sldId="2147482018"/>
        </pc:sldMkLst>
      </pc:sldChg>
      <pc:sldChg chg="del">
        <pc:chgData name="Peter Van Reusel | Innovion" userId="29de67b4-cab3-439d-8c0d-c2267ed86c67" providerId="ADAL" clId="{A4EFF205-54EE-4AB4-A649-65A7E3BBB005}" dt="2026-02-19T15:43:38.350" v="177" actId="47"/>
        <pc:sldMkLst>
          <pc:docMk/>
          <pc:sldMk cId="2524303873" sldId="2147482019"/>
        </pc:sldMkLst>
      </pc:sldChg>
      <pc:sldChg chg="del">
        <pc:chgData name="Peter Van Reusel | Innovion" userId="29de67b4-cab3-439d-8c0d-c2267ed86c67" providerId="ADAL" clId="{A4EFF205-54EE-4AB4-A649-65A7E3BBB005}" dt="2026-02-19T15:45:26.896" v="180" actId="2696"/>
        <pc:sldMkLst>
          <pc:docMk/>
          <pc:sldMk cId="320533599" sldId="2147482110"/>
        </pc:sldMkLst>
      </pc:sldChg>
      <pc:sldChg chg="del">
        <pc:chgData name="Peter Van Reusel | Innovion" userId="29de67b4-cab3-439d-8c0d-c2267ed86c67" providerId="ADAL" clId="{A4EFF205-54EE-4AB4-A649-65A7E3BBB005}" dt="2026-02-19T15:43:52.640" v="179" actId="2696"/>
        <pc:sldMkLst>
          <pc:docMk/>
          <pc:sldMk cId="0" sldId="2147482111"/>
        </pc:sldMkLst>
      </pc:sldChg>
      <pc:sldChg chg="del">
        <pc:chgData name="Peter Van Reusel | Innovion" userId="29de67b4-cab3-439d-8c0d-c2267ed86c67" providerId="ADAL" clId="{A4EFF205-54EE-4AB4-A649-65A7E3BBB005}" dt="2026-02-19T15:43:52.640" v="179" actId="2696"/>
        <pc:sldMkLst>
          <pc:docMk/>
          <pc:sldMk cId="2023001753" sldId="2147482112"/>
        </pc:sldMkLst>
      </pc:sldChg>
      <pc:sldChg chg="del">
        <pc:chgData name="Peter Van Reusel | Innovion" userId="29de67b4-cab3-439d-8c0d-c2267ed86c67" providerId="ADAL" clId="{A4EFF205-54EE-4AB4-A649-65A7E3BBB005}" dt="2026-02-19T15:43:52.640" v="179" actId="2696"/>
        <pc:sldMkLst>
          <pc:docMk/>
          <pc:sldMk cId="4144734947" sldId="2147482113"/>
        </pc:sldMkLst>
      </pc:sldChg>
      <pc:sldChg chg="del">
        <pc:chgData name="Peter Van Reusel | Innovion" userId="29de67b4-cab3-439d-8c0d-c2267ed86c67" providerId="ADAL" clId="{A4EFF205-54EE-4AB4-A649-65A7E3BBB005}" dt="2026-02-19T15:43:52.640" v="179" actId="2696"/>
        <pc:sldMkLst>
          <pc:docMk/>
          <pc:sldMk cId="2444371751" sldId="2147482114"/>
        </pc:sldMkLst>
      </pc:sldChg>
      <pc:sldMasterChg chg="delSldLayout">
        <pc:chgData name="Peter Van Reusel | Innovion" userId="29de67b4-cab3-439d-8c0d-c2267ed86c67" providerId="ADAL" clId="{A4EFF205-54EE-4AB4-A649-65A7E3BBB005}" dt="2026-02-19T15:43:52.640" v="179" actId="2696"/>
        <pc:sldMasterMkLst>
          <pc:docMk/>
          <pc:sldMasterMk cId="1049350716" sldId="2147483648"/>
        </pc:sldMasterMkLst>
        <pc:sldLayoutChg chg="del">
          <pc:chgData name="Peter Van Reusel | Innovion" userId="29de67b4-cab3-439d-8c0d-c2267ed86c67" providerId="ADAL" clId="{A4EFF205-54EE-4AB4-A649-65A7E3BBB005}" dt="2026-02-19T15:43:52.640" v="179" actId="2696"/>
          <pc:sldLayoutMkLst>
            <pc:docMk/>
            <pc:sldMasterMk cId="1049350716" sldId="2147483648"/>
            <pc:sldLayoutMk cId="4180861807" sldId="214748370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F6EC7-3890-904C-A65C-43520FF8E0F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CCC2E-D502-DF45-A742-7C4E979514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9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A99FA-AB23-821E-B1C4-3276CC57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FFB9C-AEDB-E86B-DE35-0A02D97D2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7888" y="1260475"/>
            <a:ext cx="6048375" cy="34020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44FDD-B1E7-D32B-61A8-A9F87981C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Now let’s take a look at where we’re going.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Starting with the digital protocol, study definitions are stored in USDM, supplemented by biomedical concepts to add meaning to the content.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dirty="0">
                <a:ea typeface="Calibri"/>
                <a:cs typeface="Calibri"/>
              </a:rPr>
              <a:t>Dataset specializations are pre-configured standards based on biomedical concepts (or BCs) that can be used to generate study artifacts like CDASH CRFs or SDTM Define-XML</a:t>
            </a:r>
            <a:endParaRPr lang="en-US" dirty="0">
              <a:cs typeface="Calibri"/>
            </a:endParaRP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The study definitions are then used programmatically to build machine executable specifications.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The specifications are used to build out standardized data collection, tabulation, and analysis artifacts.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Data is collected and transferred or retrieved, then programmatically converted into these standard artifacts using the specifications.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FDD07-667A-AC4E-8950-01AA1A789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3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1F12-CC8E-C0E2-A05F-70DA672A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DF063-30EF-25FF-95E0-8A754DC4E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77888" y="1260475"/>
            <a:ext cx="6048375" cy="34020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30938-2C97-0DF3-7789-B889CDE88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We just completed Phase 1, which focused on digital protocol through SDTM dataset generation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This year we will continue the path through analysis and submission in Phase 2, although some pre-work on defining analysis concepts has already started.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25D55-9754-1B24-F6A3-7A5085CF6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03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 is the link to the 360i GitHub repo we just looked at with the Google </a:t>
            </a:r>
            <a:r>
              <a:rPr lang="en-US" dirty="0" err="1"/>
              <a:t>Colab</a:t>
            </a:r>
            <a:r>
              <a:rPr lang="en-US" dirty="0"/>
              <a:t> notebooks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CCC2E-D502-DF45-A742-7C4E979514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04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list of the different GitHub Repos used in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8CCAD-0895-474D-9210-C5E9F1D983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4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these repos are all public and use open source libraries. Here is a quick overview on how to utilize these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CCC2E-D502-DF45-A742-7C4E979514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0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white background with a globe&#10;&#10;AI-generated content may be incorrect.">
            <a:extLst>
              <a:ext uri="{FF2B5EF4-FFF2-40B4-BE49-F238E27FC236}">
                <a16:creationId xmlns:a16="http://schemas.microsoft.com/office/drawing/2014/main" id="{C2FBC5EF-B400-1604-1A56-64E4D2A106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17240-6D8D-BAB6-E606-CF1E964FFA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8614" y="2108392"/>
            <a:ext cx="6821103" cy="132060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D7E9D-2A17-6CCD-7A5A-D2BD5F2349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8615" y="3582787"/>
            <a:ext cx="6821103" cy="13206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457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</a:p>
          <a:p>
            <a:r>
              <a:rPr lang="en-US" dirty="0"/>
              <a:t>Speaker</a:t>
            </a:r>
          </a:p>
          <a:p>
            <a:r>
              <a:rPr lang="en-US" dirty="0"/>
              <a:t>Date</a:t>
            </a:r>
          </a:p>
          <a:p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2D5EF5E-43E1-DB42-0C2F-B0521C63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6159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i="1">
                <a:solidFill>
                  <a:schemeClr val="bg1"/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D4F076E-B4F2-6BF9-90B3-1F3532F8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81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7456C4-4C8D-AEF7-56CD-3BA719DEB6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66971" y="2275698"/>
            <a:ext cx="7563066" cy="3684588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 dirty="0"/>
              <a:t> Item 1</a:t>
            </a:r>
          </a:p>
          <a:p>
            <a:pPr lvl="0"/>
            <a:r>
              <a:rPr lang="en-US" dirty="0"/>
              <a:t> Item 2</a:t>
            </a:r>
          </a:p>
          <a:p>
            <a:pPr lvl="0"/>
            <a:r>
              <a:rPr lang="en-US" dirty="0"/>
              <a:t> Item 3</a:t>
            </a:r>
          </a:p>
          <a:p>
            <a:pPr lvl="0"/>
            <a:r>
              <a:rPr lang="en-US" dirty="0"/>
              <a:t> Item 4 </a:t>
            </a:r>
          </a:p>
          <a:p>
            <a:pPr lvl="0"/>
            <a:r>
              <a:rPr lang="en-US" dirty="0"/>
              <a:t> And so on…</a:t>
            </a:r>
          </a:p>
          <a:p>
            <a:pPr lvl="0"/>
            <a:endParaRPr lang="en-US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background with a red center&#10;&#10;AI-generated content may be incorrect.">
            <a:extLst>
              <a:ext uri="{FF2B5EF4-FFF2-40B4-BE49-F238E27FC236}">
                <a16:creationId xmlns:a16="http://schemas.microsoft.com/office/drawing/2014/main" id="{5639F541-3125-265C-670E-0F6DEE5965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95772" y="2512192"/>
            <a:ext cx="5186429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Speakers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2F281-6AC3-BAFB-9EEA-A83912990FD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795771" y="4301229"/>
            <a:ext cx="5186429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8D8AFE-56C5-AE00-9C1C-FC04BBB20E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67038" y="2511425"/>
            <a:ext cx="1393825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493FB5C-CA6E-1F10-D779-949C25DB52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66971" y="4301229"/>
            <a:ext cx="1393825" cy="1325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9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background with a red center&#10;&#10;AI-generated content may be incorrect.">
            <a:extLst>
              <a:ext uri="{FF2B5EF4-FFF2-40B4-BE49-F238E27FC236}">
                <a16:creationId xmlns:a16="http://schemas.microsoft.com/office/drawing/2014/main" id="{5639F541-3125-265C-670E-0F6DEE5965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6971" y="803992"/>
            <a:ext cx="8386828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66971" y="63337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8F3BF7C-3442-EA63-0BA3-94424B383B8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66971" y="4166260"/>
            <a:ext cx="2228115" cy="1325563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 sz="2400" b="0"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 dirty="0"/>
              <a:t>Name</a:t>
            </a:r>
          </a:p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DF14B12-531F-F184-EF30-316BF2ABC6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67038" y="2511425"/>
            <a:ext cx="1393825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4A4820-7098-3F3E-76BF-BF095F2E34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64200" y="2511425"/>
            <a:ext cx="5689600" cy="3071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2448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and white gradient&#10;&#10;AI-generated content may be incorrect.">
            <a:extLst>
              <a:ext uri="{FF2B5EF4-FFF2-40B4-BE49-F238E27FC236}">
                <a16:creationId xmlns:a16="http://schemas.microsoft.com/office/drawing/2014/main" id="{6C7456C4-4C8D-AEF7-56CD-3BA719DEB6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103D5F-5199-8263-71CF-BD31DF7FA9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10327" y="3950749"/>
            <a:ext cx="7563066" cy="596975"/>
          </a:xfrm>
          <a:prstGeom prst="rect">
            <a:avLst/>
          </a:prstGeom>
        </p:spPr>
        <p:txBody>
          <a:bodyPr/>
          <a:lstStyle>
            <a:lvl1pPr>
              <a:buFont typeface="+mj-lt"/>
              <a:buNone/>
              <a:defRPr>
                <a:solidFill>
                  <a:schemeClr val="bg1"/>
                </a:solidFill>
              </a:defRPr>
            </a:lvl1pPr>
            <a:lvl2pPr>
              <a:buFont typeface="+mj-lt"/>
              <a:buNone/>
              <a:defRPr/>
            </a:lvl2pPr>
            <a:lvl3pPr>
              <a:buFont typeface="+mj-lt"/>
              <a:buAutoNum type="arabicParenR"/>
              <a:defRPr/>
            </a:lvl3pPr>
            <a:lvl4pPr>
              <a:buFont typeface="+mj-lt"/>
              <a:buAutoNum type="arabicParenR"/>
              <a:defRPr/>
            </a:lvl4pPr>
            <a:lvl5pPr>
              <a:buFont typeface="+mj-lt"/>
              <a:buAutoNum type="arabicParenR"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AA59FDE-8FBD-86AD-10FC-B3E05B645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0327" y="2479043"/>
            <a:ext cx="756306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FA3C42D0-2EDB-C21F-F17E-F11422076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0327" y="63488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bg1"/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0EA747C5-771B-E414-6F28-F4CB9008A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6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82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CC1A-5DF7-A930-6849-7A546E67F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936" y="1799234"/>
            <a:ext cx="11645364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869725B-1B74-D955-6596-2D3F8D6B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20B0336-3DDF-83F4-9567-29E4D6C7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6EA2403E-F3D8-6063-18C7-40E2C7BF7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30BA52-2705-444C-FB2D-C719442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789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2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8DBDCD31-8177-F4B4-7180-2A5028012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EF4794E-643B-D762-E374-E3DA6D15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3D0F8B-9263-7916-6CDA-26E74A7F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FD9F8EC-3AB0-7D95-7CFE-61AFB818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70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istic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9A7E88F2-E8A2-2BE2-EF88-DAF3C1F5A3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5" y="0"/>
            <a:ext cx="12192000" cy="685800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44576C47-7F4F-6574-6FB4-7F376CC64D7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681987" y="1315403"/>
            <a:ext cx="3266991" cy="466250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“You can feature a nice and inspiring quote or statistics in this space if you would like…”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CD0C473-A3AB-39BC-66FD-E9510394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43A07AF8-50C4-4CF9-32CD-C95AAFA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6B4C33E-7A8E-E5C4-167A-CA1C2B9C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AFD1765-9E8D-FC70-5C39-DB845D900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55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9A7E88F2-E8A2-2BE2-EF88-DAF3C1F5A3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D5925-39D2-47E8-345C-E48E3A7E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11C9DF-673F-05CF-A5DC-2104A574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CD0C473-A3AB-39BC-66FD-E9510394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9">
            <a:extLst>
              <a:ext uri="{FF2B5EF4-FFF2-40B4-BE49-F238E27FC236}">
                <a16:creationId xmlns:a16="http://schemas.microsoft.com/office/drawing/2014/main" id="{43A07AF8-50C4-4CF9-32CD-C95AAFA0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113DDB-3255-02FC-E509-96CDE798EC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04250" y="1096963"/>
            <a:ext cx="3311525" cy="48133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18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urn of the Sph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EC8A8771-E308-C3DB-812B-38FE4E9C6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ADC155B-BFE6-EC36-8F97-D0C26E33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3022" y="2293319"/>
            <a:ext cx="7563066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1AAB94-0B78-0232-8B57-D94C9E6B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22" y="1189832"/>
            <a:ext cx="7563066" cy="1103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AE12C0F-399C-7372-8483-682664EE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022" y="6356348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69F91C2-043E-6F4E-DB7A-0B1F50A6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5118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83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3C07-02D9-682B-DA54-C2410074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5E8D-7C96-5EA5-736A-B3907B265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>
              <a:defRPr sz="2800">
                <a:solidFill>
                  <a:schemeClr val="accent1"/>
                </a:solidFill>
              </a:defRPr>
            </a:lvl2pPr>
            <a:lvl3pPr>
              <a:defRPr sz="2400">
                <a:solidFill>
                  <a:schemeClr val="accent1"/>
                </a:solidFill>
              </a:defRPr>
            </a:lvl3pPr>
            <a:lvl4pPr>
              <a:defRPr sz="2000">
                <a:solidFill>
                  <a:schemeClr val="accent1"/>
                </a:solidFill>
              </a:defRPr>
            </a:lvl4pPr>
            <a:lvl5pPr>
              <a:defRPr sz="2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BBA1B-57AB-6A64-19FC-68C92C31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8AA0511C-4248-99C9-5CFB-DFFE0D4BD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B852E8B-C245-4996-A29C-129B3F04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9026574-F720-8C59-1DE8-B7A0D221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09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2BE2-491D-553F-DA82-81193F8F8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445" y="145986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FA765-13B5-6AA3-240E-2C0B331AD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0445" y="145986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F61A6E8A-FF64-5587-BC5B-69D0CCCA7E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4B2095C-D405-F7F2-4D5D-3A006665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97979"/>
                </a:solidFill>
              </a:defRPr>
            </a:lvl1pPr>
          </a:lstStyle>
          <a:p>
            <a:fld id="{D2746BFC-6E2B-CA4A-A7A0-4EBE4172E8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86F4B17-2CD2-8076-DBF3-A60C18435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CF36DFC-4F88-87D6-C11C-A197423D1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6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FF3D-4546-E9FC-9A88-A966F150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83288-8CB8-085E-205A-60EBC51F8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DC2C2-57C8-0478-CA69-3803494CE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1CF18-CBF2-3A58-4561-1CC0CF414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C78D3749-04B0-311C-AB03-4321BE0D38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4B213BF-E315-7294-72E9-A28C977A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73ECA1E-F35B-3525-88FB-2EC89F0524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933" y="320676"/>
            <a:ext cx="11645363" cy="122899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108D31A-6DC5-AE86-C750-71833A7B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423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5F7A-AA18-A325-218C-7D6BDD9B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1AB0E-FCE6-435E-2C3B-E3B577623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FBF9A-FB66-63EB-D804-C55010BC5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 descr="A blue and red text with yellow and red dots&#10;&#10;AI-generated content may be incorrect.">
            <a:extLst>
              <a:ext uri="{FF2B5EF4-FFF2-40B4-BE49-F238E27FC236}">
                <a16:creationId xmlns:a16="http://schemas.microsoft.com/office/drawing/2014/main" id="{6884094E-25AF-384D-0B90-1F13C75144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6700" y="6150572"/>
            <a:ext cx="1622125" cy="549849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1A8EADB-32F3-6BE8-F930-1F13E6D2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300" y="6242935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71BB9F3-E42D-189D-2164-BEF0BC3B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662" y="624293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6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A62D5-3293-A5C5-990E-2EF0B747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3CFE8-52A9-D93A-AF7F-6B5E0EFB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746BFC-6E2B-CA4A-A7A0-4EBE4172E87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798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Questions?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A05062A2-4D2F-86FB-8C20-E2E97A98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F6FCD5E-9483-91B9-EE24-C87AA9F3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585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piring Quote / Flex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globe&#10;&#10;AI-generated content may be incorrect.">
            <a:extLst>
              <a:ext uri="{FF2B5EF4-FFF2-40B4-BE49-F238E27FC236}">
                <a16:creationId xmlns:a16="http://schemas.microsoft.com/office/drawing/2014/main" id="{0773B5AF-F694-C14B-4C0C-90940D811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7710DD-EE4B-96B7-AF92-EE3D3F80D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980" y="2766218"/>
            <a:ext cx="6619240" cy="1325563"/>
          </a:xfrm>
          <a:prstGeom prst="rect">
            <a:avLst/>
          </a:prstGeom>
        </p:spPr>
        <p:txBody>
          <a:bodyPr/>
          <a:lstStyle>
            <a:lvl1pPr algn="ctr">
              <a:defRPr b="0" i="1"/>
            </a:lvl1pPr>
          </a:lstStyle>
          <a:p>
            <a:r>
              <a:rPr lang="en-US" dirty="0"/>
              <a:t>“Inspiring Quote Can Go Here”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A05062A2-4D2F-86FB-8C20-E2E97A98C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02F3F9-0010-D502-B1C2-145680FD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28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2083293" y="0"/>
            <a:ext cx="1010870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2486" y="365127"/>
            <a:ext cx="8859913" cy="2801656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2486" y="3402108"/>
            <a:ext cx="8859913" cy="2774857"/>
          </a:xfrm>
        </p:spPr>
        <p:txBody>
          <a:bodyPr/>
          <a:lstStyle>
            <a:lvl1pPr marL="0" indent="0">
              <a:buFont typeface="+mj-lt"/>
              <a:buNone/>
              <a:tabLst/>
              <a:defRPr sz="2400">
                <a:solidFill>
                  <a:schemeClr val="bg1"/>
                </a:solidFill>
              </a:defRPr>
            </a:lvl1pPr>
            <a:lvl2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6351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974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3509" y="6356351"/>
            <a:ext cx="623489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978264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1" y="1481668"/>
            <a:ext cx="5092700" cy="4695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69102" y="1481668"/>
            <a:ext cx="4813300" cy="469529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3509" y="6356351"/>
            <a:ext cx="623489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927359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6 India CDISC 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background with white text and colorful circles&#10;&#10;AI-generated content may be incorrect.">
            <a:extLst>
              <a:ext uri="{FF2B5EF4-FFF2-40B4-BE49-F238E27FC236}">
                <a16:creationId xmlns:a16="http://schemas.microsoft.com/office/drawing/2014/main" id="{60F7C83A-A16B-90CE-CF24-E4B6E9643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9EB31-F9A1-C18C-0F8F-2D13FFC61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5748" y="4689850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0EBD24-5291-771A-C069-3FB422607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5749" y="5219955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2026</a:t>
            </a:r>
          </a:p>
        </p:txBody>
      </p:sp>
    </p:spTree>
    <p:extLst>
      <p:ext uri="{BB962C8B-B14F-4D97-AF65-F5344CB8AC3E}">
        <p14:creationId xmlns:p14="http://schemas.microsoft.com/office/powerpoint/2010/main" val="3980884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Europe Interchan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4504CE-24FF-0B1C-3D2B-C8377F04F2CB}"/>
              </a:ext>
            </a:extLst>
          </p:cNvPr>
          <p:cNvSpPr/>
          <p:nvPr userDrawn="1"/>
        </p:nvSpPr>
        <p:spPr>
          <a:xfrm>
            <a:off x="74507" y="6103720"/>
            <a:ext cx="2387600" cy="704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004" y="5157701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5005" y="5687806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2381A-54CA-3596-81CF-D81754AD43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905"/>
            <a:ext cx="12192000" cy="379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193E57-2E58-64C4-CD10-BA3194E1D7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19635"/>
            <a:ext cx="12192000" cy="3382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E1DF4D-2170-CE0D-FB12-9CE9B4EDA629}"/>
              </a:ext>
            </a:extLst>
          </p:cNvPr>
          <p:cNvSpPr txBox="1"/>
          <p:nvPr userDrawn="1"/>
        </p:nvSpPr>
        <p:spPr>
          <a:xfrm>
            <a:off x="5587698" y="1161465"/>
            <a:ext cx="5392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kern="0" spc="-133" baseline="0" dirty="0">
                <a:latin typeface="Arial" panose="020B0604020202020204" pitchFamily="34" charset="0"/>
                <a:cs typeface="Arial" panose="020B0604020202020204" pitchFamily="34" charset="0"/>
              </a:rPr>
              <a:t>2026 Europe Interchange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507873-3435-18ED-FFFC-B07E35A8A657}"/>
              </a:ext>
            </a:extLst>
          </p:cNvPr>
          <p:cNvSpPr txBox="1"/>
          <p:nvPr userDrawn="1"/>
        </p:nvSpPr>
        <p:spPr>
          <a:xfrm>
            <a:off x="5587698" y="1734487"/>
            <a:ext cx="5195525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67" cap="all" spc="13" baseline="0" dirty="0">
                <a:solidFill>
                  <a:srgbClr val="5C7FA2"/>
                </a:solidFill>
              </a:rPr>
              <a:t>The Future Is Connected: Standards and AI Powering Digital Transformation</a:t>
            </a:r>
          </a:p>
        </p:txBody>
      </p:sp>
      <p:pic>
        <p:nvPicPr>
          <p:cNvPr id="21" name="Picture 20" descr="A city skyline with buildings in the background&#10;&#10;AI-generated content may be incorrect.">
            <a:extLst>
              <a:ext uri="{FF2B5EF4-FFF2-40B4-BE49-F238E27FC236}">
                <a16:creationId xmlns:a16="http://schemas.microsoft.com/office/drawing/2014/main" id="{1D4E8D17-2F9F-D657-42BC-92D5EBF446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795" y="2271534"/>
            <a:ext cx="9553077" cy="2261537"/>
          </a:xfrm>
          <a:prstGeom prst="rect">
            <a:avLst/>
          </a:prstGeom>
        </p:spPr>
      </p:pic>
      <p:pic>
        <p:nvPicPr>
          <p:cNvPr id="19" name="Picture 18" descr="A black and white cityscape&#10;&#10;AI-generated content may be incorrect.">
            <a:extLst>
              <a:ext uri="{FF2B5EF4-FFF2-40B4-BE49-F238E27FC236}">
                <a16:creationId xmlns:a16="http://schemas.microsoft.com/office/drawing/2014/main" id="{BC052E5C-F8F7-ACEA-C6B9-97D69C8C3C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795" y="2279016"/>
            <a:ext cx="9553077" cy="21575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9E77A3-B24D-2720-5E96-42FC1FC6AD2D}"/>
              </a:ext>
            </a:extLst>
          </p:cNvPr>
          <p:cNvSpPr txBox="1"/>
          <p:nvPr userDrawn="1"/>
        </p:nvSpPr>
        <p:spPr>
          <a:xfrm>
            <a:off x="4434603" y="4153007"/>
            <a:ext cx="5892960" cy="2411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7" cap="all" baseline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MILan, italy  |  Main Conference: 20-21 May  |  Trainings &amp; Workshops: 18, 19, &amp; 22 May</a:t>
            </a:r>
          </a:p>
        </p:txBody>
      </p:sp>
      <p:pic>
        <p:nvPicPr>
          <p:cNvPr id="3" name="Picture 2" descr="A white sphere with colorful dots and lines&#10;&#10;AI-generated content may be incorrect.">
            <a:extLst>
              <a:ext uri="{FF2B5EF4-FFF2-40B4-BE49-F238E27FC236}">
                <a16:creationId xmlns:a16="http://schemas.microsoft.com/office/drawing/2014/main" id="{3BFF97FE-E506-B8EF-8A24-C27A87D705D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230760"/>
            <a:ext cx="3403601" cy="4729773"/>
          </a:xfrm>
          <a:prstGeom prst="rect">
            <a:avLst/>
          </a:prstGeom>
        </p:spPr>
      </p:pic>
      <p:pic>
        <p:nvPicPr>
          <p:cNvPr id="5" name="Picture 4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93E81821-4895-5520-2F19-1D3D6D33576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687" y="1087121"/>
            <a:ext cx="2703496" cy="81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907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US Interchang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7F137-197F-F1BD-E93C-32CA601ADA4F}"/>
              </a:ext>
            </a:extLst>
          </p:cNvPr>
          <p:cNvSpPr/>
          <p:nvPr userDrawn="1"/>
        </p:nvSpPr>
        <p:spPr>
          <a:xfrm>
            <a:off x="0" y="5905500"/>
            <a:ext cx="2387600" cy="95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 descr="A city skyline with trees in the background&#10;&#10;AI-generated content may be incorrect.">
            <a:extLst>
              <a:ext uri="{FF2B5EF4-FFF2-40B4-BE49-F238E27FC236}">
                <a16:creationId xmlns:a16="http://schemas.microsoft.com/office/drawing/2014/main" id="{C3E63EC1-0BCC-24CF-83F5-8593389AD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2720" y="2266227"/>
            <a:ext cx="9479280" cy="2297835"/>
          </a:xfrm>
          <a:prstGeom prst="rect">
            <a:avLst/>
          </a:prstGeom>
        </p:spPr>
      </p:pic>
      <p:pic>
        <p:nvPicPr>
          <p:cNvPr id="19" name="Picture 18" descr="A black and white image of a city&#10;&#10;AI-generated content may be incorrect.">
            <a:extLst>
              <a:ext uri="{FF2B5EF4-FFF2-40B4-BE49-F238E27FC236}">
                <a16:creationId xmlns:a16="http://schemas.microsoft.com/office/drawing/2014/main" id="{A37E3970-0A47-7F72-5744-396E7FE28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2277" y="2287786"/>
            <a:ext cx="9725900" cy="2108108"/>
          </a:xfrm>
          <a:prstGeom prst="rect">
            <a:avLst/>
          </a:prstGeom>
        </p:spPr>
      </p:pic>
      <p:pic>
        <p:nvPicPr>
          <p:cNvPr id="22" name="Picture 21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F02E28AD-2148-B2C6-11A5-266E1D266A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687" y="1087121"/>
            <a:ext cx="2703496" cy="81973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75D693-9F94-F896-03D1-945678DD6B67}"/>
              </a:ext>
            </a:extLst>
          </p:cNvPr>
          <p:cNvSpPr txBox="1"/>
          <p:nvPr userDrawn="1"/>
        </p:nvSpPr>
        <p:spPr>
          <a:xfrm>
            <a:off x="5607050" y="1123364"/>
            <a:ext cx="5371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+mj-lt"/>
              </a:rPr>
              <a:t>2026 US Interchange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5E666-82D4-64C5-1DA4-F50A5216E5A5}"/>
              </a:ext>
            </a:extLst>
          </p:cNvPr>
          <p:cNvSpPr txBox="1"/>
          <p:nvPr userDrawn="1"/>
        </p:nvSpPr>
        <p:spPr>
          <a:xfrm>
            <a:off x="5607050" y="1734487"/>
            <a:ext cx="5195525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67" cap="all" spc="13" baseline="0" dirty="0">
                <a:solidFill>
                  <a:srgbClr val="5C7FA2"/>
                </a:solidFill>
              </a:rPr>
              <a:t>The Future Is Connected: Standards and AI Powering Digital Transformation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9B7E1B-C1EA-88D4-C130-9A5CC9A3563E}"/>
              </a:ext>
            </a:extLst>
          </p:cNvPr>
          <p:cNvSpPr txBox="1"/>
          <p:nvPr userDrawn="1"/>
        </p:nvSpPr>
        <p:spPr>
          <a:xfrm>
            <a:off x="4320297" y="4180331"/>
            <a:ext cx="5945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cap="all" baseline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DENVER, COLORADO  |  Main Conference: 5-6 OCT  |  Trainings &amp; Workshops: 7-9 OCT</a:t>
            </a:r>
          </a:p>
        </p:txBody>
      </p:sp>
      <p:pic>
        <p:nvPicPr>
          <p:cNvPr id="2" name="Picture 1" descr="A white sphere with colorful dots and lines&#10;&#10;AI-generated content may be incorrect.">
            <a:extLst>
              <a:ext uri="{FF2B5EF4-FFF2-40B4-BE49-F238E27FC236}">
                <a16:creationId xmlns:a16="http://schemas.microsoft.com/office/drawing/2014/main" id="{91CF16DD-F3D5-2B7B-4DCB-0B5917C62B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1230760"/>
            <a:ext cx="3403601" cy="47297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9EB31-F9A1-C18C-0F8F-2D13FFC61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004" y="5157701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0EBD24-5291-771A-C069-3FB422607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45005" y="5687806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C5324-3B40-46A6-7ADE-7F1A02A4D78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905"/>
            <a:ext cx="12192000" cy="379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23B7D-955C-8EB7-14DA-C83B6008AD2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19635"/>
            <a:ext cx="12192000" cy="33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35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ndia CDISC 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background with white text and colorful circles&#10;&#10;AI-generated content may be incorrect.">
            <a:extLst>
              <a:ext uri="{FF2B5EF4-FFF2-40B4-BE49-F238E27FC236}">
                <a16:creationId xmlns:a16="http://schemas.microsoft.com/office/drawing/2014/main" id="{60F7C83A-A16B-90CE-CF24-E4B6E9643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9F9EB31-F9A1-C18C-0F8F-2D13FFC61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5748" y="4689850"/>
            <a:ext cx="7500504" cy="357241"/>
          </a:xfrm>
        </p:spPr>
        <p:txBody>
          <a:bodyPr anchor="ctr">
            <a:normAutofit/>
          </a:bodyPr>
          <a:lstStyle>
            <a:lvl1pPr algn="l"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0EBD24-5291-771A-C069-3FB4226079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5749" y="5219955"/>
            <a:ext cx="7500504" cy="70402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2026</a:t>
            </a:r>
          </a:p>
        </p:txBody>
      </p:sp>
    </p:spTree>
    <p:extLst>
      <p:ext uri="{BB962C8B-B14F-4D97-AF65-F5344CB8AC3E}">
        <p14:creationId xmlns:p14="http://schemas.microsoft.com/office/powerpoint/2010/main" val="108053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DISC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logo for a company&#10;&#10;AI-generated content may be incorrect.">
            <a:extLst>
              <a:ext uri="{FF2B5EF4-FFF2-40B4-BE49-F238E27FC236}">
                <a16:creationId xmlns:a16="http://schemas.microsoft.com/office/drawing/2014/main" id="{C9681E14-B3FE-E042-C5B8-F8177FE73F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343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63278CC-4CCB-5D61-9D7D-8101C1DEA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291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D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poster with icons and text&#10;&#10;AI-generated content may be incorrect.">
            <a:extLst>
              <a:ext uri="{FF2B5EF4-FFF2-40B4-BE49-F238E27FC236}">
                <a16:creationId xmlns:a16="http://schemas.microsoft.com/office/drawing/2014/main" id="{45626BA3-136C-D9F4-A116-DB95D67FA0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735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website with a few images of buildings&#10;&#10;AI-generated content may be incorrect.">
            <a:extLst>
              <a:ext uri="{FF2B5EF4-FFF2-40B4-BE49-F238E27FC236}">
                <a16:creationId xmlns:a16="http://schemas.microsoft.com/office/drawing/2014/main" id="{99BDABBC-9179-4D5C-51F3-CDFFF44ACB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595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h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C5EFB-930B-3056-3550-02D67352BB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941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Se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ie chart&#10;&#10;AI-generated content may be incorrect.">
            <a:extLst>
              <a:ext uri="{FF2B5EF4-FFF2-40B4-BE49-F238E27FC236}">
                <a16:creationId xmlns:a16="http://schemas.microsoft.com/office/drawing/2014/main" id="{4BE472CD-6235-FDD2-630E-DE95E94E7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24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ber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world with red circles and white text&#10;&#10;AI-generated content may be incorrect.">
            <a:extLst>
              <a:ext uri="{FF2B5EF4-FFF2-40B4-BE49-F238E27FC236}">
                <a16:creationId xmlns:a16="http://schemas.microsoft.com/office/drawing/2014/main" id="{58EAF52A-9601-E251-C690-71DCD0F78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90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mbe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0569ABDE-DB67-6D73-1D2B-FCD17D7E1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2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0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281660A-8757-EE1C-F596-19764D32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50522A0-D06F-BDC9-44DF-8101FB801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615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i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986F05-C189-34BC-3DF9-51AB9758D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534D5-8D4C-454A-B069-B706E4B3048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68168F-AACE-36CB-D947-3FC495187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350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7" r:id="rId3"/>
    <p:sldLayoutId id="2147483679" r:id="rId4"/>
    <p:sldLayoutId id="2147483681" r:id="rId5"/>
    <p:sldLayoutId id="2147483650" r:id="rId6"/>
    <p:sldLayoutId id="2147483654" r:id="rId7"/>
    <p:sldLayoutId id="2147483655" r:id="rId8"/>
    <p:sldLayoutId id="2147483678" r:id="rId9"/>
    <p:sldLayoutId id="2147483660" r:id="rId10"/>
    <p:sldLayoutId id="2147483656" r:id="rId11"/>
    <p:sldLayoutId id="2147483652" r:id="rId12"/>
    <p:sldLayoutId id="2147483653" r:id="rId13"/>
    <p:sldLayoutId id="2147483657" r:id="rId14"/>
    <p:sldLayoutId id="2147483661" r:id="rId15"/>
    <p:sldLayoutId id="2147483662" r:id="rId16"/>
    <p:sldLayoutId id="2147483680" r:id="rId17"/>
    <p:sldLayoutId id="2147483699" r:id="rId18"/>
    <p:sldLayoutId id="2147483700" r:id="rId19"/>
    <p:sldLayoutId id="2147483701" r:id="rId20"/>
    <p:sldLayoutId id="2147483703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457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4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20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Font typeface="Arial" panose="020B0604020202020204" pitchFamily="34" charset="0"/>
        <a:buChar char="•"/>
        <a:defRPr sz="18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81668"/>
            <a:ext cx="10972800" cy="46952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FAA6947A-88AC-58E6-32D1-F699669399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647" y="6316137"/>
            <a:ext cx="998421" cy="30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8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86468-8A2B-6153-F617-953E2EE3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D67B3-AAEC-95D2-781F-6DFB3AC9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2DD03-F651-5463-9181-9FD930176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506B7-332F-CE1D-B5F5-9C74D7C45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9C3FD-9B60-0C4F-8666-AAFEDBA8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7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8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24" Type="http://schemas.openxmlformats.org/officeDocument/2006/relationships/image" Target="../media/image48.png"/><Relationship Id="rId5" Type="http://schemas.openxmlformats.org/officeDocument/2006/relationships/image" Target="../media/image29.jpeg"/><Relationship Id="rId15" Type="http://schemas.openxmlformats.org/officeDocument/2006/relationships/image" Target="../media/image39.svg"/><Relationship Id="rId23" Type="http://schemas.openxmlformats.org/officeDocument/2006/relationships/image" Target="../media/image47.sv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svg"/><Relationship Id="rId31" Type="http://schemas.openxmlformats.org/officeDocument/2006/relationships/image" Target="../media/image55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svg"/><Relationship Id="rId30" Type="http://schemas.openxmlformats.org/officeDocument/2006/relationships/image" Target="../media/image5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34.png"/><Relationship Id="rId26" Type="http://schemas.openxmlformats.org/officeDocument/2006/relationships/image" Target="../media/image56.png"/><Relationship Id="rId3" Type="http://schemas.openxmlformats.org/officeDocument/2006/relationships/image" Target="../media/image27.png"/><Relationship Id="rId21" Type="http://schemas.openxmlformats.org/officeDocument/2006/relationships/image" Target="../media/image37.sv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17" Type="http://schemas.openxmlformats.org/officeDocument/2006/relationships/image" Target="../media/image33.svg"/><Relationship Id="rId25" Type="http://schemas.openxmlformats.org/officeDocument/2006/relationships/image" Target="../media/image41.svg"/><Relationship Id="rId33" Type="http://schemas.openxmlformats.org/officeDocument/2006/relationships/image" Target="../media/image4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40.png"/><Relationship Id="rId32" Type="http://schemas.openxmlformats.org/officeDocument/2006/relationships/image" Target="../media/image42.png"/><Relationship Id="rId5" Type="http://schemas.openxmlformats.org/officeDocument/2006/relationships/image" Target="../media/image29.jpe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28" Type="http://schemas.openxmlformats.org/officeDocument/2006/relationships/image" Target="../media/image44.png"/><Relationship Id="rId10" Type="http://schemas.openxmlformats.org/officeDocument/2006/relationships/image" Target="../media/image52.png"/><Relationship Id="rId19" Type="http://schemas.openxmlformats.org/officeDocument/2006/relationships/image" Target="../media/image35.svg"/><Relationship Id="rId31" Type="http://schemas.openxmlformats.org/officeDocument/2006/relationships/image" Target="../media/image47.svg"/><Relationship Id="rId4" Type="http://schemas.openxmlformats.org/officeDocument/2006/relationships/image" Target="../media/image28.svg"/><Relationship Id="rId9" Type="http://schemas.openxmlformats.org/officeDocument/2006/relationships/image" Target="../media/image51.sv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57.svg"/><Relationship Id="rId30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oom.com/share/03f003f2e75d4292965c99ba8d912be7" TargetMode="External"/><Relationship Id="rId3" Type="http://schemas.openxmlformats.org/officeDocument/2006/relationships/hyperlink" Target="https://drive.google.com/file/d/1MvhrQv6RJRNoVX3wAW1pSzCTCsHMxgX_/view?usp=sharing" TargetMode="External"/><Relationship Id="rId7" Type="http://schemas.openxmlformats.org/officeDocument/2006/relationships/hyperlink" Target="https://www.loom.com/share/887739cf5175476da56ea750501d7285" TargetMode="Externa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loom.com/share/c121d6ef7b9946b6a851eba6bd5a7aa2" TargetMode="External"/><Relationship Id="rId5" Type="http://schemas.openxmlformats.org/officeDocument/2006/relationships/hyperlink" Target="https://www.loom.com/share/82f5082e6f124505a8db1a9647a32827" TargetMode="External"/><Relationship Id="rId4" Type="http://schemas.openxmlformats.org/officeDocument/2006/relationships/hyperlink" Target="https://www.loom.com/share/f88359f7e6574f619bfde74de54306a8" TargetMode="External"/><Relationship Id="rId9" Type="http://schemas.openxmlformats.org/officeDocument/2006/relationships/hyperlink" Target="https://www.loom.com/share/5b176222e0994cc2979e1dfa559d48d9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disc-org/cdisc-360i-notebook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F067-C970-F1A3-3AD5-B5048FBFE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5747" y="4343062"/>
            <a:ext cx="9425949" cy="704029"/>
          </a:xfrm>
        </p:spPr>
        <p:txBody>
          <a:bodyPr>
            <a:normAutofit fontScale="90000"/>
          </a:bodyPr>
          <a:lstStyle/>
          <a:p>
            <a:r>
              <a:rPr lang="en-GB" dirty="0"/>
              <a:t>CDISC 360i in Action:</a:t>
            </a:r>
            <a:br>
              <a:rPr lang="en-GB" dirty="0"/>
            </a:br>
            <a:r>
              <a:rPr lang="en-GB" dirty="0"/>
              <a:t>Demonstrating the Shift to Fully Digital Standards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D7A29-DF34-AEAB-E27C-FE5E544BD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5749" y="5219954"/>
            <a:ext cx="7500504" cy="1270297"/>
          </a:xfrm>
        </p:spPr>
        <p:txBody>
          <a:bodyPr>
            <a:normAutofit/>
          </a:bodyPr>
          <a:lstStyle/>
          <a:p>
            <a:r>
              <a:rPr lang="en-US" dirty="0"/>
              <a:t>Darren Moreland, CDISC</a:t>
            </a:r>
            <a:br>
              <a:rPr lang="en-US" dirty="0"/>
            </a:br>
            <a:r>
              <a:rPr lang="en-US" dirty="0"/>
              <a:t>Julie Smiley, CDISC</a:t>
            </a:r>
          </a:p>
          <a:p>
            <a:r>
              <a:rPr lang="en-US" dirty="0"/>
              <a:t>Bhavin Busa, </a:t>
            </a:r>
            <a:r>
              <a:rPr lang="en-US" dirty="0" err="1"/>
              <a:t>Clymb</a:t>
            </a:r>
            <a:r>
              <a:rPr lang="en-US" dirty="0"/>
              <a:t> Clinical</a:t>
            </a:r>
          </a:p>
          <a:p>
            <a:r>
              <a:rPr lang="en-US" dirty="0"/>
              <a:t>Peter Van Reusel, CDISC</a:t>
            </a:r>
          </a:p>
        </p:txBody>
      </p:sp>
    </p:spTree>
    <p:extLst>
      <p:ext uri="{BB962C8B-B14F-4D97-AF65-F5344CB8AC3E}">
        <p14:creationId xmlns:p14="http://schemas.microsoft.com/office/powerpoint/2010/main" val="421866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5DBA-A9C8-426A-6DDE-DF2A3469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nector: Elbow 18">
            <a:extLst>
              <a:ext uri="{FF2B5EF4-FFF2-40B4-BE49-F238E27FC236}">
                <a16:creationId xmlns:a16="http://schemas.microsoft.com/office/drawing/2014/main" id="{167FD31A-4E7E-C5E4-2983-EBE83AC390D4}"/>
              </a:ext>
            </a:extLst>
          </p:cNvPr>
          <p:cNvCxnSpPr>
            <a:cxnSpLocks/>
          </p:cNvCxnSpPr>
          <p:nvPr/>
        </p:nvCxnSpPr>
        <p:spPr>
          <a:xfrm>
            <a:off x="2309340" y="5187383"/>
            <a:ext cx="66184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18">
            <a:extLst>
              <a:ext uri="{FF2B5EF4-FFF2-40B4-BE49-F238E27FC236}">
                <a16:creationId xmlns:a16="http://schemas.microsoft.com/office/drawing/2014/main" id="{4BD31190-AD31-3012-5115-0DBCEAEB2799}"/>
              </a:ext>
            </a:extLst>
          </p:cNvPr>
          <p:cNvCxnSpPr>
            <a:cxnSpLocks/>
          </p:cNvCxnSpPr>
          <p:nvPr/>
        </p:nvCxnSpPr>
        <p:spPr>
          <a:xfrm flipH="1" flipV="1">
            <a:off x="9313039" y="2006236"/>
            <a:ext cx="812" cy="1084937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60B7308-1449-2EDB-FF56-2D0C40E5B441}"/>
              </a:ext>
            </a:extLst>
          </p:cNvPr>
          <p:cNvGrpSpPr/>
          <p:nvPr/>
        </p:nvGrpSpPr>
        <p:grpSpPr>
          <a:xfrm>
            <a:off x="7456604" y="2968666"/>
            <a:ext cx="4312013" cy="1097213"/>
            <a:chOff x="4285559" y="153919"/>
            <a:chExt cx="3237004" cy="823672"/>
          </a:xfrm>
        </p:grpSpPr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24E06DDC-43E1-F167-2441-97E10D752F87}"/>
                </a:ext>
              </a:extLst>
            </p:cNvPr>
            <p:cNvSpPr txBox="1"/>
            <p:nvPr/>
          </p:nvSpPr>
          <p:spPr>
            <a:xfrm>
              <a:off x="4791244" y="282401"/>
              <a:ext cx="890562" cy="1212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049" b="1">
                  <a:solidFill>
                    <a:srgbClr val="51A492"/>
                  </a:solidFill>
                  <a:latin typeface="Century Gothic" panose="020B0502020202020204" pitchFamily="34" charset="0"/>
                </a:rPr>
                <a:t>Data Standards</a:t>
              </a: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A7AA1D3B-E591-AD0E-00AF-4E988B1E244B}"/>
                </a:ext>
              </a:extLst>
            </p:cNvPr>
            <p:cNvSpPr txBox="1"/>
            <p:nvPr/>
          </p:nvSpPr>
          <p:spPr>
            <a:xfrm>
              <a:off x="4687448" y="454415"/>
              <a:ext cx="1071680" cy="5231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99">
                  <a:latin typeface="Century Gothic" panose="020B0502020202020204" pitchFamily="34" charset="0"/>
                </a:rPr>
                <a:t>Biomedical Concepts</a:t>
              </a:r>
              <a:br>
                <a:rPr lang="en-US" sz="899">
                  <a:latin typeface="Century Gothic" panose="020B0502020202020204" pitchFamily="34" charset="0"/>
                </a:rPr>
              </a:br>
              <a:r>
                <a:rPr lang="en-US" sz="932">
                  <a:solidFill>
                    <a:srgbClr val="134678"/>
                  </a:solidFill>
                  <a:latin typeface="Century Gothic" panose="020B0502020202020204" pitchFamily="34" charset="0"/>
                </a:rPr>
                <a:t>Analysis Concepts</a:t>
              </a:r>
              <a:br>
                <a:rPr lang="en-US" sz="899">
                  <a:latin typeface="Century Gothic" panose="020B0502020202020204" pitchFamily="34" charset="0"/>
                </a:rPr>
              </a:br>
              <a:r>
                <a:rPr lang="en-US" sz="899">
                  <a:latin typeface="Century Gothic" panose="020B0502020202020204" pitchFamily="34" charset="0"/>
                </a:rPr>
                <a:t>Foundational Standards</a:t>
              </a:r>
            </a:p>
            <a:p>
              <a:pPr algn="r"/>
              <a:r>
                <a:rPr lang="en-US" sz="899">
                  <a:latin typeface="Century Gothic" panose="020B0502020202020204" pitchFamily="34" charset="0"/>
                </a:rPr>
                <a:t>Reference Specifications</a:t>
              </a:r>
              <a:br>
                <a:rPr lang="en-US" sz="899">
                  <a:latin typeface="Century Gothic" panose="020B0502020202020204" pitchFamily="34" charset="0"/>
                </a:rPr>
              </a:br>
              <a:endParaRPr lang="en-US" sz="899">
                <a:latin typeface="Century Gothic" panose="020B0502020202020204" pitchFamily="34" charset="0"/>
              </a:endParaRPr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A6BBFFF4-3344-1894-F1F3-D5FD4235744F}"/>
                </a:ext>
              </a:extLst>
            </p:cNvPr>
            <p:cNvSpPr/>
            <p:nvPr/>
          </p:nvSpPr>
          <p:spPr>
            <a:xfrm>
              <a:off x="4285559" y="153919"/>
              <a:ext cx="3237004" cy="750977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3"/>
            </a:p>
          </p:txBody>
        </p:sp>
        <p:pic>
          <p:nvPicPr>
            <p:cNvPr id="1083" name="Graphic 1082" descr="Database outline">
              <a:extLst>
                <a:ext uri="{FF2B5EF4-FFF2-40B4-BE49-F238E27FC236}">
                  <a16:creationId xmlns:a16="http://schemas.microsoft.com/office/drawing/2014/main" id="{DC1600F0-8AEC-26E6-1ED1-92935D162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56929" y="216013"/>
              <a:ext cx="653394" cy="653394"/>
            </a:xfrm>
            <a:prstGeom prst="rect">
              <a:avLst/>
            </a:prstGeom>
          </p:spPr>
        </p:pic>
        <p:pic>
          <p:nvPicPr>
            <p:cNvPr id="1084" name="Picture 1083" descr="A logo with blue and red text&#10;&#10;Description automatically generated">
              <a:extLst>
                <a:ext uri="{FF2B5EF4-FFF2-40B4-BE49-F238E27FC236}">
                  <a16:creationId xmlns:a16="http://schemas.microsoft.com/office/drawing/2014/main" id="{3FB6B5C7-786B-04D9-946B-EA7DFA306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14637" y="343027"/>
              <a:ext cx="1131728" cy="421287"/>
            </a:xfrm>
            <a:prstGeom prst="rect">
              <a:avLst/>
            </a:prstGeom>
          </p:spPr>
        </p:pic>
      </p:grpSp>
      <p:sp>
        <p:nvSpPr>
          <p:cNvPr id="41" name="Rounded Rectangle 90">
            <a:extLst>
              <a:ext uri="{FF2B5EF4-FFF2-40B4-BE49-F238E27FC236}">
                <a16:creationId xmlns:a16="http://schemas.microsoft.com/office/drawing/2014/main" id="{25E6475B-3BD9-27AE-2821-C691ABBE270D}"/>
              </a:ext>
            </a:extLst>
          </p:cNvPr>
          <p:cNvSpPr/>
          <p:nvPr/>
        </p:nvSpPr>
        <p:spPr>
          <a:xfrm>
            <a:off x="4187099" y="4298960"/>
            <a:ext cx="7581243" cy="2284480"/>
          </a:xfrm>
          <a:prstGeom prst="roundRect">
            <a:avLst/>
          </a:prstGeom>
          <a:noFill/>
          <a:ln w="254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3B5F4A-3C7E-9DC2-77B6-73744A30E4BA}"/>
              </a:ext>
            </a:extLst>
          </p:cNvPr>
          <p:cNvSpPr txBox="1"/>
          <p:nvPr/>
        </p:nvSpPr>
        <p:spPr>
          <a:xfrm>
            <a:off x="6772500" y="6320237"/>
            <a:ext cx="2154733" cy="502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4" b="1" i="1">
                <a:solidFill>
                  <a:schemeClr val="accent4"/>
                </a:solidFill>
              </a:rPr>
              <a:t>Run</a:t>
            </a:r>
          </a:p>
        </p:txBody>
      </p:sp>
      <p:pic>
        <p:nvPicPr>
          <p:cNvPr id="1030" name="Graphic 1029" descr="Gears outline">
            <a:extLst>
              <a:ext uri="{FF2B5EF4-FFF2-40B4-BE49-F238E27FC236}">
                <a16:creationId xmlns:a16="http://schemas.microsoft.com/office/drawing/2014/main" id="{D364CB43-4859-2009-3A6A-549E2CF81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2148" y="5383868"/>
            <a:ext cx="543424" cy="543424"/>
          </a:xfrm>
          <a:prstGeom prst="rect">
            <a:avLst/>
          </a:prstGeom>
        </p:spPr>
      </p:pic>
      <p:pic>
        <p:nvPicPr>
          <p:cNvPr id="1031" name="Graphic 1030" descr="Database outline">
            <a:extLst>
              <a:ext uri="{FF2B5EF4-FFF2-40B4-BE49-F238E27FC236}">
                <a16:creationId xmlns:a16="http://schemas.microsoft.com/office/drawing/2014/main" id="{687A8BAC-45E4-CE50-5240-DC1E45C5C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449" y="4419774"/>
            <a:ext cx="441196" cy="441196"/>
          </a:xfrm>
          <a:prstGeom prst="rect">
            <a:avLst/>
          </a:prstGeom>
        </p:spPr>
      </p:pic>
      <p:pic>
        <p:nvPicPr>
          <p:cNvPr id="1033" name="Graphic 1032" descr="Database outline">
            <a:extLst>
              <a:ext uri="{FF2B5EF4-FFF2-40B4-BE49-F238E27FC236}">
                <a16:creationId xmlns:a16="http://schemas.microsoft.com/office/drawing/2014/main" id="{3B29B31D-921D-B916-41DB-BB77D8B5A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5671" y="4419723"/>
            <a:ext cx="432365" cy="432365"/>
          </a:xfrm>
          <a:prstGeom prst="rect">
            <a:avLst/>
          </a:prstGeom>
        </p:spPr>
      </p:pic>
      <p:pic>
        <p:nvPicPr>
          <p:cNvPr id="1034" name="Graphic 1033" descr="Gears outline">
            <a:extLst>
              <a:ext uri="{FF2B5EF4-FFF2-40B4-BE49-F238E27FC236}">
                <a16:creationId xmlns:a16="http://schemas.microsoft.com/office/drawing/2014/main" id="{6248A124-F870-ACBA-CBF6-B0874862F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0741" y="4592755"/>
            <a:ext cx="461088" cy="485397"/>
          </a:xfrm>
          <a:prstGeom prst="rect">
            <a:avLst/>
          </a:prstGeom>
        </p:spPr>
      </p:pic>
      <p:pic>
        <p:nvPicPr>
          <p:cNvPr id="1036" name="Graphic 1035" descr="Scatterplot outline">
            <a:extLst>
              <a:ext uri="{FF2B5EF4-FFF2-40B4-BE49-F238E27FC236}">
                <a16:creationId xmlns:a16="http://schemas.microsoft.com/office/drawing/2014/main" id="{8B1B29D3-AFFA-674D-6305-80453A86BB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96080" y="4479050"/>
            <a:ext cx="389177" cy="389177"/>
          </a:xfrm>
          <a:prstGeom prst="rect">
            <a:avLst/>
          </a:prstGeom>
        </p:spPr>
      </p:pic>
      <p:pic>
        <p:nvPicPr>
          <p:cNvPr id="1039" name="Graphic 1038" descr="Document with solid fill">
            <a:extLst>
              <a:ext uri="{FF2B5EF4-FFF2-40B4-BE49-F238E27FC236}">
                <a16:creationId xmlns:a16="http://schemas.microsoft.com/office/drawing/2014/main" id="{6C81827B-44FF-485E-3CD3-C1C57A0BD8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91156" y="4430267"/>
            <a:ext cx="461088" cy="461088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47FC5EFC-D484-7625-0FFA-FFEBDEC8D214}"/>
              </a:ext>
            </a:extLst>
          </p:cNvPr>
          <p:cNvSpPr txBox="1"/>
          <p:nvPr/>
        </p:nvSpPr>
        <p:spPr>
          <a:xfrm>
            <a:off x="5067903" y="4823225"/>
            <a:ext cx="869669" cy="327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>
                <a:latin typeface="Century Gothic" panose="020B0502020202020204" pitchFamily="34" charset="0"/>
              </a:rPr>
              <a:t>Tabulation</a:t>
            </a:r>
          </a:p>
          <a:p>
            <a:pPr algn="ctr"/>
            <a:r>
              <a:rPr lang="en-US" sz="1065">
                <a:latin typeface="Century Gothic" panose="020B0502020202020204" pitchFamily="34" charset="0"/>
              </a:rPr>
              <a:t>Data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188C1C8-46A5-67EF-04EB-55D3190F25F7}"/>
              </a:ext>
            </a:extLst>
          </p:cNvPr>
          <p:cNvSpPr txBox="1"/>
          <p:nvPr/>
        </p:nvSpPr>
        <p:spPr>
          <a:xfrm>
            <a:off x="2896113" y="5618770"/>
            <a:ext cx="887860" cy="3382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Operational Data Store</a:t>
            </a:r>
          </a:p>
        </p:txBody>
      </p:sp>
      <p:pic>
        <p:nvPicPr>
          <p:cNvPr id="1046" name="Graphic 1045" descr="Gears outline">
            <a:extLst>
              <a:ext uri="{FF2B5EF4-FFF2-40B4-BE49-F238E27FC236}">
                <a16:creationId xmlns:a16="http://schemas.microsoft.com/office/drawing/2014/main" id="{03F375DD-B16B-A9C8-AE71-72E2FD87D9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7151" y="4558762"/>
            <a:ext cx="476397" cy="476397"/>
          </a:xfrm>
          <a:prstGeom prst="rect">
            <a:avLst/>
          </a:prstGeom>
        </p:spPr>
      </p:pic>
      <p:sp>
        <p:nvSpPr>
          <p:cNvPr id="1049" name="TextBox 1048">
            <a:extLst>
              <a:ext uri="{FF2B5EF4-FFF2-40B4-BE49-F238E27FC236}">
                <a16:creationId xmlns:a16="http://schemas.microsoft.com/office/drawing/2014/main" id="{D2CD1212-E235-D8CF-ED33-FE21F7063F51}"/>
              </a:ext>
            </a:extLst>
          </p:cNvPr>
          <p:cNvSpPr txBox="1"/>
          <p:nvPr/>
        </p:nvSpPr>
        <p:spPr>
          <a:xfrm>
            <a:off x="6141330" y="4408043"/>
            <a:ext cx="814772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Analyze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A20DFA1-C14E-7E59-DF07-01B21FC18117}"/>
              </a:ext>
            </a:extLst>
          </p:cNvPr>
          <p:cNvSpPr txBox="1"/>
          <p:nvPr/>
        </p:nvSpPr>
        <p:spPr>
          <a:xfrm>
            <a:off x="6977151" y="4847775"/>
            <a:ext cx="953368" cy="327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>
                <a:latin typeface="Century Gothic" panose="020B0502020202020204" pitchFamily="34" charset="0"/>
              </a:rPr>
              <a:t>Analysis</a:t>
            </a:r>
          </a:p>
          <a:p>
            <a:pPr algn="ctr"/>
            <a:r>
              <a:rPr lang="en-US" sz="1065">
                <a:latin typeface="Century Gothic" panose="020B0502020202020204" pitchFamily="34" charset="0"/>
              </a:rPr>
              <a:t>Data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D7394DAD-C554-B4F7-0DC5-B8D59574B4A7}"/>
              </a:ext>
            </a:extLst>
          </p:cNvPr>
          <p:cNvSpPr txBox="1"/>
          <p:nvPr/>
        </p:nvSpPr>
        <p:spPr>
          <a:xfrm>
            <a:off x="8199190" y="4423633"/>
            <a:ext cx="814772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Output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5BD6BF0-1D38-51B1-BEB2-DB265CC4AB37}"/>
              </a:ext>
            </a:extLst>
          </p:cNvPr>
          <p:cNvSpPr txBox="1"/>
          <p:nvPr/>
        </p:nvSpPr>
        <p:spPr>
          <a:xfrm>
            <a:off x="9251179" y="4886784"/>
            <a:ext cx="869669" cy="338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Results</a:t>
            </a:r>
          </a:p>
          <a:p>
            <a:pPr algn="ctr"/>
            <a:r>
              <a:rPr lang="en-US" sz="1099">
                <a:latin typeface="Century Gothic" panose="020B0502020202020204" pitchFamily="34" charset="0"/>
              </a:rPr>
              <a:t>TFLs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D1B3C9E-91F0-C26C-7F13-7651AE6B44D4}"/>
              </a:ext>
            </a:extLst>
          </p:cNvPr>
          <p:cNvSpPr txBox="1"/>
          <p:nvPr/>
        </p:nvSpPr>
        <p:spPr>
          <a:xfrm>
            <a:off x="10519503" y="4995938"/>
            <a:ext cx="869669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Report</a:t>
            </a:r>
          </a:p>
        </p:txBody>
      </p:sp>
      <p:cxnSp>
        <p:nvCxnSpPr>
          <p:cNvPr id="1055" name="Connector: Elbow 18">
            <a:extLst>
              <a:ext uri="{FF2B5EF4-FFF2-40B4-BE49-F238E27FC236}">
                <a16:creationId xmlns:a16="http://schemas.microsoft.com/office/drawing/2014/main" id="{787A3E9D-7345-7EE7-0511-AA1A2D43986F}"/>
              </a:ext>
            </a:extLst>
          </p:cNvPr>
          <p:cNvCxnSpPr>
            <a:cxnSpLocks/>
          </p:cNvCxnSpPr>
          <p:nvPr/>
        </p:nvCxnSpPr>
        <p:spPr>
          <a:xfrm>
            <a:off x="4768474" y="5649473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: Elbow 18">
            <a:extLst>
              <a:ext uri="{FF2B5EF4-FFF2-40B4-BE49-F238E27FC236}">
                <a16:creationId xmlns:a16="http://schemas.microsoft.com/office/drawing/2014/main" id="{8282DF25-2BDA-5931-4BB7-11C453E25672}"/>
              </a:ext>
            </a:extLst>
          </p:cNvPr>
          <p:cNvCxnSpPr>
            <a:cxnSpLocks/>
          </p:cNvCxnSpPr>
          <p:nvPr/>
        </p:nvCxnSpPr>
        <p:spPr>
          <a:xfrm>
            <a:off x="5751719" y="4725089"/>
            <a:ext cx="473220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: Elbow 18">
            <a:extLst>
              <a:ext uri="{FF2B5EF4-FFF2-40B4-BE49-F238E27FC236}">
                <a16:creationId xmlns:a16="http://schemas.microsoft.com/office/drawing/2014/main" id="{74176A4F-06AC-315B-4F44-CDC91C73D000}"/>
              </a:ext>
            </a:extLst>
          </p:cNvPr>
          <p:cNvCxnSpPr>
            <a:cxnSpLocks/>
          </p:cNvCxnSpPr>
          <p:nvPr/>
        </p:nvCxnSpPr>
        <p:spPr>
          <a:xfrm>
            <a:off x="6758887" y="4725089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Document with solid fill">
            <a:extLst>
              <a:ext uri="{FF2B5EF4-FFF2-40B4-BE49-F238E27FC236}">
                <a16:creationId xmlns:a16="http://schemas.microsoft.com/office/drawing/2014/main" id="{C8B396EA-E940-FA8D-0C01-3824E3BEAA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84700" y="1304203"/>
            <a:ext cx="556195" cy="556195"/>
          </a:xfrm>
          <a:prstGeom prst="rect">
            <a:avLst/>
          </a:prstGeom>
        </p:spPr>
      </p:pic>
      <p:pic>
        <p:nvPicPr>
          <p:cNvPr id="6" name="Graphic 5" descr="Group with solid fill">
            <a:extLst>
              <a:ext uri="{FF2B5EF4-FFF2-40B4-BE49-F238E27FC236}">
                <a16:creationId xmlns:a16="http://schemas.microsoft.com/office/drawing/2014/main" id="{0A8ADEB0-52DA-A495-2C64-B6C26400E9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28832" y="965064"/>
            <a:ext cx="720397" cy="720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36583-3276-AB1E-069B-535C922C449D}"/>
              </a:ext>
            </a:extLst>
          </p:cNvPr>
          <p:cNvSpPr txBox="1"/>
          <p:nvPr/>
        </p:nvSpPr>
        <p:spPr>
          <a:xfrm>
            <a:off x="10092296" y="850914"/>
            <a:ext cx="1427929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Study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45BA3F-EFFD-63FF-FB7A-42800996629C}"/>
              </a:ext>
            </a:extLst>
          </p:cNvPr>
          <p:cNvSpPr txBox="1"/>
          <p:nvPr/>
        </p:nvSpPr>
        <p:spPr>
          <a:xfrm>
            <a:off x="8591867" y="1847774"/>
            <a:ext cx="1794835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Protocol Outline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0392AE-25F2-E92B-8C39-39F8BFF00EC2}"/>
              </a:ext>
            </a:extLst>
          </p:cNvPr>
          <p:cNvSpPr txBox="1"/>
          <p:nvPr/>
        </p:nvSpPr>
        <p:spPr>
          <a:xfrm>
            <a:off x="8719771" y="274561"/>
            <a:ext cx="1401759" cy="338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Schedule of Activities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09CF34F-0667-8458-8C98-BB5260451457}"/>
              </a:ext>
            </a:extLst>
          </p:cNvPr>
          <p:cNvCxnSpPr>
            <a:cxnSpLocks/>
            <a:stCxn id="6" idx="1"/>
            <a:endCxn id="57" idx="3"/>
          </p:cNvCxnSpPr>
          <p:nvPr/>
        </p:nvCxnSpPr>
        <p:spPr>
          <a:xfrm rot="10800000">
            <a:off x="9766773" y="948663"/>
            <a:ext cx="662059" cy="376600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Daily calendar with solid fill">
            <a:extLst>
              <a:ext uri="{FF2B5EF4-FFF2-40B4-BE49-F238E27FC236}">
                <a16:creationId xmlns:a16="http://schemas.microsoft.com/office/drawing/2014/main" id="{09BC28F0-F59C-685A-BF32-D1431B1413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7005" y="638778"/>
            <a:ext cx="619772" cy="619772"/>
          </a:xfrm>
          <a:prstGeom prst="rect">
            <a:avLst/>
          </a:prstGeom>
        </p:spPr>
      </p:pic>
      <p:pic>
        <p:nvPicPr>
          <p:cNvPr id="61" name="Graphic 60" descr="Laptop with solid fill">
            <a:extLst>
              <a:ext uri="{FF2B5EF4-FFF2-40B4-BE49-F238E27FC236}">
                <a16:creationId xmlns:a16="http://schemas.microsoft.com/office/drawing/2014/main" id="{66F966FC-618E-BCE7-A325-D480815B0DE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29229" y="1097782"/>
            <a:ext cx="619772" cy="619772"/>
          </a:xfrm>
          <a:prstGeom prst="rect">
            <a:avLst/>
          </a:prstGeom>
        </p:spPr>
      </p:pic>
      <p:cxnSp>
        <p:nvCxnSpPr>
          <p:cNvPr id="1066" name="Connector: Elbow 1065">
            <a:extLst>
              <a:ext uri="{FF2B5EF4-FFF2-40B4-BE49-F238E27FC236}">
                <a16:creationId xmlns:a16="http://schemas.microsoft.com/office/drawing/2014/main" id="{795C9324-9A01-AD78-A4D4-AA142964EA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74915" y="948663"/>
            <a:ext cx="698004" cy="459004"/>
          </a:xfrm>
          <a:prstGeom prst="bentConnector3">
            <a:avLst>
              <a:gd name="adj1" fmla="val 49072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: Elbow 18">
            <a:extLst>
              <a:ext uri="{FF2B5EF4-FFF2-40B4-BE49-F238E27FC236}">
                <a16:creationId xmlns:a16="http://schemas.microsoft.com/office/drawing/2014/main" id="{17D4D692-188D-D433-FC55-0751AABD39CA}"/>
              </a:ext>
            </a:extLst>
          </p:cNvPr>
          <p:cNvCxnSpPr>
            <a:cxnSpLocks/>
          </p:cNvCxnSpPr>
          <p:nvPr/>
        </p:nvCxnSpPr>
        <p:spPr>
          <a:xfrm flipV="1">
            <a:off x="8151539" y="1985979"/>
            <a:ext cx="0" cy="1105195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TextBox 1091">
            <a:extLst>
              <a:ext uri="{FF2B5EF4-FFF2-40B4-BE49-F238E27FC236}">
                <a16:creationId xmlns:a16="http://schemas.microsoft.com/office/drawing/2014/main" id="{E7EC3225-3462-38BE-8B4A-682B2E2633F8}"/>
              </a:ext>
            </a:extLst>
          </p:cNvPr>
          <p:cNvSpPr txBox="1"/>
          <p:nvPr/>
        </p:nvSpPr>
        <p:spPr>
          <a:xfrm>
            <a:off x="7370189" y="2476583"/>
            <a:ext cx="1250332" cy="3382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Select Biomedical Concepts</a:t>
            </a:r>
          </a:p>
        </p:txBody>
      </p:sp>
      <p:cxnSp>
        <p:nvCxnSpPr>
          <p:cNvPr id="9" name="Connector: Elbow 18">
            <a:extLst>
              <a:ext uri="{FF2B5EF4-FFF2-40B4-BE49-F238E27FC236}">
                <a16:creationId xmlns:a16="http://schemas.microsoft.com/office/drawing/2014/main" id="{90EEF12E-6D2C-B736-D95F-EE9C814FFBFD}"/>
              </a:ext>
            </a:extLst>
          </p:cNvPr>
          <p:cNvCxnSpPr>
            <a:cxnSpLocks/>
          </p:cNvCxnSpPr>
          <p:nvPr/>
        </p:nvCxnSpPr>
        <p:spPr>
          <a:xfrm flipH="1">
            <a:off x="6690311" y="1936305"/>
            <a:ext cx="923592" cy="0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7F8D3D-7747-6C1B-A9C4-340D64A50B21}"/>
              </a:ext>
            </a:extLst>
          </p:cNvPr>
          <p:cNvGrpSpPr/>
          <p:nvPr/>
        </p:nvGrpSpPr>
        <p:grpSpPr>
          <a:xfrm>
            <a:off x="4435608" y="263122"/>
            <a:ext cx="2465995" cy="1934047"/>
            <a:chOff x="3117749" y="1332173"/>
            <a:chExt cx="1851208" cy="155694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40FC1A-25E4-77E7-B3F4-E635627A1FCD}"/>
                </a:ext>
              </a:extLst>
            </p:cNvPr>
            <p:cNvSpPr/>
            <p:nvPr/>
          </p:nvSpPr>
          <p:spPr>
            <a:xfrm>
              <a:off x="3175406" y="1401485"/>
              <a:ext cx="1441080" cy="1487629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3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609A123-D45D-DDA1-5113-8DB214E04DD1}"/>
                </a:ext>
              </a:extLst>
            </p:cNvPr>
            <p:cNvGrpSpPr/>
            <p:nvPr/>
          </p:nvGrpSpPr>
          <p:grpSpPr>
            <a:xfrm>
              <a:off x="3117749" y="1557996"/>
              <a:ext cx="1851208" cy="1279942"/>
              <a:chOff x="2608608" y="1500085"/>
              <a:chExt cx="1851208" cy="1279942"/>
            </a:xfrm>
          </p:grpSpPr>
          <p:pic>
            <p:nvPicPr>
              <p:cNvPr id="14" name="Graphic 13" descr="Blockchain outline">
                <a:extLst>
                  <a:ext uri="{FF2B5EF4-FFF2-40B4-BE49-F238E27FC236}">
                    <a16:creationId xmlns:a16="http://schemas.microsoft.com/office/drawing/2014/main" id="{CC901E14-7100-7964-F927-65B049883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2699567" y="1500085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46DD78-56C5-4AC1-14D5-784DEF6E7DA4}"/>
                  </a:ext>
                </a:extLst>
              </p:cNvPr>
              <p:cNvSpPr txBox="1"/>
              <p:nvPr/>
            </p:nvSpPr>
            <p:spPr>
              <a:xfrm>
                <a:off x="2799165" y="1677364"/>
                <a:ext cx="1660651" cy="136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Data Collection</a:t>
                </a:r>
              </a:p>
            </p:txBody>
          </p:sp>
          <p:pic>
            <p:nvPicPr>
              <p:cNvPr id="21" name="Graphic 20" descr="Blockchain outline">
                <a:extLst>
                  <a:ext uri="{FF2B5EF4-FFF2-40B4-BE49-F238E27FC236}">
                    <a16:creationId xmlns:a16="http://schemas.microsoft.com/office/drawing/2014/main" id="{D53F84D4-5EA1-53D7-0A2E-4904DD0C4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2699567" y="1910345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D70E9C-9313-BFBA-3B85-4AD742F9278F}"/>
                  </a:ext>
                </a:extLst>
              </p:cNvPr>
              <p:cNvSpPr txBox="1"/>
              <p:nvPr/>
            </p:nvSpPr>
            <p:spPr>
              <a:xfrm>
                <a:off x="2671617" y="2084666"/>
                <a:ext cx="1660651" cy="136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Tabulation</a:t>
                </a:r>
              </a:p>
            </p:txBody>
          </p:sp>
          <p:pic>
            <p:nvPicPr>
              <p:cNvPr id="24" name="Graphic 23" descr="Blockchain outline">
                <a:extLst>
                  <a:ext uri="{FF2B5EF4-FFF2-40B4-BE49-F238E27FC236}">
                    <a16:creationId xmlns:a16="http://schemas.microsoft.com/office/drawing/2014/main" id="{1E7C9571-0EDF-F3C1-E28E-C7402216B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2705377" y="2314769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7F6105-CB81-7B6C-6A1C-0BDDC53155E1}"/>
                  </a:ext>
                </a:extLst>
              </p:cNvPr>
              <p:cNvSpPr txBox="1"/>
              <p:nvPr/>
            </p:nvSpPr>
            <p:spPr>
              <a:xfrm>
                <a:off x="2608608" y="2451111"/>
                <a:ext cx="1660651" cy="136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Analysis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F38F0D-C68D-A859-722A-8F23815184C5}"/>
                </a:ext>
              </a:extLst>
            </p:cNvPr>
            <p:cNvSpPr txBox="1"/>
            <p:nvPr/>
          </p:nvSpPr>
          <p:spPr>
            <a:xfrm>
              <a:off x="3421928" y="1332173"/>
              <a:ext cx="1052291" cy="2723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99" b="1">
                  <a:latin typeface="Century Gothic" panose="020B0502020202020204" pitchFamily="34" charset="0"/>
                </a:rPr>
                <a:t>Machine Executable Specifications</a:t>
              </a:r>
            </a:p>
          </p:txBody>
        </p:sp>
      </p:grpSp>
      <p:sp>
        <p:nvSpPr>
          <p:cNvPr id="38" name="Rounded Rectangle 88">
            <a:extLst>
              <a:ext uri="{FF2B5EF4-FFF2-40B4-BE49-F238E27FC236}">
                <a16:creationId xmlns:a16="http://schemas.microsoft.com/office/drawing/2014/main" id="{CF932015-00ED-8E6C-48D8-BACF90DED241}"/>
              </a:ext>
            </a:extLst>
          </p:cNvPr>
          <p:cNvSpPr/>
          <p:nvPr/>
        </p:nvSpPr>
        <p:spPr>
          <a:xfrm>
            <a:off x="4213534" y="208829"/>
            <a:ext cx="7522417" cy="2063900"/>
          </a:xfrm>
          <a:prstGeom prst="roundRect">
            <a:avLst/>
          </a:prstGeom>
          <a:noFill/>
          <a:ln w="254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EA394-CC49-3F24-D221-0159A77BFBD2}"/>
              </a:ext>
            </a:extLst>
          </p:cNvPr>
          <p:cNvSpPr txBox="1"/>
          <p:nvPr/>
        </p:nvSpPr>
        <p:spPr>
          <a:xfrm>
            <a:off x="7873441" y="1646373"/>
            <a:ext cx="556195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USDM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387AF-6A71-6EC9-1958-29A3A42F6C8D}"/>
              </a:ext>
            </a:extLst>
          </p:cNvPr>
          <p:cNvSpPr txBox="1"/>
          <p:nvPr/>
        </p:nvSpPr>
        <p:spPr>
          <a:xfrm>
            <a:off x="3355497" y="1041816"/>
            <a:ext cx="1109788" cy="532982"/>
          </a:xfrm>
          <a:prstGeom prst="rect">
            <a:avLst/>
          </a:prstGeom>
          <a:solidFill>
            <a:schemeClr val="bg1"/>
          </a:solidFill>
        </p:spPr>
        <p:txBody>
          <a:bodyPr wrap="square" lIns="121807" tIns="60904" rIns="121807" bIns="60904" rtlCol="0" anchor="t">
            <a:spAutoFit/>
          </a:bodyPr>
          <a:lstStyle/>
          <a:p>
            <a:pPr algn="ctr"/>
            <a:r>
              <a:rPr lang="en-US" sz="2664" b="1" i="1">
                <a:solidFill>
                  <a:schemeClr val="accent3"/>
                </a:solidFill>
              </a:rPr>
              <a:t>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87A43-9FFA-AA7A-DF09-8C5AA9B6C542}"/>
              </a:ext>
            </a:extLst>
          </p:cNvPr>
          <p:cNvSpPr txBox="1"/>
          <p:nvPr/>
        </p:nvSpPr>
        <p:spPr>
          <a:xfrm>
            <a:off x="10077051" y="2006235"/>
            <a:ext cx="1521864" cy="532982"/>
          </a:xfrm>
          <a:prstGeom prst="rect">
            <a:avLst/>
          </a:prstGeom>
          <a:solidFill>
            <a:schemeClr val="bg1"/>
          </a:solidFill>
        </p:spPr>
        <p:txBody>
          <a:bodyPr wrap="square" lIns="121807" tIns="60904" rIns="121807" bIns="60904" rtlCol="0" anchor="t">
            <a:spAutoFit/>
          </a:bodyPr>
          <a:lstStyle/>
          <a:p>
            <a:pPr algn="ctr"/>
            <a:r>
              <a:rPr lang="en-US" sz="2664" b="1" i="1">
                <a:solidFill>
                  <a:schemeClr val="accent3"/>
                </a:solidFill>
              </a:rPr>
              <a:t>Design</a:t>
            </a:r>
          </a:p>
        </p:txBody>
      </p:sp>
      <p:cxnSp>
        <p:nvCxnSpPr>
          <p:cNvPr id="12" name="Connector: Elbow 18">
            <a:extLst>
              <a:ext uri="{FF2B5EF4-FFF2-40B4-BE49-F238E27FC236}">
                <a16:creationId xmlns:a16="http://schemas.microsoft.com/office/drawing/2014/main" id="{6AF6ADB0-1E33-9A7F-99C4-2E8A4023325A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6689531" y="3429000"/>
            <a:ext cx="708035" cy="24628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1E7ED0-81B3-EC72-9B7F-1C8E01415BBF}"/>
              </a:ext>
            </a:extLst>
          </p:cNvPr>
          <p:cNvSpPr txBox="1"/>
          <p:nvPr/>
        </p:nvSpPr>
        <p:spPr>
          <a:xfrm>
            <a:off x="3406041" y="3145931"/>
            <a:ext cx="1559544" cy="161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49" b="1">
                <a:solidFill>
                  <a:srgbClr val="51A492"/>
                </a:solidFill>
                <a:latin typeface="Century Gothic" panose="020B0502020202020204" pitchFamily="34" charset="0"/>
              </a:rPr>
              <a:t>Study Definitions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C89F95-903B-491E-98B1-2D01699EF72D}"/>
              </a:ext>
            </a:extLst>
          </p:cNvPr>
          <p:cNvSpPr txBox="1"/>
          <p:nvPr/>
        </p:nvSpPr>
        <p:spPr>
          <a:xfrm>
            <a:off x="3908797" y="3354467"/>
            <a:ext cx="1152376" cy="6918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99">
                <a:latin typeface="Century Gothic" panose="020B0502020202020204" pitchFamily="34" charset="0"/>
              </a:rPr>
              <a:t>Data Collection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Data Transfer 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Tabulation/Analysis 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More Use Cases…</a:t>
            </a:r>
            <a:br>
              <a:rPr lang="en-US" sz="899">
                <a:latin typeface="Century Gothic" panose="020B0502020202020204" pitchFamily="34" charset="0"/>
              </a:rPr>
            </a:br>
            <a:endParaRPr lang="en-US" sz="899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16F05F-CD84-6A72-3DF0-D93C629A3AE8}"/>
              </a:ext>
            </a:extLst>
          </p:cNvPr>
          <p:cNvSpPr/>
          <p:nvPr/>
        </p:nvSpPr>
        <p:spPr>
          <a:xfrm>
            <a:off x="3220897" y="2965284"/>
            <a:ext cx="3352859" cy="103499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/>
          </a:p>
        </p:txBody>
      </p:sp>
      <p:pic>
        <p:nvPicPr>
          <p:cNvPr id="29" name="Graphic 28" descr="Database outline">
            <a:extLst>
              <a:ext uri="{FF2B5EF4-FFF2-40B4-BE49-F238E27FC236}">
                <a16:creationId xmlns:a16="http://schemas.microsoft.com/office/drawing/2014/main" id="{84F9C135-B11E-ADF9-6BBC-9FF384D1E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5533" y="3048580"/>
            <a:ext cx="870387" cy="87038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387584-E233-E61C-927C-DD4DACE520D8}"/>
              </a:ext>
            </a:extLst>
          </p:cNvPr>
          <p:cNvSpPr txBox="1"/>
          <p:nvPr/>
        </p:nvSpPr>
        <p:spPr>
          <a:xfrm>
            <a:off x="5503214" y="3207791"/>
            <a:ext cx="1186317" cy="4916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 b="1">
                <a:solidFill>
                  <a:srgbClr val="134678"/>
                </a:solidFill>
                <a:latin typeface="Century Gothic" panose="020B0502020202020204" pitchFamily="34" charset="0"/>
              </a:rPr>
              <a:t>Company Configured Library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ACA771-8741-17D6-9D03-5F65F1F61073}"/>
              </a:ext>
            </a:extLst>
          </p:cNvPr>
          <p:cNvSpPr txBox="1"/>
          <p:nvPr/>
        </p:nvSpPr>
        <p:spPr>
          <a:xfrm>
            <a:off x="8884117" y="2388347"/>
            <a:ext cx="814772" cy="3382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Select Endpoints</a:t>
            </a:r>
          </a:p>
        </p:txBody>
      </p:sp>
      <p:cxnSp>
        <p:nvCxnSpPr>
          <p:cNvPr id="53" name="Connector: Elbow 18">
            <a:extLst>
              <a:ext uri="{FF2B5EF4-FFF2-40B4-BE49-F238E27FC236}">
                <a16:creationId xmlns:a16="http://schemas.microsoft.com/office/drawing/2014/main" id="{C2C757E7-C822-A60F-F488-0F144CDBE2AE}"/>
              </a:ext>
            </a:extLst>
          </p:cNvPr>
          <p:cNvCxnSpPr>
            <a:cxnSpLocks/>
          </p:cNvCxnSpPr>
          <p:nvPr/>
        </p:nvCxnSpPr>
        <p:spPr>
          <a:xfrm flipH="1">
            <a:off x="8602549" y="2574412"/>
            <a:ext cx="333368" cy="0"/>
          </a:xfrm>
          <a:prstGeom prst="straightConnector1">
            <a:avLst/>
          </a:prstGeom>
          <a:ln w="19050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18">
            <a:extLst>
              <a:ext uri="{FF2B5EF4-FFF2-40B4-BE49-F238E27FC236}">
                <a16:creationId xmlns:a16="http://schemas.microsoft.com/office/drawing/2014/main" id="{4CB7D8C8-FCCA-6818-C1AB-75BFA8D5A0C8}"/>
              </a:ext>
            </a:extLst>
          </p:cNvPr>
          <p:cNvCxnSpPr>
            <a:cxnSpLocks/>
          </p:cNvCxnSpPr>
          <p:nvPr/>
        </p:nvCxnSpPr>
        <p:spPr>
          <a:xfrm>
            <a:off x="5480059" y="2298648"/>
            <a:ext cx="0" cy="623064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Graphic 1039" descr="Clipboard outline">
            <a:extLst>
              <a:ext uri="{FF2B5EF4-FFF2-40B4-BE49-F238E27FC236}">
                <a16:creationId xmlns:a16="http://schemas.microsoft.com/office/drawing/2014/main" id="{A951D283-1DD3-64DB-6346-A35264992D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06561" y="5389806"/>
            <a:ext cx="510713" cy="510713"/>
          </a:xfrm>
          <a:prstGeom prst="rect">
            <a:avLst/>
          </a:prstGeom>
        </p:spPr>
      </p:pic>
      <p:sp>
        <p:nvSpPr>
          <p:cNvPr id="1042" name="TextBox 1041">
            <a:extLst>
              <a:ext uri="{FF2B5EF4-FFF2-40B4-BE49-F238E27FC236}">
                <a16:creationId xmlns:a16="http://schemas.microsoft.com/office/drawing/2014/main" id="{3CC6EE28-2874-17A3-426C-F4C0BD4F3C97}"/>
              </a:ext>
            </a:extLst>
          </p:cNvPr>
          <p:cNvSpPr txBox="1"/>
          <p:nvPr/>
        </p:nvSpPr>
        <p:spPr>
          <a:xfrm>
            <a:off x="5034837" y="5228168"/>
            <a:ext cx="1283679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Data Monitoring</a:t>
            </a:r>
          </a:p>
        </p:txBody>
      </p:sp>
      <p:pic>
        <p:nvPicPr>
          <p:cNvPr id="1047" name="Graphic 1046" descr="Gears outline">
            <a:extLst>
              <a:ext uri="{FF2B5EF4-FFF2-40B4-BE49-F238E27FC236}">
                <a16:creationId xmlns:a16="http://schemas.microsoft.com/office/drawing/2014/main" id="{5383D610-A9FB-9FD0-03E8-30EE80DD3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5483" y="4466512"/>
            <a:ext cx="543424" cy="543424"/>
          </a:xfrm>
          <a:prstGeom prst="rect">
            <a:avLst/>
          </a:prstGeom>
        </p:spPr>
      </p:pic>
      <p:pic>
        <p:nvPicPr>
          <p:cNvPr id="1058" name="Graphic 1057" descr="Gears outline">
            <a:extLst>
              <a:ext uri="{FF2B5EF4-FFF2-40B4-BE49-F238E27FC236}">
                <a16:creationId xmlns:a16="http://schemas.microsoft.com/office/drawing/2014/main" id="{6D6208FB-84EF-0099-2B0F-C05D84B871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24015" y="5955171"/>
            <a:ext cx="543424" cy="543424"/>
          </a:xfrm>
          <a:prstGeom prst="rect">
            <a:avLst/>
          </a:prstGeom>
        </p:spPr>
      </p:pic>
      <p:cxnSp>
        <p:nvCxnSpPr>
          <p:cNvPr id="1060" name="Connector: Elbow 18">
            <a:extLst>
              <a:ext uri="{FF2B5EF4-FFF2-40B4-BE49-F238E27FC236}">
                <a16:creationId xmlns:a16="http://schemas.microsoft.com/office/drawing/2014/main" id="{BEE17A58-1EEC-2606-9AEB-1C6377E85917}"/>
              </a:ext>
            </a:extLst>
          </p:cNvPr>
          <p:cNvCxnSpPr>
            <a:cxnSpLocks/>
          </p:cNvCxnSpPr>
          <p:nvPr/>
        </p:nvCxnSpPr>
        <p:spPr>
          <a:xfrm>
            <a:off x="4735397" y="3977532"/>
            <a:ext cx="0" cy="475849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: Elbow 18">
            <a:extLst>
              <a:ext uri="{FF2B5EF4-FFF2-40B4-BE49-F238E27FC236}">
                <a16:creationId xmlns:a16="http://schemas.microsoft.com/office/drawing/2014/main" id="{C58C092B-C1FA-2DA3-ED42-0C40CBFB82E4}"/>
              </a:ext>
            </a:extLst>
          </p:cNvPr>
          <p:cNvCxnSpPr>
            <a:cxnSpLocks/>
          </p:cNvCxnSpPr>
          <p:nvPr/>
        </p:nvCxnSpPr>
        <p:spPr>
          <a:xfrm>
            <a:off x="4760050" y="4730951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6DCFE3BD-41A8-4205-A2A3-7AEB9FC4A18E}"/>
              </a:ext>
            </a:extLst>
          </p:cNvPr>
          <p:cNvCxnSpPr>
            <a:cxnSpLocks/>
          </p:cNvCxnSpPr>
          <p:nvPr/>
        </p:nvCxnSpPr>
        <p:spPr>
          <a:xfrm>
            <a:off x="4288329" y="5927375"/>
            <a:ext cx="7441028" cy="434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F6ED27C-250A-42EE-09FE-2D316B8A19E4}"/>
              </a:ext>
            </a:extLst>
          </p:cNvPr>
          <p:cNvSpPr txBox="1"/>
          <p:nvPr/>
        </p:nvSpPr>
        <p:spPr>
          <a:xfrm>
            <a:off x="5484948" y="6119992"/>
            <a:ext cx="3137648" cy="1638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65">
                <a:latin typeface="Century Gothic"/>
              </a:rPr>
              <a:t>Analysis, Interactive review, Other Use Cases </a:t>
            </a:r>
            <a:endParaRPr lang="en-US" sz="2397">
              <a:latin typeface="Century Gothic"/>
            </a:endParaRPr>
          </a:p>
        </p:txBody>
      </p:sp>
      <p:cxnSp>
        <p:nvCxnSpPr>
          <p:cNvPr id="1086" name="Connector: Elbow 18">
            <a:extLst>
              <a:ext uri="{FF2B5EF4-FFF2-40B4-BE49-F238E27FC236}">
                <a16:creationId xmlns:a16="http://schemas.microsoft.com/office/drawing/2014/main" id="{6A06E4B9-A801-F580-FA21-D2FCB37BFD91}"/>
              </a:ext>
            </a:extLst>
          </p:cNvPr>
          <p:cNvCxnSpPr>
            <a:cxnSpLocks/>
          </p:cNvCxnSpPr>
          <p:nvPr/>
        </p:nvCxnSpPr>
        <p:spPr>
          <a:xfrm>
            <a:off x="4869646" y="6208093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: Elbow 18">
            <a:extLst>
              <a:ext uri="{FF2B5EF4-FFF2-40B4-BE49-F238E27FC236}">
                <a16:creationId xmlns:a16="http://schemas.microsoft.com/office/drawing/2014/main" id="{4E06908B-FF5D-B247-EF79-FDD0B17A1B46}"/>
              </a:ext>
            </a:extLst>
          </p:cNvPr>
          <p:cNvCxnSpPr>
            <a:cxnSpLocks/>
          </p:cNvCxnSpPr>
          <p:nvPr/>
        </p:nvCxnSpPr>
        <p:spPr>
          <a:xfrm>
            <a:off x="7837603" y="4725089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: Elbow 18">
            <a:extLst>
              <a:ext uri="{FF2B5EF4-FFF2-40B4-BE49-F238E27FC236}">
                <a16:creationId xmlns:a16="http://schemas.microsoft.com/office/drawing/2014/main" id="{1D88A36F-A69A-5738-65BB-39AE748AA73D}"/>
              </a:ext>
            </a:extLst>
          </p:cNvPr>
          <p:cNvCxnSpPr>
            <a:cxnSpLocks/>
          </p:cNvCxnSpPr>
          <p:nvPr/>
        </p:nvCxnSpPr>
        <p:spPr>
          <a:xfrm>
            <a:off x="8987313" y="4761651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: Elbow 18">
            <a:extLst>
              <a:ext uri="{FF2B5EF4-FFF2-40B4-BE49-F238E27FC236}">
                <a16:creationId xmlns:a16="http://schemas.microsoft.com/office/drawing/2014/main" id="{916F34C2-D4FB-14CB-6DE4-BBFD24BEDC54}"/>
              </a:ext>
            </a:extLst>
          </p:cNvPr>
          <p:cNvCxnSpPr>
            <a:cxnSpLocks/>
          </p:cNvCxnSpPr>
          <p:nvPr/>
        </p:nvCxnSpPr>
        <p:spPr>
          <a:xfrm>
            <a:off x="10137127" y="4796957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4895D902-7579-1634-BA9E-B69B7E481F73}"/>
              </a:ext>
            </a:extLst>
          </p:cNvPr>
          <p:cNvCxnSpPr>
            <a:cxnSpLocks/>
          </p:cNvCxnSpPr>
          <p:nvPr/>
        </p:nvCxnSpPr>
        <p:spPr>
          <a:xfrm>
            <a:off x="4288331" y="5161467"/>
            <a:ext cx="7397709" cy="45839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9" name="Graphic 1098" descr="Arrow circle with solid fill">
            <a:extLst>
              <a:ext uri="{FF2B5EF4-FFF2-40B4-BE49-F238E27FC236}">
                <a16:creationId xmlns:a16="http://schemas.microsoft.com/office/drawing/2014/main" id="{30429F2D-2174-7F21-621C-630D8D786F0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05902" y="3100267"/>
            <a:ext cx="754404" cy="754404"/>
          </a:xfrm>
          <a:prstGeom prst="rect">
            <a:avLst/>
          </a:prstGeom>
        </p:spPr>
      </p:pic>
      <p:pic>
        <p:nvPicPr>
          <p:cNvPr id="1100" name="Graphic 1099" descr="Arrow circle with solid fill">
            <a:extLst>
              <a:ext uri="{FF2B5EF4-FFF2-40B4-BE49-F238E27FC236}">
                <a16:creationId xmlns:a16="http://schemas.microsoft.com/office/drawing/2014/main" id="{D5214CF7-C3A8-4330-0A81-72A9730CE0C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456701" y="3114129"/>
            <a:ext cx="754404" cy="754404"/>
          </a:xfrm>
          <a:prstGeom prst="rect">
            <a:avLst/>
          </a:prstGeom>
        </p:spPr>
      </p:pic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7EA0006D-C9ED-32A2-97CB-41025A4CD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045" y="4735511"/>
            <a:ext cx="870387" cy="870387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5348EDA-0C13-0F10-5BE9-7084FA193654}"/>
              </a:ext>
            </a:extLst>
          </p:cNvPr>
          <p:cNvCxnSpPr>
            <a:cxnSpLocks/>
          </p:cNvCxnSpPr>
          <p:nvPr/>
        </p:nvCxnSpPr>
        <p:spPr>
          <a:xfrm flipV="1">
            <a:off x="3632364" y="4724629"/>
            <a:ext cx="773259" cy="424816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: Elbow 18">
            <a:extLst>
              <a:ext uri="{FF2B5EF4-FFF2-40B4-BE49-F238E27FC236}">
                <a16:creationId xmlns:a16="http://schemas.microsoft.com/office/drawing/2014/main" id="{BFAC3BE5-DC5C-5886-1CCD-CEDAEE0D44C7}"/>
              </a:ext>
            </a:extLst>
          </p:cNvPr>
          <p:cNvCxnSpPr>
            <a:cxnSpLocks/>
          </p:cNvCxnSpPr>
          <p:nvPr/>
        </p:nvCxnSpPr>
        <p:spPr>
          <a:xfrm flipH="1">
            <a:off x="3386213" y="4031300"/>
            <a:ext cx="736" cy="730352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506B4B61-8CA4-99DC-36FB-29092C26C3D1}"/>
              </a:ext>
            </a:extLst>
          </p:cNvPr>
          <p:cNvCxnSpPr>
            <a:cxnSpLocks/>
            <a:stCxn id="11" idx="3"/>
            <a:endCxn id="1030" idx="1"/>
          </p:cNvCxnSpPr>
          <p:nvPr/>
        </p:nvCxnSpPr>
        <p:spPr>
          <a:xfrm>
            <a:off x="3737062" y="5147960"/>
            <a:ext cx="555087" cy="507619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DF5F4915-608C-B5FA-7A03-28CAB2E43795}"/>
              </a:ext>
            </a:extLst>
          </p:cNvPr>
          <p:cNvCxnSpPr>
            <a:cxnSpLocks/>
            <a:stCxn id="3" idx="1"/>
            <a:endCxn id="61" idx="3"/>
          </p:cNvCxnSpPr>
          <p:nvPr/>
        </p:nvCxnSpPr>
        <p:spPr>
          <a:xfrm rot="10800000">
            <a:off x="8448998" y="1407669"/>
            <a:ext cx="735703" cy="174635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62FC3EDF-C07D-C2EF-D30C-DF825B79592E}"/>
              </a:ext>
            </a:extLst>
          </p:cNvPr>
          <p:cNvCxnSpPr>
            <a:cxnSpLocks/>
            <a:stCxn id="6" idx="1"/>
            <a:endCxn id="3" idx="3"/>
          </p:cNvCxnSpPr>
          <p:nvPr/>
        </p:nvCxnSpPr>
        <p:spPr>
          <a:xfrm rot="10800000" flipV="1">
            <a:off x="9740898" y="1325263"/>
            <a:ext cx="687937" cy="257039"/>
          </a:xfrm>
          <a:prstGeom prst="bentConnector3">
            <a:avLst>
              <a:gd name="adj1" fmla="val 47175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C731EC2-2D9B-C286-9C5C-1805FBE605AC}"/>
              </a:ext>
            </a:extLst>
          </p:cNvPr>
          <p:cNvCxnSpPr>
            <a:cxnSpLocks/>
          </p:cNvCxnSpPr>
          <p:nvPr/>
        </p:nvCxnSpPr>
        <p:spPr>
          <a:xfrm>
            <a:off x="3800123" y="5153778"/>
            <a:ext cx="429983" cy="1053529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CE63454C-6BF5-4169-3FDF-E64AB9C6D59A}"/>
              </a:ext>
            </a:extLst>
          </p:cNvPr>
          <p:cNvSpPr/>
          <p:nvPr/>
        </p:nvSpPr>
        <p:spPr>
          <a:xfrm>
            <a:off x="781960" y="1646371"/>
            <a:ext cx="1760185" cy="3840028"/>
          </a:xfrm>
          <a:prstGeom prst="roundRect">
            <a:avLst/>
          </a:prstGeom>
          <a:noFill/>
          <a:ln w="254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760950-DD74-99AF-6E8E-3F75554DEC6B}"/>
              </a:ext>
            </a:extLst>
          </p:cNvPr>
          <p:cNvSpPr txBox="1"/>
          <p:nvPr/>
        </p:nvSpPr>
        <p:spPr>
          <a:xfrm>
            <a:off x="904059" y="1617303"/>
            <a:ext cx="1484411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7" b="1" i="1">
                <a:solidFill>
                  <a:schemeClr val="accent2">
                    <a:lumMod val="75000"/>
                  </a:schemeClr>
                </a:solidFill>
              </a:rPr>
              <a:t>Data Sources</a:t>
            </a:r>
          </a:p>
        </p:txBody>
      </p:sp>
      <p:pic>
        <p:nvPicPr>
          <p:cNvPr id="31" name="Graphic 30" descr="Internet Of Things outline">
            <a:extLst>
              <a:ext uri="{FF2B5EF4-FFF2-40B4-BE49-F238E27FC236}">
                <a16:creationId xmlns:a16="http://schemas.microsoft.com/office/drawing/2014/main" id="{8100EDDA-61DA-A3BE-F147-7304A62F814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46012" y="2473715"/>
            <a:ext cx="737411" cy="737411"/>
          </a:xfrm>
          <a:prstGeom prst="rect">
            <a:avLst/>
          </a:prstGeom>
        </p:spPr>
      </p:pic>
      <p:pic>
        <p:nvPicPr>
          <p:cNvPr id="32" name="Graphic 31" descr="Keyboard with solid fill">
            <a:extLst>
              <a:ext uri="{FF2B5EF4-FFF2-40B4-BE49-F238E27FC236}">
                <a16:creationId xmlns:a16="http://schemas.microsoft.com/office/drawing/2014/main" id="{4CEB2F5E-043E-5D57-CEBF-2C123DBB38C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60424" y="3185637"/>
            <a:ext cx="685841" cy="685841"/>
          </a:xfrm>
          <a:prstGeom prst="rect">
            <a:avLst/>
          </a:prstGeom>
        </p:spPr>
      </p:pic>
      <p:pic>
        <p:nvPicPr>
          <p:cNvPr id="35" name="Graphic 34" descr="Tablet with solid fill">
            <a:extLst>
              <a:ext uri="{FF2B5EF4-FFF2-40B4-BE49-F238E27FC236}">
                <a16:creationId xmlns:a16="http://schemas.microsoft.com/office/drawing/2014/main" id="{B322D147-89CB-89B7-7FF1-EBB0BCB40E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06595" y="4618744"/>
            <a:ext cx="610755" cy="610755"/>
          </a:xfrm>
          <a:prstGeom prst="rect">
            <a:avLst/>
          </a:prstGeom>
        </p:spPr>
      </p:pic>
      <p:pic>
        <p:nvPicPr>
          <p:cNvPr id="36" name="Graphic 35" descr="Smart Phone with solid fill">
            <a:extLst>
              <a:ext uri="{FF2B5EF4-FFF2-40B4-BE49-F238E27FC236}">
                <a16:creationId xmlns:a16="http://schemas.microsoft.com/office/drawing/2014/main" id="{11A515EA-0985-EF17-DE0A-3EC85DE5A3B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55461" y="3862770"/>
            <a:ext cx="567497" cy="56749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DFA5194-B0EA-1C55-E0CF-50F869582E1C}"/>
              </a:ext>
            </a:extLst>
          </p:cNvPr>
          <p:cNvSpPr txBox="1"/>
          <p:nvPr/>
        </p:nvSpPr>
        <p:spPr>
          <a:xfrm>
            <a:off x="904365" y="3742267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EDC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ED4F74-89EA-17BF-F0C1-7BD1F02262E2}"/>
              </a:ext>
            </a:extLst>
          </p:cNvPr>
          <p:cNvSpPr txBox="1"/>
          <p:nvPr/>
        </p:nvSpPr>
        <p:spPr>
          <a:xfrm>
            <a:off x="1634765" y="4488565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EHR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E638A4-6CC5-C94F-F336-5C5869AD34F6}"/>
              </a:ext>
            </a:extLst>
          </p:cNvPr>
          <p:cNvSpPr txBox="1"/>
          <p:nvPr/>
        </p:nvSpPr>
        <p:spPr>
          <a:xfrm>
            <a:off x="1619667" y="2755787"/>
            <a:ext cx="549660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 err="1">
                <a:latin typeface="Century Gothic" panose="020B0502020202020204" pitchFamily="34" charset="0"/>
              </a:rPr>
              <a:t>eDT</a:t>
            </a:r>
            <a:endParaRPr lang="en-US" sz="1099">
              <a:latin typeface="Century Gothic" panose="020B0502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819D61-FC45-EBD4-E309-B2322342CFB0}"/>
              </a:ext>
            </a:extLst>
          </p:cNvPr>
          <p:cNvSpPr txBox="1"/>
          <p:nvPr/>
        </p:nvSpPr>
        <p:spPr>
          <a:xfrm>
            <a:off x="882129" y="5140201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DHT</a:t>
            </a:r>
          </a:p>
        </p:txBody>
      </p:sp>
      <p:cxnSp>
        <p:nvCxnSpPr>
          <p:cNvPr id="59" name="Connector: Elbow 18">
            <a:extLst>
              <a:ext uri="{FF2B5EF4-FFF2-40B4-BE49-F238E27FC236}">
                <a16:creationId xmlns:a16="http://schemas.microsoft.com/office/drawing/2014/main" id="{3F34AFF4-6A88-1B51-6CD5-E8FB1D489BAD}"/>
              </a:ext>
            </a:extLst>
          </p:cNvPr>
          <p:cNvCxnSpPr>
            <a:cxnSpLocks/>
          </p:cNvCxnSpPr>
          <p:nvPr/>
        </p:nvCxnSpPr>
        <p:spPr>
          <a:xfrm flipH="1">
            <a:off x="2815460" y="1861213"/>
            <a:ext cx="108007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tle 1">
            <a:extLst>
              <a:ext uri="{FF2B5EF4-FFF2-40B4-BE49-F238E27FC236}">
                <a16:creationId xmlns:a16="http://schemas.microsoft.com/office/drawing/2014/main" id="{3CF914E2-6904-DDE0-0EEB-D65D94124CFA}"/>
              </a:ext>
            </a:extLst>
          </p:cNvPr>
          <p:cNvSpPr txBox="1">
            <a:spLocks/>
          </p:cNvSpPr>
          <p:nvPr/>
        </p:nvSpPr>
        <p:spPr>
          <a:xfrm>
            <a:off x="753027" y="-1410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457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360i Phase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4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7461C-CE1C-DA1F-F4B8-38314861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AA33013-91D4-5E8A-EEE1-AA338A1635A4}"/>
              </a:ext>
            </a:extLst>
          </p:cNvPr>
          <p:cNvSpPr/>
          <p:nvPr/>
        </p:nvSpPr>
        <p:spPr>
          <a:xfrm>
            <a:off x="635980" y="65779"/>
            <a:ext cx="11345405" cy="6114543"/>
          </a:xfrm>
          <a:custGeom>
            <a:avLst/>
            <a:gdLst>
              <a:gd name="connsiteX0" fmla="*/ 8380740 w 8456310"/>
              <a:gd name="connsiteY0" fmla="*/ 0 h 4587114"/>
              <a:gd name="connsiteX1" fmla="*/ 2501375 w 8456310"/>
              <a:gd name="connsiteY1" fmla="*/ 0 h 4587114"/>
              <a:gd name="connsiteX2" fmla="*/ 2501375 w 8456310"/>
              <a:gd name="connsiteY2" fmla="*/ 627233 h 4587114"/>
              <a:gd name="connsiteX3" fmla="*/ 0 w 8456310"/>
              <a:gd name="connsiteY3" fmla="*/ 619676 h 4587114"/>
              <a:gd name="connsiteX4" fmla="*/ 15114 w 8456310"/>
              <a:gd name="connsiteY4" fmla="*/ 4579557 h 4587114"/>
              <a:gd name="connsiteX5" fmla="*/ 2456033 w 8456310"/>
              <a:gd name="connsiteY5" fmla="*/ 4587114 h 4587114"/>
              <a:gd name="connsiteX6" fmla="*/ 2440919 w 8456310"/>
              <a:gd name="connsiteY6" fmla="*/ 3816298 h 4587114"/>
              <a:gd name="connsiteX7" fmla="*/ 3952324 w 8456310"/>
              <a:gd name="connsiteY7" fmla="*/ 3808741 h 4587114"/>
              <a:gd name="connsiteX8" fmla="*/ 3952324 w 8456310"/>
              <a:gd name="connsiteY8" fmla="*/ 3037924 h 4587114"/>
              <a:gd name="connsiteX9" fmla="*/ 8456310 w 8456310"/>
              <a:gd name="connsiteY9" fmla="*/ 3045481 h 4587114"/>
              <a:gd name="connsiteX10" fmla="*/ 8380740 w 8456310"/>
              <a:gd name="connsiteY10" fmla="*/ 0 h 4587114"/>
              <a:gd name="connsiteX0" fmla="*/ 8418525 w 8456310"/>
              <a:gd name="connsiteY0" fmla="*/ 7557 h 4587114"/>
              <a:gd name="connsiteX1" fmla="*/ 2501375 w 8456310"/>
              <a:gd name="connsiteY1" fmla="*/ 0 h 4587114"/>
              <a:gd name="connsiteX2" fmla="*/ 2501375 w 8456310"/>
              <a:gd name="connsiteY2" fmla="*/ 627233 h 4587114"/>
              <a:gd name="connsiteX3" fmla="*/ 0 w 8456310"/>
              <a:gd name="connsiteY3" fmla="*/ 619676 h 4587114"/>
              <a:gd name="connsiteX4" fmla="*/ 15114 w 8456310"/>
              <a:gd name="connsiteY4" fmla="*/ 4579557 h 4587114"/>
              <a:gd name="connsiteX5" fmla="*/ 2456033 w 8456310"/>
              <a:gd name="connsiteY5" fmla="*/ 4587114 h 4587114"/>
              <a:gd name="connsiteX6" fmla="*/ 2440919 w 8456310"/>
              <a:gd name="connsiteY6" fmla="*/ 3816298 h 4587114"/>
              <a:gd name="connsiteX7" fmla="*/ 3952324 w 8456310"/>
              <a:gd name="connsiteY7" fmla="*/ 3808741 h 4587114"/>
              <a:gd name="connsiteX8" fmla="*/ 3952324 w 8456310"/>
              <a:gd name="connsiteY8" fmla="*/ 3037924 h 4587114"/>
              <a:gd name="connsiteX9" fmla="*/ 8456310 w 8456310"/>
              <a:gd name="connsiteY9" fmla="*/ 3045481 h 4587114"/>
              <a:gd name="connsiteX10" fmla="*/ 8418525 w 8456310"/>
              <a:gd name="connsiteY10" fmla="*/ 7557 h 4587114"/>
              <a:gd name="connsiteX0" fmla="*/ 8433639 w 8456310"/>
              <a:gd name="connsiteY0" fmla="*/ 15114 h 4587114"/>
              <a:gd name="connsiteX1" fmla="*/ 2501375 w 8456310"/>
              <a:gd name="connsiteY1" fmla="*/ 0 h 4587114"/>
              <a:gd name="connsiteX2" fmla="*/ 2501375 w 8456310"/>
              <a:gd name="connsiteY2" fmla="*/ 627233 h 4587114"/>
              <a:gd name="connsiteX3" fmla="*/ 0 w 8456310"/>
              <a:gd name="connsiteY3" fmla="*/ 619676 h 4587114"/>
              <a:gd name="connsiteX4" fmla="*/ 15114 w 8456310"/>
              <a:gd name="connsiteY4" fmla="*/ 4579557 h 4587114"/>
              <a:gd name="connsiteX5" fmla="*/ 2456033 w 8456310"/>
              <a:gd name="connsiteY5" fmla="*/ 4587114 h 4587114"/>
              <a:gd name="connsiteX6" fmla="*/ 2440919 w 8456310"/>
              <a:gd name="connsiteY6" fmla="*/ 3816298 h 4587114"/>
              <a:gd name="connsiteX7" fmla="*/ 3952324 w 8456310"/>
              <a:gd name="connsiteY7" fmla="*/ 3808741 h 4587114"/>
              <a:gd name="connsiteX8" fmla="*/ 3952324 w 8456310"/>
              <a:gd name="connsiteY8" fmla="*/ 3037924 h 4587114"/>
              <a:gd name="connsiteX9" fmla="*/ 8456310 w 8456310"/>
              <a:gd name="connsiteY9" fmla="*/ 3045481 h 4587114"/>
              <a:gd name="connsiteX10" fmla="*/ 8433639 w 8456310"/>
              <a:gd name="connsiteY10" fmla="*/ 15114 h 4587114"/>
              <a:gd name="connsiteX0" fmla="*/ 8456310 w 8456310"/>
              <a:gd name="connsiteY0" fmla="*/ 22671 h 4587114"/>
              <a:gd name="connsiteX1" fmla="*/ 2501375 w 8456310"/>
              <a:gd name="connsiteY1" fmla="*/ 0 h 4587114"/>
              <a:gd name="connsiteX2" fmla="*/ 2501375 w 8456310"/>
              <a:gd name="connsiteY2" fmla="*/ 627233 h 4587114"/>
              <a:gd name="connsiteX3" fmla="*/ 0 w 8456310"/>
              <a:gd name="connsiteY3" fmla="*/ 619676 h 4587114"/>
              <a:gd name="connsiteX4" fmla="*/ 15114 w 8456310"/>
              <a:gd name="connsiteY4" fmla="*/ 4579557 h 4587114"/>
              <a:gd name="connsiteX5" fmla="*/ 2456033 w 8456310"/>
              <a:gd name="connsiteY5" fmla="*/ 4587114 h 4587114"/>
              <a:gd name="connsiteX6" fmla="*/ 2440919 w 8456310"/>
              <a:gd name="connsiteY6" fmla="*/ 3816298 h 4587114"/>
              <a:gd name="connsiteX7" fmla="*/ 3952324 w 8456310"/>
              <a:gd name="connsiteY7" fmla="*/ 3808741 h 4587114"/>
              <a:gd name="connsiteX8" fmla="*/ 3952324 w 8456310"/>
              <a:gd name="connsiteY8" fmla="*/ 3037924 h 4587114"/>
              <a:gd name="connsiteX9" fmla="*/ 8456310 w 8456310"/>
              <a:gd name="connsiteY9" fmla="*/ 3045481 h 4587114"/>
              <a:gd name="connsiteX10" fmla="*/ 8456310 w 8456310"/>
              <a:gd name="connsiteY10" fmla="*/ 22671 h 4587114"/>
              <a:gd name="connsiteX0" fmla="*/ 8463867 w 8463867"/>
              <a:gd name="connsiteY0" fmla="*/ 30228 h 4587114"/>
              <a:gd name="connsiteX1" fmla="*/ 2501375 w 8463867"/>
              <a:gd name="connsiteY1" fmla="*/ 0 h 4587114"/>
              <a:gd name="connsiteX2" fmla="*/ 2501375 w 8463867"/>
              <a:gd name="connsiteY2" fmla="*/ 627233 h 4587114"/>
              <a:gd name="connsiteX3" fmla="*/ 0 w 8463867"/>
              <a:gd name="connsiteY3" fmla="*/ 619676 h 4587114"/>
              <a:gd name="connsiteX4" fmla="*/ 15114 w 8463867"/>
              <a:gd name="connsiteY4" fmla="*/ 4579557 h 4587114"/>
              <a:gd name="connsiteX5" fmla="*/ 2456033 w 8463867"/>
              <a:gd name="connsiteY5" fmla="*/ 4587114 h 4587114"/>
              <a:gd name="connsiteX6" fmla="*/ 2440919 w 8463867"/>
              <a:gd name="connsiteY6" fmla="*/ 3816298 h 4587114"/>
              <a:gd name="connsiteX7" fmla="*/ 3952324 w 8463867"/>
              <a:gd name="connsiteY7" fmla="*/ 3808741 h 4587114"/>
              <a:gd name="connsiteX8" fmla="*/ 3952324 w 8463867"/>
              <a:gd name="connsiteY8" fmla="*/ 3037924 h 4587114"/>
              <a:gd name="connsiteX9" fmla="*/ 8456310 w 8463867"/>
              <a:gd name="connsiteY9" fmla="*/ 3045481 h 4587114"/>
              <a:gd name="connsiteX10" fmla="*/ 8463867 w 8463867"/>
              <a:gd name="connsiteY10" fmla="*/ 30228 h 4587114"/>
              <a:gd name="connsiteX0" fmla="*/ 8463867 w 8463867"/>
              <a:gd name="connsiteY0" fmla="*/ 30228 h 4587114"/>
              <a:gd name="connsiteX1" fmla="*/ 2501375 w 8463867"/>
              <a:gd name="connsiteY1" fmla="*/ 0 h 4587114"/>
              <a:gd name="connsiteX2" fmla="*/ 2501375 w 8463867"/>
              <a:gd name="connsiteY2" fmla="*/ 627233 h 4587114"/>
              <a:gd name="connsiteX3" fmla="*/ 0 w 8463867"/>
              <a:gd name="connsiteY3" fmla="*/ 634790 h 4587114"/>
              <a:gd name="connsiteX4" fmla="*/ 15114 w 8463867"/>
              <a:gd name="connsiteY4" fmla="*/ 4579557 h 4587114"/>
              <a:gd name="connsiteX5" fmla="*/ 2456033 w 8463867"/>
              <a:gd name="connsiteY5" fmla="*/ 4587114 h 4587114"/>
              <a:gd name="connsiteX6" fmla="*/ 2440919 w 8463867"/>
              <a:gd name="connsiteY6" fmla="*/ 3816298 h 4587114"/>
              <a:gd name="connsiteX7" fmla="*/ 3952324 w 8463867"/>
              <a:gd name="connsiteY7" fmla="*/ 3808741 h 4587114"/>
              <a:gd name="connsiteX8" fmla="*/ 3952324 w 8463867"/>
              <a:gd name="connsiteY8" fmla="*/ 3037924 h 4587114"/>
              <a:gd name="connsiteX9" fmla="*/ 8456310 w 8463867"/>
              <a:gd name="connsiteY9" fmla="*/ 3045481 h 4587114"/>
              <a:gd name="connsiteX10" fmla="*/ 8463867 w 8463867"/>
              <a:gd name="connsiteY10" fmla="*/ 30228 h 4587114"/>
              <a:gd name="connsiteX0" fmla="*/ 8448753 w 8448753"/>
              <a:gd name="connsiteY0" fmla="*/ 30228 h 4587114"/>
              <a:gd name="connsiteX1" fmla="*/ 2486261 w 8448753"/>
              <a:gd name="connsiteY1" fmla="*/ 0 h 4587114"/>
              <a:gd name="connsiteX2" fmla="*/ 2486261 w 8448753"/>
              <a:gd name="connsiteY2" fmla="*/ 627233 h 4587114"/>
              <a:gd name="connsiteX3" fmla="*/ 7557 w 8448753"/>
              <a:gd name="connsiteY3" fmla="*/ 627233 h 4587114"/>
              <a:gd name="connsiteX4" fmla="*/ 0 w 8448753"/>
              <a:gd name="connsiteY4" fmla="*/ 4579557 h 4587114"/>
              <a:gd name="connsiteX5" fmla="*/ 2440919 w 8448753"/>
              <a:gd name="connsiteY5" fmla="*/ 4587114 h 4587114"/>
              <a:gd name="connsiteX6" fmla="*/ 2425805 w 8448753"/>
              <a:gd name="connsiteY6" fmla="*/ 3816298 h 4587114"/>
              <a:gd name="connsiteX7" fmla="*/ 3937210 w 8448753"/>
              <a:gd name="connsiteY7" fmla="*/ 3808741 h 4587114"/>
              <a:gd name="connsiteX8" fmla="*/ 3937210 w 8448753"/>
              <a:gd name="connsiteY8" fmla="*/ 3037924 h 4587114"/>
              <a:gd name="connsiteX9" fmla="*/ 8441196 w 8448753"/>
              <a:gd name="connsiteY9" fmla="*/ 3045481 h 4587114"/>
              <a:gd name="connsiteX10" fmla="*/ 8448753 w 8448753"/>
              <a:gd name="connsiteY10" fmla="*/ 30228 h 4587114"/>
              <a:gd name="connsiteX0" fmla="*/ 8448753 w 8448753"/>
              <a:gd name="connsiteY0" fmla="*/ 30228 h 4587114"/>
              <a:gd name="connsiteX1" fmla="*/ 2486261 w 8448753"/>
              <a:gd name="connsiteY1" fmla="*/ 0 h 4587114"/>
              <a:gd name="connsiteX2" fmla="*/ 2486261 w 8448753"/>
              <a:gd name="connsiteY2" fmla="*/ 627233 h 4587114"/>
              <a:gd name="connsiteX3" fmla="*/ 7557 w 8448753"/>
              <a:gd name="connsiteY3" fmla="*/ 627233 h 4587114"/>
              <a:gd name="connsiteX4" fmla="*/ 0 w 8448753"/>
              <a:gd name="connsiteY4" fmla="*/ 4579557 h 4587114"/>
              <a:gd name="connsiteX5" fmla="*/ 2440919 w 8448753"/>
              <a:gd name="connsiteY5" fmla="*/ 4587114 h 4587114"/>
              <a:gd name="connsiteX6" fmla="*/ 2448476 w 8448753"/>
              <a:gd name="connsiteY6" fmla="*/ 3801184 h 4587114"/>
              <a:gd name="connsiteX7" fmla="*/ 3937210 w 8448753"/>
              <a:gd name="connsiteY7" fmla="*/ 3808741 h 4587114"/>
              <a:gd name="connsiteX8" fmla="*/ 3937210 w 8448753"/>
              <a:gd name="connsiteY8" fmla="*/ 3037924 h 4587114"/>
              <a:gd name="connsiteX9" fmla="*/ 8441196 w 8448753"/>
              <a:gd name="connsiteY9" fmla="*/ 3045481 h 4587114"/>
              <a:gd name="connsiteX10" fmla="*/ 8448753 w 8448753"/>
              <a:gd name="connsiteY10" fmla="*/ 30228 h 4587114"/>
              <a:gd name="connsiteX0" fmla="*/ 8448753 w 8448753"/>
              <a:gd name="connsiteY0" fmla="*/ 30228 h 4587114"/>
              <a:gd name="connsiteX1" fmla="*/ 2486261 w 8448753"/>
              <a:gd name="connsiteY1" fmla="*/ 0 h 4587114"/>
              <a:gd name="connsiteX2" fmla="*/ 2486261 w 8448753"/>
              <a:gd name="connsiteY2" fmla="*/ 627233 h 4587114"/>
              <a:gd name="connsiteX3" fmla="*/ 7557 w 8448753"/>
              <a:gd name="connsiteY3" fmla="*/ 627233 h 4587114"/>
              <a:gd name="connsiteX4" fmla="*/ 0 w 8448753"/>
              <a:gd name="connsiteY4" fmla="*/ 4579557 h 4587114"/>
              <a:gd name="connsiteX5" fmla="*/ 2440919 w 8448753"/>
              <a:gd name="connsiteY5" fmla="*/ 4587114 h 4587114"/>
              <a:gd name="connsiteX6" fmla="*/ 2448476 w 8448753"/>
              <a:gd name="connsiteY6" fmla="*/ 3823855 h 4587114"/>
              <a:gd name="connsiteX7" fmla="*/ 3937210 w 8448753"/>
              <a:gd name="connsiteY7" fmla="*/ 3808741 h 4587114"/>
              <a:gd name="connsiteX8" fmla="*/ 3937210 w 8448753"/>
              <a:gd name="connsiteY8" fmla="*/ 3037924 h 4587114"/>
              <a:gd name="connsiteX9" fmla="*/ 8441196 w 8448753"/>
              <a:gd name="connsiteY9" fmla="*/ 3045481 h 4587114"/>
              <a:gd name="connsiteX10" fmla="*/ 8448753 w 8448753"/>
              <a:gd name="connsiteY10" fmla="*/ 30228 h 4587114"/>
              <a:gd name="connsiteX0" fmla="*/ 8448753 w 8448753"/>
              <a:gd name="connsiteY0" fmla="*/ 30228 h 4587114"/>
              <a:gd name="connsiteX1" fmla="*/ 2486261 w 8448753"/>
              <a:gd name="connsiteY1" fmla="*/ 0 h 4587114"/>
              <a:gd name="connsiteX2" fmla="*/ 2486261 w 8448753"/>
              <a:gd name="connsiteY2" fmla="*/ 627233 h 4587114"/>
              <a:gd name="connsiteX3" fmla="*/ 7557 w 8448753"/>
              <a:gd name="connsiteY3" fmla="*/ 627233 h 4587114"/>
              <a:gd name="connsiteX4" fmla="*/ 0 w 8448753"/>
              <a:gd name="connsiteY4" fmla="*/ 4579557 h 4587114"/>
              <a:gd name="connsiteX5" fmla="*/ 2440919 w 8448753"/>
              <a:gd name="connsiteY5" fmla="*/ 4587114 h 4587114"/>
              <a:gd name="connsiteX6" fmla="*/ 2433362 w 8448753"/>
              <a:gd name="connsiteY6" fmla="*/ 3831412 h 4587114"/>
              <a:gd name="connsiteX7" fmla="*/ 3937210 w 8448753"/>
              <a:gd name="connsiteY7" fmla="*/ 3808741 h 4587114"/>
              <a:gd name="connsiteX8" fmla="*/ 3937210 w 8448753"/>
              <a:gd name="connsiteY8" fmla="*/ 3037924 h 4587114"/>
              <a:gd name="connsiteX9" fmla="*/ 8441196 w 8448753"/>
              <a:gd name="connsiteY9" fmla="*/ 3045481 h 4587114"/>
              <a:gd name="connsiteX10" fmla="*/ 8448753 w 8448753"/>
              <a:gd name="connsiteY10" fmla="*/ 30228 h 4587114"/>
              <a:gd name="connsiteX0" fmla="*/ 8448753 w 8448753"/>
              <a:gd name="connsiteY0" fmla="*/ 30228 h 4594671"/>
              <a:gd name="connsiteX1" fmla="*/ 2486261 w 8448753"/>
              <a:gd name="connsiteY1" fmla="*/ 0 h 4594671"/>
              <a:gd name="connsiteX2" fmla="*/ 2486261 w 8448753"/>
              <a:gd name="connsiteY2" fmla="*/ 627233 h 4594671"/>
              <a:gd name="connsiteX3" fmla="*/ 7557 w 8448753"/>
              <a:gd name="connsiteY3" fmla="*/ 627233 h 4594671"/>
              <a:gd name="connsiteX4" fmla="*/ 0 w 8448753"/>
              <a:gd name="connsiteY4" fmla="*/ 4579557 h 4594671"/>
              <a:gd name="connsiteX5" fmla="*/ 2418248 w 8448753"/>
              <a:gd name="connsiteY5" fmla="*/ 4594671 h 4594671"/>
              <a:gd name="connsiteX6" fmla="*/ 2433362 w 8448753"/>
              <a:gd name="connsiteY6" fmla="*/ 3831412 h 4594671"/>
              <a:gd name="connsiteX7" fmla="*/ 3937210 w 8448753"/>
              <a:gd name="connsiteY7" fmla="*/ 3808741 h 4594671"/>
              <a:gd name="connsiteX8" fmla="*/ 3937210 w 8448753"/>
              <a:gd name="connsiteY8" fmla="*/ 3037924 h 4594671"/>
              <a:gd name="connsiteX9" fmla="*/ 8441196 w 8448753"/>
              <a:gd name="connsiteY9" fmla="*/ 3045481 h 4594671"/>
              <a:gd name="connsiteX10" fmla="*/ 8448753 w 8448753"/>
              <a:gd name="connsiteY10" fmla="*/ 30228 h 4594671"/>
              <a:gd name="connsiteX0" fmla="*/ 8448753 w 8448753"/>
              <a:gd name="connsiteY0" fmla="*/ 30228 h 4579557"/>
              <a:gd name="connsiteX1" fmla="*/ 2486261 w 8448753"/>
              <a:gd name="connsiteY1" fmla="*/ 0 h 4579557"/>
              <a:gd name="connsiteX2" fmla="*/ 2486261 w 8448753"/>
              <a:gd name="connsiteY2" fmla="*/ 627233 h 4579557"/>
              <a:gd name="connsiteX3" fmla="*/ 7557 w 8448753"/>
              <a:gd name="connsiteY3" fmla="*/ 627233 h 4579557"/>
              <a:gd name="connsiteX4" fmla="*/ 0 w 8448753"/>
              <a:gd name="connsiteY4" fmla="*/ 4579557 h 4579557"/>
              <a:gd name="connsiteX5" fmla="*/ 2440920 w 8448753"/>
              <a:gd name="connsiteY5" fmla="*/ 4572000 h 4579557"/>
              <a:gd name="connsiteX6" fmla="*/ 2433362 w 8448753"/>
              <a:gd name="connsiteY6" fmla="*/ 3831412 h 4579557"/>
              <a:gd name="connsiteX7" fmla="*/ 3937210 w 8448753"/>
              <a:gd name="connsiteY7" fmla="*/ 3808741 h 4579557"/>
              <a:gd name="connsiteX8" fmla="*/ 3937210 w 8448753"/>
              <a:gd name="connsiteY8" fmla="*/ 3037924 h 4579557"/>
              <a:gd name="connsiteX9" fmla="*/ 8441196 w 8448753"/>
              <a:gd name="connsiteY9" fmla="*/ 3045481 h 4579557"/>
              <a:gd name="connsiteX10" fmla="*/ 8448753 w 8448753"/>
              <a:gd name="connsiteY10" fmla="*/ 30228 h 4579557"/>
              <a:gd name="connsiteX0" fmla="*/ 8448753 w 8448753"/>
              <a:gd name="connsiteY0" fmla="*/ 30228 h 4579557"/>
              <a:gd name="connsiteX1" fmla="*/ 2486261 w 8448753"/>
              <a:gd name="connsiteY1" fmla="*/ 0 h 4579557"/>
              <a:gd name="connsiteX2" fmla="*/ 2486261 w 8448753"/>
              <a:gd name="connsiteY2" fmla="*/ 627233 h 4579557"/>
              <a:gd name="connsiteX3" fmla="*/ 7557 w 8448753"/>
              <a:gd name="connsiteY3" fmla="*/ 627233 h 4579557"/>
              <a:gd name="connsiteX4" fmla="*/ 0 w 8448753"/>
              <a:gd name="connsiteY4" fmla="*/ 4579557 h 4579557"/>
              <a:gd name="connsiteX5" fmla="*/ 2418249 w 8448753"/>
              <a:gd name="connsiteY5" fmla="*/ 4556886 h 4579557"/>
              <a:gd name="connsiteX6" fmla="*/ 2433362 w 8448753"/>
              <a:gd name="connsiteY6" fmla="*/ 3831412 h 4579557"/>
              <a:gd name="connsiteX7" fmla="*/ 3937210 w 8448753"/>
              <a:gd name="connsiteY7" fmla="*/ 3808741 h 4579557"/>
              <a:gd name="connsiteX8" fmla="*/ 3937210 w 8448753"/>
              <a:gd name="connsiteY8" fmla="*/ 3037924 h 4579557"/>
              <a:gd name="connsiteX9" fmla="*/ 8441196 w 8448753"/>
              <a:gd name="connsiteY9" fmla="*/ 3045481 h 4579557"/>
              <a:gd name="connsiteX10" fmla="*/ 8448753 w 8448753"/>
              <a:gd name="connsiteY10" fmla="*/ 30228 h 4579557"/>
              <a:gd name="connsiteX0" fmla="*/ 8448753 w 8448753"/>
              <a:gd name="connsiteY0" fmla="*/ 30228 h 4582286"/>
              <a:gd name="connsiteX1" fmla="*/ 2486261 w 8448753"/>
              <a:gd name="connsiteY1" fmla="*/ 0 h 4582286"/>
              <a:gd name="connsiteX2" fmla="*/ 2486261 w 8448753"/>
              <a:gd name="connsiteY2" fmla="*/ 627233 h 4582286"/>
              <a:gd name="connsiteX3" fmla="*/ 7557 w 8448753"/>
              <a:gd name="connsiteY3" fmla="*/ 627233 h 4582286"/>
              <a:gd name="connsiteX4" fmla="*/ 0 w 8448753"/>
              <a:gd name="connsiteY4" fmla="*/ 4579557 h 4582286"/>
              <a:gd name="connsiteX5" fmla="*/ 2437299 w 8448753"/>
              <a:gd name="connsiteY5" fmla="*/ 4582286 h 4582286"/>
              <a:gd name="connsiteX6" fmla="*/ 2433362 w 8448753"/>
              <a:gd name="connsiteY6" fmla="*/ 3831412 h 4582286"/>
              <a:gd name="connsiteX7" fmla="*/ 3937210 w 8448753"/>
              <a:gd name="connsiteY7" fmla="*/ 3808741 h 4582286"/>
              <a:gd name="connsiteX8" fmla="*/ 3937210 w 8448753"/>
              <a:gd name="connsiteY8" fmla="*/ 3037924 h 4582286"/>
              <a:gd name="connsiteX9" fmla="*/ 8441196 w 8448753"/>
              <a:gd name="connsiteY9" fmla="*/ 3045481 h 4582286"/>
              <a:gd name="connsiteX10" fmla="*/ 8448753 w 8448753"/>
              <a:gd name="connsiteY10" fmla="*/ 30228 h 4582286"/>
              <a:gd name="connsiteX0" fmla="*/ 8441196 w 8441196"/>
              <a:gd name="connsiteY0" fmla="*/ 30228 h 4585907"/>
              <a:gd name="connsiteX1" fmla="*/ 2478704 w 8441196"/>
              <a:gd name="connsiteY1" fmla="*/ 0 h 4585907"/>
              <a:gd name="connsiteX2" fmla="*/ 2478704 w 8441196"/>
              <a:gd name="connsiteY2" fmla="*/ 627233 h 4585907"/>
              <a:gd name="connsiteX3" fmla="*/ 0 w 8441196"/>
              <a:gd name="connsiteY3" fmla="*/ 627233 h 4585907"/>
              <a:gd name="connsiteX4" fmla="*/ 11493 w 8441196"/>
              <a:gd name="connsiteY4" fmla="*/ 4585907 h 4585907"/>
              <a:gd name="connsiteX5" fmla="*/ 2429742 w 8441196"/>
              <a:gd name="connsiteY5" fmla="*/ 4582286 h 4585907"/>
              <a:gd name="connsiteX6" fmla="*/ 2425805 w 8441196"/>
              <a:gd name="connsiteY6" fmla="*/ 3831412 h 4585907"/>
              <a:gd name="connsiteX7" fmla="*/ 3929653 w 8441196"/>
              <a:gd name="connsiteY7" fmla="*/ 3808741 h 4585907"/>
              <a:gd name="connsiteX8" fmla="*/ 3929653 w 8441196"/>
              <a:gd name="connsiteY8" fmla="*/ 3037924 h 4585907"/>
              <a:gd name="connsiteX9" fmla="*/ 8433639 w 8441196"/>
              <a:gd name="connsiteY9" fmla="*/ 3045481 h 4585907"/>
              <a:gd name="connsiteX10" fmla="*/ 8441196 w 8441196"/>
              <a:gd name="connsiteY10" fmla="*/ 30228 h 4585907"/>
              <a:gd name="connsiteX0" fmla="*/ 8447546 w 8447546"/>
              <a:gd name="connsiteY0" fmla="*/ 11178 h 4585907"/>
              <a:gd name="connsiteX1" fmla="*/ 2478704 w 8447546"/>
              <a:gd name="connsiteY1" fmla="*/ 0 h 4585907"/>
              <a:gd name="connsiteX2" fmla="*/ 2478704 w 8447546"/>
              <a:gd name="connsiteY2" fmla="*/ 627233 h 4585907"/>
              <a:gd name="connsiteX3" fmla="*/ 0 w 8447546"/>
              <a:gd name="connsiteY3" fmla="*/ 627233 h 4585907"/>
              <a:gd name="connsiteX4" fmla="*/ 11493 w 8447546"/>
              <a:gd name="connsiteY4" fmla="*/ 4585907 h 4585907"/>
              <a:gd name="connsiteX5" fmla="*/ 2429742 w 8447546"/>
              <a:gd name="connsiteY5" fmla="*/ 4582286 h 4585907"/>
              <a:gd name="connsiteX6" fmla="*/ 2425805 w 8447546"/>
              <a:gd name="connsiteY6" fmla="*/ 3831412 h 4585907"/>
              <a:gd name="connsiteX7" fmla="*/ 3929653 w 8447546"/>
              <a:gd name="connsiteY7" fmla="*/ 3808741 h 4585907"/>
              <a:gd name="connsiteX8" fmla="*/ 3929653 w 8447546"/>
              <a:gd name="connsiteY8" fmla="*/ 3037924 h 4585907"/>
              <a:gd name="connsiteX9" fmla="*/ 8433639 w 8447546"/>
              <a:gd name="connsiteY9" fmla="*/ 3045481 h 4585907"/>
              <a:gd name="connsiteX10" fmla="*/ 8447546 w 8447546"/>
              <a:gd name="connsiteY10" fmla="*/ 11178 h 4585907"/>
              <a:gd name="connsiteX0" fmla="*/ 8447546 w 8447546"/>
              <a:gd name="connsiteY0" fmla="*/ 11178 h 4585907"/>
              <a:gd name="connsiteX1" fmla="*/ 2478704 w 8447546"/>
              <a:gd name="connsiteY1" fmla="*/ 0 h 4585907"/>
              <a:gd name="connsiteX2" fmla="*/ 2478704 w 8447546"/>
              <a:gd name="connsiteY2" fmla="*/ 627233 h 4585907"/>
              <a:gd name="connsiteX3" fmla="*/ 0 w 8447546"/>
              <a:gd name="connsiteY3" fmla="*/ 627233 h 4585907"/>
              <a:gd name="connsiteX4" fmla="*/ 11493 w 8447546"/>
              <a:gd name="connsiteY4" fmla="*/ 4585907 h 4585907"/>
              <a:gd name="connsiteX5" fmla="*/ 2429742 w 8447546"/>
              <a:gd name="connsiteY5" fmla="*/ 4582286 h 4585907"/>
              <a:gd name="connsiteX6" fmla="*/ 2425805 w 8447546"/>
              <a:gd name="connsiteY6" fmla="*/ 3831412 h 4585907"/>
              <a:gd name="connsiteX7" fmla="*/ 3937028 w 8447546"/>
              <a:gd name="connsiteY7" fmla="*/ 3830864 h 4585907"/>
              <a:gd name="connsiteX8" fmla="*/ 3929653 w 8447546"/>
              <a:gd name="connsiteY8" fmla="*/ 3037924 h 4585907"/>
              <a:gd name="connsiteX9" fmla="*/ 8433639 w 8447546"/>
              <a:gd name="connsiteY9" fmla="*/ 3045481 h 4585907"/>
              <a:gd name="connsiteX10" fmla="*/ 8447546 w 8447546"/>
              <a:gd name="connsiteY10" fmla="*/ 11178 h 458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47546" h="4585907">
                <a:moveTo>
                  <a:pt x="8447546" y="11178"/>
                </a:moveTo>
                <a:lnTo>
                  <a:pt x="2478704" y="0"/>
                </a:lnTo>
                <a:lnTo>
                  <a:pt x="2478704" y="627233"/>
                </a:lnTo>
                <a:lnTo>
                  <a:pt x="0" y="627233"/>
                </a:lnTo>
                <a:lnTo>
                  <a:pt x="11493" y="4585907"/>
                </a:lnTo>
                <a:lnTo>
                  <a:pt x="2429742" y="4582286"/>
                </a:lnTo>
                <a:cubicBezTo>
                  <a:pt x="2427223" y="4335423"/>
                  <a:pt x="2428324" y="4078275"/>
                  <a:pt x="2425805" y="3831412"/>
                </a:cubicBezTo>
                <a:lnTo>
                  <a:pt x="3937028" y="3830864"/>
                </a:lnTo>
                <a:cubicBezTo>
                  <a:pt x="3934570" y="3566551"/>
                  <a:pt x="3932111" y="3302237"/>
                  <a:pt x="3929653" y="3037924"/>
                </a:cubicBezTo>
                <a:lnTo>
                  <a:pt x="8433639" y="3045481"/>
                </a:lnTo>
                <a:cubicBezTo>
                  <a:pt x="8438275" y="2034047"/>
                  <a:pt x="8442910" y="1022612"/>
                  <a:pt x="8447546" y="11178"/>
                </a:cubicBezTo>
                <a:close/>
              </a:path>
            </a:pathLst>
          </a:custGeom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4" name="Connector: Elbow 18">
            <a:extLst>
              <a:ext uri="{FF2B5EF4-FFF2-40B4-BE49-F238E27FC236}">
                <a16:creationId xmlns:a16="http://schemas.microsoft.com/office/drawing/2014/main" id="{E3740F25-2182-328F-7B4F-906F4A5C6A62}"/>
              </a:ext>
            </a:extLst>
          </p:cNvPr>
          <p:cNvCxnSpPr>
            <a:cxnSpLocks/>
          </p:cNvCxnSpPr>
          <p:nvPr/>
        </p:nvCxnSpPr>
        <p:spPr>
          <a:xfrm>
            <a:off x="2309340" y="5187383"/>
            <a:ext cx="66184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18">
            <a:extLst>
              <a:ext uri="{FF2B5EF4-FFF2-40B4-BE49-F238E27FC236}">
                <a16:creationId xmlns:a16="http://schemas.microsoft.com/office/drawing/2014/main" id="{0DA87CA3-5C05-7C20-EEB7-C5C3939A6ED3}"/>
              </a:ext>
            </a:extLst>
          </p:cNvPr>
          <p:cNvCxnSpPr>
            <a:cxnSpLocks/>
          </p:cNvCxnSpPr>
          <p:nvPr/>
        </p:nvCxnSpPr>
        <p:spPr>
          <a:xfrm flipH="1" flipV="1">
            <a:off x="9313039" y="2006236"/>
            <a:ext cx="812" cy="1084937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4099A549-5F15-6463-B116-1196619EEC0E}"/>
              </a:ext>
            </a:extLst>
          </p:cNvPr>
          <p:cNvGrpSpPr/>
          <p:nvPr/>
        </p:nvGrpSpPr>
        <p:grpSpPr>
          <a:xfrm>
            <a:off x="7456604" y="2968666"/>
            <a:ext cx="4312013" cy="1097213"/>
            <a:chOff x="4285559" y="153919"/>
            <a:chExt cx="3237004" cy="823672"/>
          </a:xfrm>
        </p:grpSpPr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73851F59-BC86-B364-8C74-907A48C766CB}"/>
                </a:ext>
              </a:extLst>
            </p:cNvPr>
            <p:cNvSpPr txBox="1"/>
            <p:nvPr/>
          </p:nvSpPr>
          <p:spPr>
            <a:xfrm>
              <a:off x="4791244" y="282401"/>
              <a:ext cx="890562" cy="1212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1049" b="1">
                  <a:solidFill>
                    <a:srgbClr val="51A492"/>
                  </a:solidFill>
                  <a:latin typeface="Century Gothic" panose="020B0502020202020204" pitchFamily="34" charset="0"/>
                </a:rPr>
                <a:t>Data Standards</a:t>
              </a: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637F12CC-3325-9C84-273F-9D855C844B46}"/>
                </a:ext>
              </a:extLst>
            </p:cNvPr>
            <p:cNvSpPr txBox="1"/>
            <p:nvPr/>
          </p:nvSpPr>
          <p:spPr>
            <a:xfrm>
              <a:off x="4687448" y="454415"/>
              <a:ext cx="1071680" cy="5231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sz="899">
                  <a:latin typeface="Century Gothic" panose="020B0502020202020204" pitchFamily="34" charset="0"/>
                </a:rPr>
                <a:t>Biomedical Concepts</a:t>
              </a:r>
              <a:br>
                <a:rPr lang="en-US" sz="899">
                  <a:latin typeface="Century Gothic" panose="020B0502020202020204" pitchFamily="34" charset="0"/>
                </a:rPr>
              </a:br>
              <a:r>
                <a:rPr lang="en-US" sz="932">
                  <a:solidFill>
                    <a:srgbClr val="134678"/>
                  </a:solidFill>
                  <a:latin typeface="Century Gothic" panose="020B0502020202020204" pitchFamily="34" charset="0"/>
                </a:rPr>
                <a:t>Analysis Concepts</a:t>
              </a:r>
              <a:br>
                <a:rPr lang="en-US" sz="899">
                  <a:latin typeface="Century Gothic" panose="020B0502020202020204" pitchFamily="34" charset="0"/>
                </a:rPr>
              </a:br>
              <a:r>
                <a:rPr lang="en-US" sz="899">
                  <a:latin typeface="Century Gothic" panose="020B0502020202020204" pitchFamily="34" charset="0"/>
                </a:rPr>
                <a:t>Foundational Standards</a:t>
              </a:r>
            </a:p>
            <a:p>
              <a:pPr algn="r"/>
              <a:r>
                <a:rPr lang="en-US" sz="899">
                  <a:latin typeface="Century Gothic" panose="020B0502020202020204" pitchFamily="34" charset="0"/>
                </a:rPr>
                <a:t>Reference Specifications</a:t>
              </a:r>
              <a:br>
                <a:rPr lang="en-US" sz="899">
                  <a:latin typeface="Century Gothic" panose="020B0502020202020204" pitchFamily="34" charset="0"/>
                </a:rPr>
              </a:br>
              <a:endParaRPr lang="en-US" sz="899">
                <a:latin typeface="Century Gothic" panose="020B0502020202020204" pitchFamily="34" charset="0"/>
              </a:endParaRPr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4DE8E351-0F82-6152-C19C-B03D303DE41E}"/>
                </a:ext>
              </a:extLst>
            </p:cNvPr>
            <p:cNvSpPr/>
            <p:nvPr/>
          </p:nvSpPr>
          <p:spPr>
            <a:xfrm>
              <a:off x="4285559" y="153919"/>
              <a:ext cx="3237004" cy="750977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3"/>
            </a:p>
          </p:txBody>
        </p:sp>
        <p:pic>
          <p:nvPicPr>
            <p:cNvPr id="1083" name="Graphic 1082" descr="Database outline">
              <a:extLst>
                <a:ext uri="{FF2B5EF4-FFF2-40B4-BE49-F238E27FC236}">
                  <a16:creationId xmlns:a16="http://schemas.microsoft.com/office/drawing/2014/main" id="{3A8A6CB0-075F-B083-2ECF-39CCBACC8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56929" y="216013"/>
              <a:ext cx="653394" cy="653394"/>
            </a:xfrm>
            <a:prstGeom prst="rect">
              <a:avLst/>
            </a:prstGeom>
          </p:spPr>
        </p:pic>
        <p:pic>
          <p:nvPicPr>
            <p:cNvPr id="1084" name="Picture 1083" descr="A logo with blue and red text&#10;&#10;Description automatically generated">
              <a:extLst>
                <a:ext uri="{FF2B5EF4-FFF2-40B4-BE49-F238E27FC236}">
                  <a16:creationId xmlns:a16="http://schemas.microsoft.com/office/drawing/2014/main" id="{83FE2D73-6E43-CD99-D252-D40640D7D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14637" y="343027"/>
              <a:ext cx="1131728" cy="42128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BA6A26-9F79-F83F-45BA-DBED78F8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27" y="-14101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noProof="0" dirty="0"/>
              <a:t>360i Phase 1</a:t>
            </a:r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A59559D2-50CA-8C1A-B140-201001902D27}"/>
              </a:ext>
            </a:extLst>
          </p:cNvPr>
          <p:cNvSpPr/>
          <p:nvPr/>
        </p:nvSpPr>
        <p:spPr>
          <a:xfrm>
            <a:off x="781960" y="1646371"/>
            <a:ext cx="1760185" cy="3840028"/>
          </a:xfrm>
          <a:prstGeom prst="roundRect">
            <a:avLst/>
          </a:prstGeom>
          <a:noFill/>
          <a:ln w="254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73FF22-6150-4DE7-7F0F-CF0EBF7E708B}"/>
              </a:ext>
            </a:extLst>
          </p:cNvPr>
          <p:cNvSpPr txBox="1"/>
          <p:nvPr/>
        </p:nvSpPr>
        <p:spPr>
          <a:xfrm>
            <a:off x="904059" y="1617303"/>
            <a:ext cx="1484411" cy="83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7" b="1" i="1">
                <a:solidFill>
                  <a:schemeClr val="accent2">
                    <a:lumMod val="75000"/>
                  </a:schemeClr>
                </a:solidFill>
              </a:rPr>
              <a:t>Data Sources</a:t>
            </a:r>
          </a:p>
        </p:txBody>
      </p:sp>
      <p:sp>
        <p:nvSpPr>
          <p:cNvPr id="41" name="Rounded Rectangle 90">
            <a:extLst>
              <a:ext uri="{FF2B5EF4-FFF2-40B4-BE49-F238E27FC236}">
                <a16:creationId xmlns:a16="http://schemas.microsoft.com/office/drawing/2014/main" id="{5ACFAA65-5C26-F768-DA85-61B55492E8F1}"/>
              </a:ext>
            </a:extLst>
          </p:cNvPr>
          <p:cNvSpPr/>
          <p:nvPr/>
        </p:nvSpPr>
        <p:spPr>
          <a:xfrm>
            <a:off x="4187099" y="4298960"/>
            <a:ext cx="7581243" cy="2284480"/>
          </a:xfrm>
          <a:prstGeom prst="roundRect">
            <a:avLst/>
          </a:prstGeom>
          <a:noFill/>
          <a:ln w="254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A3A7EB-B931-2962-6F88-2B3CB3DA9C95}"/>
              </a:ext>
            </a:extLst>
          </p:cNvPr>
          <p:cNvSpPr txBox="1"/>
          <p:nvPr/>
        </p:nvSpPr>
        <p:spPr>
          <a:xfrm>
            <a:off x="6772500" y="6320237"/>
            <a:ext cx="2154733" cy="502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4" b="1" i="1">
                <a:solidFill>
                  <a:schemeClr val="accent4"/>
                </a:solidFill>
              </a:rPr>
              <a:t>Run</a:t>
            </a:r>
          </a:p>
        </p:txBody>
      </p:sp>
      <p:cxnSp>
        <p:nvCxnSpPr>
          <p:cNvPr id="47" name="Connector: Elbow 18">
            <a:extLst>
              <a:ext uri="{FF2B5EF4-FFF2-40B4-BE49-F238E27FC236}">
                <a16:creationId xmlns:a16="http://schemas.microsoft.com/office/drawing/2014/main" id="{50DE7D94-6ED9-5BBC-D10F-E967BD5961FA}"/>
              </a:ext>
            </a:extLst>
          </p:cNvPr>
          <p:cNvCxnSpPr>
            <a:cxnSpLocks/>
          </p:cNvCxnSpPr>
          <p:nvPr/>
        </p:nvCxnSpPr>
        <p:spPr>
          <a:xfrm flipH="1">
            <a:off x="2815460" y="1861213"/>
            <a:ext cx="108007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Internet Of Things outline">
            <a:extLst>
              <a:ext uri="{FF2B5EF4-FFF2-40B4-BE49-F238E27FC236}">
                <a16:creationId xmlns:a16="http://schemas.microsoft.com/office/drawing/2014/main" id="{412F2612-4CE8-DF59-9DCB-C5987D1435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6012" y="2473715"/>
            <a:ext cx="737411" cy="737411"/>
          </a:xfrm>
          <a:prstGeom prst="rect">
            <a:avLst/>
          </a:prstGeom>
        </p:spPr>
      </p:pic>
      <p:pic>
        <p:nvPicPr>
          <p:cNvPr id="52" name="Graphic 51" descr="Keyboard with solid fill">
            <a:extLst>
              <a:ext uri="{FF2B5EF4-FFF2-40B4-BE49-F238E27FC236}">
                <a16:creationId xmlns:a16="http://schemas.microsoft.com/office/drawing/2014/main" id="{7EAF08A6-ECF9-2940-3C19-0C55ADA4CD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0424" y="3185637"/>
            <a:ext cx="685841" cy="685841"/>
          </a:xfrm>
          <a:prstGeom prst="rect">
            <a:avLst/>
          </a:prstGeom>
        </p:spPr>
      </p:pic>
      <p:pic>
        <p:nvPicPr>
          <p:cNvPr id="54" name="Graphic 53" descr="Tablet with solid fill">
            <a:extLst>
              <a:ext uri="{FF2B5EF4-FFF2-40B4-BE49-F238E27FC236}">
                <a16:creationId xmlns:a16="http://schemas.microsoft.com/office/drawing/2014/main" id="{D66B9383-E68F-D5D9-F350-9ECE608BF3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6595" y="4618744"/>
            <a:ext cx="610755" cy="610755"/>
          </a:xfrm>
          <a:prstGeom prst="rect">
            <a:avLst/>
          </a:prstGeom>
        </p:spPr>
      </p:pic>
      <p:pic>
        <p:nvPicPr>
          <p:cNvPr id="56" name="Graphic 55" descr="Smart Phone with solid fill">
            <a:extLst>
              <a:ext uri="{FF2B5EF4-FFF2-40B4-BE49-F238E27FC236}">
                <a16:creationId xmlns:a16="http://schemas.microsoft.com/office/drawing/2014/main" id="{9C4C72E1-26CC-6D52-2AB4-D935C7837D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5461" y="3862770"/>
            <a:ext cx="567497" cy="56749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901B600-5C27-C189-7ED7-9741A90D1F28}"/>
              </a:ext>
            </a:extLst>
          </p:cNvPr>
          <p:cNvSpPr txBox="1"/>
          <p:nvPr/>
        </p:nvSpPr>
        <p:spPr>
          <a:xfrm>
            <a:off x="904365" y="3742267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EDC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C43D19-1344-D4EA-3728-D1CF28068A25}"/>
              </a:ext>
            </a:extLst>
          </p:cNvPr>
          <p:cNvSpPr txBox="1"/>
          <p:nvPr/>
        </p:nvSpPr>
        <p:spPr>
          <a:xfrm>
            <a:off x="1634765" y="4488565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EHR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BB2DE8-6058-FEED-9ADA-58DC9176EB00}"/>
              </a:ext>
            </a:extLst>
          </p:cNvPr>
          <p:cNvSpPr txBox="1"/>
          <p:nvPr/>
        </p:nvSpPr>
        <p:spPr>
          <a:xfrm>
            <a:off x="1619667" y="2755787"/>
            <a:ext cx="549660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 err="1">
                <a:latin typeface="Century Gothic" panose="020B0502020202020204" pitchFamily="34" charset="0"/>
              </a:rPr>
              <a:t>eDT</a:t>
            </a:r>
            <a:endParaRPr lang="en-US" sz="1099">
              <a:latin typeface="Century Gothic" panose="020B0502020202020204" pitchFamily="34" charset="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D3018D1-C2AC-93E8-F9F3-0E2C5C107C6A}"/>
              </a:ext>
            </a:extLst>
          </p:cNvPr>
          <p:cNvSpPr txBox="1"/>
          <p:nvPr/>
        </p:nvSpPr>
        <p:spPr>
          <a:xfrm>
            <a:off x="882129" y="5140201"/>
            <a:ext cx="814772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DHT</a:t>
            </a:r>
          </a:p>
        </p:txBody>
      </p:sp>
      <p:pic>
        <p:nvPicPr>
          <p:cNvPr id="1030" name="Graphic 1029" descr="Gears outline">
            <a:extLst>
              <a:ext uri="{FF2B5EF4-FFF2-40B4-BE49-F238E27FC236}">
                <a16:creationId xmlns:a16="http://schemas.microsoft.com/office/drawing/2014/main" id="{A4A1744F-4CA9-E1C1-A69D-4362C08DF01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92148" y="5383868"/>
            <a:ext cx="543424" cy="543424"/>
          </a:xfrm>
          <a:prstGeom prst="rect">
            <a:avLst/>
          </a:prstGeom>
        </p:spPr>
      </p:pic>
      <p:pic>
        <p:nvPicPr>
          <p:cNvPr id="1031" name="Graphic 1030" descr="Database outline">
            <a:extLst>
              <a:ext uri="{FF2B5EF4-FFF2-40B4-BE49-F238E27FC236}">
                <a16:creationId xmlns:a16="http://schemas.microsoft.com/office/drawing/2014/main" id="{AF031EC4-91ED-0A03-845C-CBB73EBC1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449" y="4419774"/>
            <a:ext cx="441196" cy="441196"/>
          </a:xfrm>
          <a:prstGeom prst="rect">
            <a:avLst/>
          </a:prstGeom>
        </p:spPr>
      </p:pic>
      <p:pic>
        <p:nvPicPr>
          <p:cNvPr id="1033" name="Graphic 1032" descr="Database outline">
            <a:extLst>
              <a:ext uri="{FF2B5EF4-FFF2-40B4-BE49-F238E27FC236}">
                <a16:creationId xmlns:a16="http://schemas.microsoft.com/office/drawing/2014/main" id="{F9D5E2FB-216C-9B12-F667-89525BDB4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5671" y="4419723"/>
            <a:ext cx="432365" cy="432365"/>
          </a:xfrm>
          <a:prstGeom prst="rect">
            <a:avLst/>
          </a:prstGeom>
        </p:spPr>
      </p:pic>
      <p:pic>
        <p:nvPicPr>
          <p:cNvPr id="1034" name="Graphic 1033" descr="Gears outline">
            <a:extLst>
              <a:ext uri="{FF2B5EF4-FFF2-40B4-BE49-F238E27FC236}">
                <a16:creationId xmlns:a16="http://schemas.microsoft.com/office/drawing/2014/main" id="{4687CA54-5027-4243-B565-6977EA5D9A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00741" y="4592755"/>
            <a:ext cx="461088" cy="485397"/>
          </a:xfrm>
          <a:prstGeom prst="rect">
            <a:avLst/>
          </a:prstGeom>
        </p:spPr>
      </p:pic>
      <p:pic>
        <p:nvPicPr>
          <p:cNvPr id="1036" name="Graphic 1035" descr="Scatterplot outline">
            <a:extLst>
              <a:ext uri="{FF2B5EF4-FFF2-40B4-BE49-F238E27FC236}">
                <a16:creationId xmlns:a16="http://schemas.microsoft.com/office/drawing/2014/main" id="{CE3AE48E-24E5-9F74-F820-9F0EE96AC4D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96080" y="4479050"/>
            <a:ext cx="389177" cy="389177"/>
          </a:xfrm>
          <a:prstGeom prst="rect">
            <a:avLst/>
          </a:prstGeom>
        </p:spPr>
      </p:pic>
      <p:pic>
        <p:nvPicPr>
          <p:cNvPr id="1039" name="Graphic 1038" descr="Document with solid fill">
            <a:extLst>
              <a:ext uri="{FF2B5EF4-FFF2-40B4-BE49-F238E27FC236}">
                <a16:creationId xmlns:a16="http://schemas.microsoft.com/office/drawing/2014/main" id="{34FE7463-DBF6-2851-8B54-CB86C13A8E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91156" y="4430267"/>
            <a:ext cx="461088" cy="461088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D179D707-8CF4-249B-3402-CDD285F0EF7E}"/>
              </a:ext>
            </a:extLst>
          </p:cNvPr>
          <p:cNvSpPr txBox="1"/>
          <p:nvPr/>
        </p:nvSpPr>
        <p:spPr>
          <a:xfrm>
            <a:off x="5067903" y="4823225"/>
            <a:ext cx="869669" cy="327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>
                <a:latin typeface="Century Gothic" panose="020B0502020202020204" pitchFamily="34" charset="0"/>
              </a:rPr>
              <a:t>Tabulation</a:t>
            </a:r>
          </a:p>
          <a:p>
            <a:pPr algn="ctr"/>
            <a:r>
              <a:rPr lang="en-US" sz="1065">
                <a:latin typeface="Century Gothic" panose="020B0502020202020204" pitchFamily="34" charset="0"/>
              </a:rPr>
              <a:t>Data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314B0ACD-9504-F02D-AFD5-2B5FE98C20C9}"/>
              </a:ext>
            </a:extLst>
          </p:cNvPr>
          <p:cNvSpPr txBox="1"/>
          <p:nvPr/>
        </p:nvSpPr>
        <p:spPr>
          <a:xfrm>
            <a:off x="2896113" y="5618770"/>
            <a:ext cx="887860" cy="338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Operational Data Store</a:t>
            </a:r>
          </a:p>
        </p:txBody>
      </p:sp>
      <p:pic>
        <p:nvPicPr>
          <p:cNvPr id="1046" name="Graphic 1045" descr="Gears outline">
            <a:extLst>
              <a:ext uri="{FF2B5EF4-FFF2-40B4-BE49-F238E27FC236}">
                <a16:creationId xmlns:a16="http://schemas.microsoft.com/office/drawing/2014/main" id="{09A17055-F426-AFC9-A253-8846AE16B8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7151" y="4558762"/>
            <a:ext cx="476397" cy="476397"/>
          </a:xfrm>
          <a:prstGeom prst="rect">
            <a:avLst/>
          </a:prstGeom>
        </p:spPr>
      </p:pic>
      <p:sp>
        <p:nvSpPr>
          <p:cNvPr id="1049" name="TextBox 1048">
            <a:extLst>
              <a:ext uri="{FF2B5EF4-FFF2-40B4-BE49-F238E27FC236}">
                <a16:creationId xmlns:a16="http://schemas.microsoft.com/office/drawing/2014/main" id="{92EC149B-541F-1B40-4958-E33207B197E1}"/>
              </a:ext>
            </a:extLst>
          </p:cNvPr>
          <p:cNvSpPr txBox="1"/>
          <p:nvPr/>
        </p:nvSpPr>
        <p:spPr>
          <a:xfrm>
            <a:off x="6141330" y="4408043"/>
            <a:ext cx="814772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Analyze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CF2AD4F-32EE-AA98-BE31-9678AF68F8DD}"/>
              </a:ext>
            </a:extLst>
          </p:cNvPr>
          <p:cNvSpPr txBox="1"/>
          <p:nvPr/>
        </p:nvSpPr>
        <p:spPr>
          <a:xfrm>
            <a:off x="6977151" y="4847775"/>
            <a:ext cx="953368" cy="327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>
                <a:latin typeface="Century Gothic" panose="020B0502020202020204" pitchFamily="34" charset="0"/>
              </a:rPr>
              <a:t>Analysis</a:t>
            </a:r>
          </a:p>
          <a:p>
            <a:pPr algn="ctr"/>
            <a:r>
              <a:rPr lang="en-US" sz="1065">
                <a:latin typeface="Century Gothic" panose="020B0502020202020204" pitchFamily="34" charset="0"/>
              </a:rPr>
              <a:t>Data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3A0F2450-0DCC-E697-1499-BB0ADF31F2C1}"/>
              </a:ext>
            </a:extLst>
          </p:cNvPr>
          <p:cNvSpPr txBox="1"/>
          <p:nvPr/>
        </p:nvSpPr>
        <p:spPr>
          <a:xfrm>
            <a:off x="8199190" y="4423633"/>
            <a:ext cx="814772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Output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221C63B2-724F-6466-D482-169B1D2655EC}"/>
              </a:ext>
            </a:extLst>
          </p:cNvPr>
          <p:cNvSpPr txBox="1"/>
          <p:nvPr/>
        </p:nvSpPr>
        <p:spPr>
          <a:xfrm>
            <a:off x="9251179" y="4886784"/>
            <a:ext cx="869669" cy="338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Results</a:t>
            </a:r>
          </a:p>
          <a:p>
            <a:pPr algn="ctr"/>
            <a:r>
              <a:rPr lang="en-US" sz="1099">
                <a:latin typeface="Century Gothic" panose="020B0502020202020204" pitchFamily="34" charset="0"/>
              </a:rPr>
              <a:t>TFLs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F1C01F0-6B3F-990B-FCBB-EB7798B65CF8}"/>
              </a:ext>
            </a:extLst>
          </p:cNvPr>
          <p:cNvSpPr txBox="1"/>
          <p:nvPr/>
        </p:nvSpPr>
        <p:spPr>
          <a:xfrm>
            <a:off x="10519503" y="4995938"/>
            <a:ext cx="869669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Report</a:t>
            </a:r>
          </a:p>
        </p:txBody>
      </p:sp>
      <p:cxnSp>
        <p:nvCxnSpPr>
          <p:cNvPr id="1055" name="Connector: Elbow 18">
            <a:extLst>
              <a:ext uri="{FF2B5EF4-FFF2-40B4-BE49-F238E27FC236}">
                <a16:creationId xmlns:a16="http://schemas.microsoft.com/office/drawing/2014/main" id="{409983C1-705E-DFAE-26E0-6E66CB083F8A}"/>
              </a:ext>
            </a:extLst>
          </p:cNvPr>
          <p:cNvCxnSpPr>
            <a:cxnSpLocks/>
          </p:cNvCxnSpPr>
          <p:nvPr/>
        </p:nvCxnSpPr>
        <p:spPr>
          <a:xfrm>
            <a:off x="4768474" y="5649473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: Elbow 18">
            <a:extLst>
              <a:ext uri="{FF2B5EF4-FFF2-40B4-BE49-F238E27FC236}">
                <a16:creationId xmlns:a16="http://schemas.microsoft.com/office/drawing/2014/main" id="{99B002C3-81ED-FAEE-1345-D6AA27E6A715}"/>
              </a:ext>
            </a:extLst>
          </p:cNvPr>
          <p:cNvCxnSpPr>
            <a:cxnSpLocks/>
          </p:cNvCxnSpPr>
          <p:nvPr/>
        </p:nvCxnSpPr>
        <p:spPr>
          <a:xfrm>
            <a:off x="5751719" y="4725089"/>
            <a:ext cx="473220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: Elbow 18">
            <a:extLst>
              <a:ext uri="{FF2B5EF4-FFF2-40B4-BE49-F238E27FC236}">
                <a16:creationId xmlns:a16="http://schemas.microsoft.com/office/drawing/2014/main" id="{E9A27618-3EEF-6EBD-132A-4E44491E9818}"/>
              </a:ext>
            </a:extLst>
          </p:cNvPr>
          <p:cNvCxnSpPr>
            <a:cxnSpLocks/>
          </p:cNvCxnSpPr>
          <p:nvPr/>
        </p:nvCxnSpPr>
        <p:spPr>
          <a:xfrm>
            <a:off x="6758887" y="4725089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Document with solid fill">
            <a:extLst>
              <a:ext uri="{FF2B5EF4-FFF2-40B4-BE49-F238E27FC236}">
                <a16:creationId xmlns:a16="http://schemas.microsoft.com/office/drawing/2014/main" id="{E6A38716-88C1-2F33-50D2-44FA69FC4D8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84700" y="1304203"/>
            <a:ext cx="556195" cy="556195"/>
          </a:xfrm>
          <a:prstGeom prst="rect">
            <a:avLst/>
          </a:prstGeom>
        </p:spPr>
      </p:pic>
      <p:pic>
        <p:nvPicPr>
          <p:cNvPr id="6" name="Graphic 5" descr="Group with solid fill">
            <a:extLst>
              <a:ext uri="{FF2B5EF4-FFF2-40B4-BE49-F238E27FC236}">
                <a16:creationId xmlns:a16="http://schemas.microsoft.com/office/drawing/2014/main" id="{DF3C0B03-BD99-BE05-31D1-1E5885F67B5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28832" y="965064"/>
            <a:ext cx="720397" cy="720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4AE109-D4DB-5D17-08CA-C44A2B6E145C}"/>
              </a:ext>
            </a:extLst>
          </p:cNvPr>
          <p:cNvSpPr txBox="1"/>
          <p:nvPr/>
        </p:nvSpPr>
        <p:spPr>
          <a:xfrm>
            <a:off x="10092296" y="850914"/>
            <a:ext cx="1427929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Study Team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127E5-861D-275B-2188-83238BFF2ACE}"/>
              </a:ext>
            </a:extLst>
          </p:cNvPr>
          <p:cNvSpPr txBox="1"/>
          <p:nvPr/>
        </p:nvSpPr>
        <p:spPr>
          <a:xfrm>
            <a:off x="8591867" y="1847774"/>
            <a:ext cx="1794835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Protocol Outline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4AA768-82C2-1929-D431-4EDB2D42E855}"/>
              </a:ext>
            </a:extLst>
          </p:cNvPr>
          <p:cNvSpPr txBox="1"/>
          <p:nvPr/>
        </p:nvSpPr>
        <p:spPr>
          <a:xfrm>
            <a:off x="8719771" y="274561"/>
            <a:ext cx="1401759" cy="338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Schedule of Activities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BDA3DC5-1B9A-1725-E1CC-334FF08298FB}"/>
              </a:ext>
            </a:extLst>
          </p:cNvPr>
          <p:cNvCxnSpPr>
            <a:cxnSpLocks/>
            <a:stCxn id="6" idx="1"/>
            <a:endCxn id="57" idx="3"/>
          </p:cNvCxnSpPr>
          <p:nvPr/>
        </p:nvCxnSpPr>
        <p:spPr>
          <a:xfrm rot="10800000">
            <a:off x="9766773" y="948663"/>
            <a:ext cx="662059" cy="376600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Daily calendar with solid fill">
            <a:extLst>
              <a:ext uri="{FF2B5EF4-FFF2-40B4-BE49-F238E27FC236}">
                <a16:creationId xmlns:a16="http://schemas.microsoft.com/office/drawing/2014/main" id="{F93B89B5-01BB-3683-6792-5156BBF4D95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47005" y="638778"/>
            <a:ext cx="619772" cy="619772"/>
          </a:xfrm>
          <a:prstGeom prst="rect">
            <a:avLst/>
          </a:prstGeom>
        </p:spPr>
      </p:pic>
      <p:pic>
        <p:nvPicPr>
          <p:cNvPr id="61" name="Graphic 60" descr="Laptop with solid fill">
            <a:extLst>
              <a:ext uri="{FF2B5EF4-FFF2-40B4-BE49-F238E27FC236}">
                <a16:creationId xmlns:a16="http://schemas.microsoft.com/office/drawing/2014/main" id="{C998919D-B69B-1DC7-B5DA-715CA9DD5B9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829229" y="1097782"/>
            <a:ext cx="619772" cy="619772"/>
          </a:xfrm>
          <a:prstGeom prst="rect">
            <a:avLst/>
          </a:prstGeom>
        </p:spPr>
      </p:pic>
      <p:cxnSp>
        <p:nvCxnSpPr>
          <p:cNvPr id="1066" name="Connector: Elbow 1065">
            <a:extLst>
              <a:ext uri="{FF2B5EF4-FFF2-40B4-BE49-F238E27FC236}">
                <a16:creationId xmlns:a16="http://schemas.microsoft.com/office/drawing/2014/main" id="{1117AB43-8FF3-2D05-0A9A-D91B8BE1016E}"/>
              </a:ext>
            </a:extLst>
          </p:cNvPr>
          <p:cNvCxnSpPr>
            <a:cxnSpLocks/>
          </p:cNvCxnSpPr>
          <p:nvPr/>
        </p:nvCxnSpPr>
        <p:spPr>
          <a:xfrm rot="10800000" flipV="1">
            <a:off x="8474915" y="948663"/>
            <a:ext cx="698004" cy="459004"/>
          </a:xfrm>
          <a:prstGeom prst="bentConnector3">
            <a:avLst>
              <a:gd name="adj1" fmla="val 49072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: Elbow 18">
            <a:extLst>
              <a:ext uri="{FF2B5EF4-FFF2-40B4-BE49-F238E27FC236}">
                <a16:creationId xmlns:a16="http://schemas.microsoft.com/office/drawing/2014/main" id="{37357AD7-2A23-0BBA-4D8C-DB02332DA30F}"/>
              </a:ext>
            </a:extLst>
          </p:cNvPr>
          <p:cNvCxnSpPr>
            <a:cxnSpLocks/>
          </p:cNvCxnSpPr>
          <p:nvPr/>
        </p:nvCxnSpPr>
        <p:spPr>
          <a:xfrm flipV="1">
            <a:off x="8151539" y="1985979"/>
            <a:ext cx="0" cy="1105195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B6DB818-3B7F-0DD7-3370-FD8729618B3C}"/>
              </a:ext>
            </a:extLst>
          </p:cNvPr>
          <p:cNvSpPr txBox="1"/>
          <p:nvPr/>
        </p:nvSpPr>
        <p:spPr>
          <a:xfrm>
            <a:off x="7370189" y="2476583"/>
            <a:ext cx="1250332" cy="3382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Select Biomedical Concepts</a:t>
            </a:r>
          </a:p>
        </p:txBody>
      </p:sp>
      <p:cxnSp>
        <p:nvCxnSpPr>
          <p:cNvPr id="9" name="Connector: Elbow 18">
            <a:extLst>
              <a:ext uri="{FF2B5EF4-FFF2-40B4-BE49-F238E27FC236}">
                <a16:creationId xmlns:a16="http://schemas.microsoft.com/office/drawing/2014/main" id="{D0C0D37F-26F4-C872-5869-F63DD8F2EAC8}"/>
              </a:ext>
            </a:extLst>
          </p:cNvPr>
          <p:cNvCxnSpPr>
            <a:cxnSpLocks/>
          </p:cNvCxnSpPr>
          <p:nvPr/>
        </p:nvCxnSpPr>
        <p:spPr>
          <a:xfrm flipH="1">
            <a:off x="6690311" y="1936305"/>
            <a:ext cx="923592" cy="0"/>
          </a:xfrm>
          <a:prstGeom prst="straightConnector1">
            <a:avLst/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50D212-1984-A1B7-9173-DF3DB1882728}"/>
              </a:ext>
            </a:extLst>
          </p:cNvPr>
          <p:cNvGrpSpPr/>
          <p:nvPr/>
        </p:nvGrpSpPr>
        <p:grpSpPr>
          <a:xfrm>
            <a:off x="4435608" y="263122"/>
            <a:ext cx="2465995" cy="1934047"/>
            <a:chOff x="3117749" y="1332173"/>
            <a:chExt cx="1851208" cy="1556941"/>
          </a:xfrm>
          <a:noFill/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53F285-1E1B-62FD-F948-FA2DC2181683}"/>
                </a:ext>
              </a:extLst>
            </p:cNvPr>
            <p:cNvSpPr/>
            <p:nvPr/>
          </p:nvSpPr>
          <p:spPr>
            <a:xfrm>
              <a:off x="3175406" y="1401485"/>
              <a:ext cx="1441080" cy="1487629"/>
            </a:xfrm>
            <a:prstGeom prst="rect">
              <a:avLst/>
            </a:prstGeom>
            <a:grp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3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31FA5FF-17F3-CFE1-16B3-2340B55FEF0E}"/>
                </a:ext>
              </a:extLst>
            </p:cNvPr>
            <p:cNvGrpSpPr/>
            <p:nvPr/>
          </p:nvGrpSpPr>
          <p:grpSpPr>
            <a:xfrm>
              <a:off x="3117749" y="1557996"/>
              <a:ext cx="1851208" cy="1279942"/>
              <a:chOff x="2608608" y="1500085"/>
              <a:chExt cx="1851208" cy="1279942"/>
            </a:xfrm>
            <a:grpFill/>
          </p:grpSpPr>
          <p:pic>
            <p:nvPicPr>
              <p:cNvPr id="14" name="Graphic 13" descr="Blockchain outline">
                <a:extLst>
                  <a:ext uri="{FF2B5EF4-FFF2-40B4-BE49-F238E27FC236}">
                    <a16:creationId xmlns:a16="http://schemas.microsoft.com/office/drawing/2014/main" id="{02067463-7C00-2244-40E1-37CBE74DE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699567" y="1500085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FD223E9-91E8-3022-11A9-5604F49856A8}"/>
                  </a:ext>
                </a:extLst>
              </p:cNvPr>
              <p:cNvSpPr txBox="1"/>
              <p:nvPr/>
            </p:nvSpPr>
            <p:spPr>
              <a:xfrm>
                <a:off x="2799165" y="1677364"/>
                <a:ext cx="1660651" cy="136168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Data Collection</a:t>
                </a:r>
              </a:p>
            </p:txBody>
          </p:sp>
          <p:pic>
            <p:nvPicPr>
              <p:cNvPr id="21" name="Graphic 20" descr="Blockchain outline">
                <a:extLst>
                  <a:ext uri="{FF2B5EF4-FFF2-40B4-BE49-F238E27FC236}">
                    <a16:creationId xmlns:a16="http://schemas.microsoft.com/office/drawing/2014/main" id="{FC7D856A-EE06-FEAC-D412-74FCDE230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699567" y="1910345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F3ABBA-FB04-F86E-5620-8910A50CF9E2}"/>
                  </a:ext>
                </a:extLst>
              </p:cNvPr>
              <p:cNvSpPr txBox="1"/>
              <p:nvPr/>
            </p:nvSpPr>
            <p:spPr>
              <a:xfrm>
                <a:off x="2671617" y="2084666"/>
                <a:ext cx="1660651" cy="136168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Tabulation</a:t>
                </a:r>
              </a:p>
            </p:txBody>
          </p:sp>
          <p:pic>
            <p:nvPicPr>
              <p:cNvPr id="24" name="Graphic 23" descr="Blockchain outline">
                <a:extLst>
                  <a:ext uri="{FF2B5EF4-FFF2-40B4-BE49-F238E27FC236}">
                    <a16:creationId xmlns:a16="http://schemas.microsoft.com/office/drawing/2014/main" id="{42A4B19F-F867-1F82-19C8-46EF96E79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705377" y="2314769"/>
                <a:ext cx="465258" cy="465258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D96751-EBAE-899D-A97D-8891654DE62A}"/>
                  </a:ext>
                </a:extLst>
              </p:cNvPr>
              <p:cNvSpPr txBox="1"/>
              <p:nvPr/>
            </p:nvSpPr>
            <p:spPr>
              <a:xfrm>
                <a:off x="2608608" y="2451111"/>
                <a:ext cx="1660651" cy="136168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099">
                    <a:latin typeface="Century Gothic" panose="020B0502020202020204" pitchFamily="34" charset="0"/>
                  </a:rPr>
                  <a:t>Analysis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427071-F895-A7DE-7332-68355CD322B4}"/>
                </a:ext>
              </a:extLst>
            </p:cNvPr>
            <p:cNvSpPr txBox="1"/>
            <p:nvPr/>
          </p:nvSpPr>
          <p:spPr>
            <a:xfrm>
              <a:off x="3421928" y="1332173"/>
              <a:ext cx="1052291" cy="2723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99" b="1">
                  <a:latin typeface="Century Gothic" panose="020B0502020202020204" pitchFamily="34" charset="0"/>
                </a:rPr>
                <a:t>Machine Executable Specifications</a:t>
              </a:r>
            </a:p>
          </p:txBody>
        </p:sp>
      </p:grpSp>
      <p:sp>
        <p:nvSpPr>
          <p:cNvPr id="38" name="Rounded Rectangle 88">
            <a:extLst>
              <a:ext uri="{FF2B5EF4-FFF2-40B4-BE49-F238E27FC236}">
                <a16:creationId xmlns:a16="http://schemas.microsoft.com/office/drawing/2014/main" id="{9A215E65-8149-565B-F5B0-CFB6A40A1C24}"/>
              </a:ext>
            </a:extLst>
          </p:cNvPr>
          <p:cNvSpPr/>
          <p:nvPr/>
        </p:nvSpPr>
        <p:spPr>
          <a:xfrm>
            <a:off x="4213534" y="208829"/>
            <a:ext cx="7522417" cy="2063900"/>
          </a:xfrm>
          <a:prstGeom prst="roundRect">
            <a:avLst/>
          </a:prstGeom>
          <a:noFill/>
          <a:ln w="2540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7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EBD70-A267-DBC8-7166-25DD629C9A86}"/>
              </a:ext>
            </a:extLst>
          </p:cNvPr>
          <p:cNvSpPr txBox="1"/>
          <p:nvPr/>
        </p:nvSpPr>
        <p:spPr>
          <a:xfrm>
            <a:off x="7873441" y="1646373"/>
            <a:ext cx="556195" cy="1691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USDM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72AFB-4BE1-B6DB-300F-E516A8A80F56}"/>
              </a:ext>
            </a:extLst>
          </p:cNvPr>
          <p:cNvSpPr txBox="1"/>
          <p:nvPr/>
        </p:nvSpPr>
        <p:spPr>
          <a:xfrm>
            <a:off x="3355497" y="1041816"/>
            <a:ext cx="1109788" cy="532982"/>
          </a:xfrm>
          <a:prstGeom prst="rect">
            <a:avLst/>
          </a:prstGeom>
          <a:solidFill>
            <a:schemeClr val="bg1"/>
          </a:solidFill>
        </p:spPr>
        <p:txBody>
          <a:bodyPr wrap="square" lIns="121807" tIns="60904" rIns="121807" bIns="60904" rtlCol="0" anchor="t">
            <a:spAutoFit/>
          </a:bodyPr>
          <a:lstStyle/>
          <a:p>
            <a:pPr algn="ctr"/>
            <a:r>
              <a:rPr lang="en-US" sz="2664" b="1" i="1">
                <a:solidFill>
                  <a:schemeClr val="accent3"/>
                </a:solidFill>
              </a:rPr>
              <a:t>Build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B1D49-3F05-8690-F0AB-2FD4697FB40F}"/>
              </a:ext>
            </a:extLst>
          </p:cNvPr>
          <p:cNvSpPr txBox="1"/>
          <p:nvPr/>
        </p:nvSpPr>
        <p:spPr>
          <a:xfrm>
            <a:off x="10077051" y="2006235"/>
            <a:ext cx="1521864" cy="532982"/>
          </a:xfrm>
          <a:prstGeom prst="rect">
            <a:avLst/>
          </a:prstGeom>
          <a:solidFill>
            <a:schemeClr val="bg1"/>
          </a:solidFill>
        </p:spPr>
        <p:txBody>
          <a:bodyPr wrap="square" lIns="121807" tIns="60904" rIns="121807" bIns="60904" rtlCol="0" anchor="t">
            <a:spAutoFit/>
          </a:bodyPr>
          <a:lstStyle/>
          <a:p>
            <a:pPr algn="ctr"/>
            <a:r>
              <a:rPr lang="en-US" sz="2664" b="1" i="1">
                <a:solidFill>
                  <a:schemeClr val="accent3"/>
                </a:solidFill>
              </a:rPr>
              <a:t>Design</a:t>
            </a:r>
          </a:p>
        </p:txBody>
      </p:sp>
      <p:cxnSp>
        <p:nvCxnSpPr>
          <p:cNvPr id="12" name="Connector: Elbow 18">
            <a:extLst>
              <a:ext uri="{FF2B5EF4-FFF2-40B4-BE49-F238E27FC236}">
                <a16:creationId xmlns:a16="http://schemas.microsoft.com/office/drawing/2014/main" id="{A98E46B6-B9C7-35C3-4863-DAF9771869AF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6689531" y="3429000"/>
            <a:ext cx="708035" cy="24628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C88A18-F5B6-859A-15BF-FD596C097641}"/>
              </a:ext>
            </a:extLst>
          </p:cNvPr>
          <p:cNvSpPr txBox="1"/>
          <p:nvPr/>
        </p:nvSpPr>
        <p:spPr>
          <a:xfrm>
            <a:off x="3406041" y="3145931"/>
            <a:ext cx="1559544" cy="1614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49" b="1">
                <a:solidFill>
                  <a:srgbClr val="51A492"/>
                </a:solidFill>
                <a:latin typeface="Century Gothic" panose="020B0502020202020204" pitchFamily="34" charset="0"/>
              </a:rPr>
              <a:t>Study Definitions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633F69-E77A-6048-2D51-001170088D2A}"/>
              </a:ext>
            </a:extLst>
          </p:cNvPr>
          <p:cNvSpPr txBox="1"/>
          <p:nvPr/>
        </p:nvSpPr>
        <p:spPr>
          <a:xfrm>
            <a:off x="3908797" y="3354467"/>
            <a:ext cx="1152376" cy="6918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99">
                <a:latin typeface="Century Gothic" panose="020B0502020202020204" pitchFamily="34" charset="0"/>
              </a:rPr>
              <a:t>Data Collection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Data Transfer 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Tabulation/Analysis </a:t>
            </a:r>
          </a:p>
          <a:p>
            <a:pPr algn="r"/>
            <a:r>
              <a:rPr lang="en-US" sz="899">
                <a:latin typeface="Century Gothic" panose="020B0502020202020204" pitchFamily="34" charset="0"/>
              </a:rPr>
              <a:t>More Use Cases…</a:t>
            </a:r>
            <a:br>
              <a:rPr lang="en-US" sz="899">
                <a:latin typeface="Century Gothic" panose="020B0502020202020204" pitchFamily="34" charset="0"/>
              </a:rPr>
            </a:br>
            <a:endParaRPr lang="en-US" sz="899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098C9A-AB42-DB78-9B2D-FF90BC603A54}"/>
              </a:ext>
            </a:extLst>
          </p:cNvPr>
          <p:cNvSpPr/>
          <p:nvPr/>
        </p:nvSpPr>
        <p:spPr>
          <a:xfrm>
            <a:off x="3220897" y="2965284"/>
            <a:ext cx="3352859" cy="1034993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3"/>
          </a:p>
        </p:txBody>
      </p:sp>
      <p:pic>
        <p:nvPicPr>
          <p:cNvPr id="29" name="Graphic 28" descr="Database outline">
            <a:extLst>
              <a:ext uri="{FF2B5EF4-FFF2-40B4-BE49-F238E27FC236}">
                <a16:creationId xmlns:a16="http://schemas.microsoft.com/office/drawing/2014/main" id="{7862AF33-AEAB-FE73-DFBE-218CC56A9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5533" y="3048580"/>
            <a:ext cx="870387" cy="87038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1175966-3C07-13B9-54D5-B3AA2C437A04}"/>
              </a:ext>
            </a:extLst>
          </p:cNvPr>
          <p:cNvSpPr txBox="1"/>
          <p:nvPr/>
        </p:nvSpPr>
        <p:spPr>
          <a:xfrm>
            <a:off x="5503214" y="3207791"/>
            <a:ext cx="1186317" cy="4916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65" b="1">
                <a:solidFill>
                  <a:srgbClr val="134678"/>
                </a:solidFill>
                <a:latin typeface="Century Gothic" panose="020B0502020202020204" pitchFamily="34" charset="0"/>
              </a:rPr>
              <a:t>Company Configured Library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4B7CDF-8D89-E506-C964-5CBCE9A5F646}"/>
              </a:ext>
            </a:extLst>
          </p:cNvPr>
          <p:cNvSpPr txBox="1"/>
          <p:nvPr/>
        </p:nvSpPr>
        <p:spPr>
          <a:xfrm>
            <a:off x="8884117" y="2388347"/>
            <a:ext cx="814772" cy="3382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Select Endpoints</a:t>
            </a:r>
          </a:p>
        </p:txBody>
      </p:sp>
      <p:cxnSp>
        <p:nvCxnSpPr>
          <p:cNvPr id="53" name="Connector: Elbow 18">
            <a:extLst>
              <a:ext uri="{FF2B5EF4-FFF2-40B4-BE49-F238E27FC236}">
                <a16:creationId xmlns:a16="http://schemas.microsoft.com/office/drawing/2014/main" id="{B10196F9-F607-CAC6-D963-D3C7D24386A6}"/>
              </a:ext>
            </a:extLst>
          </p:cNvPr>
          <p:cNvCxnSpPr>
            <a:cxnSpLocks/>
          </p:cNvCxnSpPr>
          <p:nvPr/>
        </p:nvCxnSpPr>
        <p:spPr>
          <a:xfrm flipH="1">
            <a:off x="8602549" y="2574412"/>
            <a:ext cx="333368" cy="0"/>
          </a:xfrm>
          <a:prstGeom prst="straightConnector1">
            <a:avLst/>
          </a:prstGeom>
          <a:ln w="19050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18">
            <a:extLst>
              <a:ext uri="{FF2B5EF4-FFF2-40B4-BE49-F238E27FC236}">
                <a16:creationId xmlns:a16="http://schemas.microsoft.com/office/drawing/2014/main" id="{ECB6ADC1-B9B7-9830-E87C-ED413F22E756}"/>
              </a:ext>
            </a:extLst>
          </p:cNvPr>
          <p:cNvCxnSpPr>
            <a:cxnSpLocks/>
          </p:cNvCxnSpPr>
          <p:nvPr/>
        </p:nvCxnSpPr>
        <p:spPr>
          <a:xfrm>
            <a:off x="5480059" y="2298648"/>
            <a:ext cx="0" cy="623064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Graphic 1039" descr="Clipboard outline">
            <a:extLst>
              <a:ext uri="{FF2B5EF4-FFF2-40B4-BE49-F238E27FC236}">
                <a16:creationId xmlns:a16="http://schemas.microsoft.com/office/drawing/2014/main" id="{A717D38D-5B34-2927-7584-5EC072D460F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06561" y="5389806"/>
            <a:ext cx="510713" cy="510713"/>
          </a:xfrm>
          <a:prstGeom prst="rect">
            <a:avLst/>
          </a:prstGeom>
        </p:spPr>
      </p:pic>
      <p:sp>
        <p:nvSpPr>
          <p:cNvPr id="1042" name="TextBox 1041">
            <a:extLst>
              <a:ext uri="{FF2B5EF4-FFF2-40B4-BE49-F238E27FC236}">
                <a16:creationId xmlns:a16="http://schemas.microsoft.com/office/drawing/2014/main" id="{9805D63D-40FE-8977-1D0D-370ABDD8A37B}"/>
              </a:ext>
            </a:extLst>
          </p:cNvPr>
          <p:cNvSpPr txBox="1"/>
          <p:nvPr/>
        </p:nvSpPr>
        <p:spPr>
          <a:xfrm>
            <a:off x="5034837" y="5228168"/>
            <a:ext cx="1283679" cy="16914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99">
                <a:latin typeface="Century Gothic" panose="020B0502020202020204" pitchFamily="34" charset="0"/>
              </a:rPr>
              <a:t>Data Monitoring</a:t>
            </a:r>
          </a:p>
        </p:txBody>
      </p:sp>
      <p:pic>
        <p:nvPicPr>
          <p:cNvPr id="1047" name="Graphic 1046" descr="Gears outline">
            <a:extLst>
              <a:ext uri="{FF2B5EF4-FFF2-40B4-BE49-F238E27FC236}">
                <a16:creationId xmlns:a16="http://schemas.microsoft.com/office/drawing/2014/main" id="{C1902D94-ACED-FD1F-D935-1D2436D23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95483" y="4466512"/>
            <a:ext cx="543424" cy="543424"/>
          </a:xfrm>
          <a:prstGeom prst="rect">
            <a:avLst/>
          </a:prstGeom>
        </p:spPr>
      </p:pic>
      <p:pic>
        <p:nvPicPr>
          <p:cNvPr id="1058" name="Graphic 1057" descr="Gears outline">
            <a:extLst>
              <a:ext uri="{FF2B5EF4-FFF2-40B4-BE49-F238E27FC236}">
                <a16:creationId xmlns:a16="http://schemas.microsoft.com/office/drawing/2014/main" id="{9D1E411F-6437-4864-D799-62BF97D35D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24015" y="5955171"/>
            <a:ext cx="543424" cy="543424"/>
          </a:xfrm>
          <a:prstGeom prst="rect">
            <a:avLst/>
          </a:prstGeom>
        </p:spPr>
      </p:pic>
      <p:cxnSp>
        <p:nvCxnSpPr>
          <p:cNvPr id="1060" name="Connector: Elbow 18">
            <a:extLst>
              <a:ext uri="{FF2B5EF4-FFF2-40B4-BE49-F238E27FC236}">
                <a16:creationId xmlns:a16="http://schemas.microsoft.com/office/drawing/2014/main" id="{159F3C20-ACA4-D6DF-C188-EE5D8A32CCB2}"/>
              </a:ext>
            </a:extLst>
          </p:cNvPr>
          <p:cNvCxnSpPr>
            <a:cxnSpLocks/>
          </p:cNvCxnSpPr>
          <p:nvPr/>
        </p:nvCxnSpPr>
        <p:spPr>
          <a:xfrm>
            <a:off x="4735397" y="3977532"/>
            <a:ext cx="0" cy="475849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: Elbow 18">
            <a:extLst>
              <a:ext uri="{FF2B5EF4-FFF2-40B4-BE49-F238E27FC236}">
                <a16:creationId xmlns:a16="http://schemas.microsoft.com/office/drawing/2014/main" id="{3583F7C6-08AD-3C21-FB90-3FD51CB50B56}"/>
              </a:ext>
            </a:extLst>
          </p:cNvPr>
          <p:cNvCxnSpPr>
            <a:cxnSpLocks/>
          </p:cNvCxnSpPr>
          <p:nvPr/>
        </p:nvCxnSpPr>
        <p:spPr>
          <a:xfrm>
            <a:off x="4760050" y="4730951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FAE2F936-690A-4E82-10C1-416608A0A006}"/>
              </a:ext>
            </a:extLst>
          </p:cNvPr>
          <p:cNvCxnSpPr>
            <a:cxnSpLocks/>
          </p:cNvCxnSpPr>
          <p:nvPr/>
        </p:nvCxnSpPr>
        <p:spPr>
          <a:xfrm>
            <a:off x="4288329" y="5927375"/>
            <a:ext cx="7441028" cy="434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274C463C-9F66-6488-0324-76825B7CECC8}"/>
              </a:ext>
            </a:extLst>
          </p:cNvPr>
          <p:cNvSpPr txBox="1"/>
          <p:nvPr/>
        </p:nvSpPr>
        <p:spPr>
          <a:xfrm>
            <a:off x="5484948" y="6119992"/>
            <a:ext cx="3137648" cy="1638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65">
                <a:latin typeface="Century Gothic"/>
              </a:rPr>
              <a:t>Analysis, Interactive review, Other Use Cases </a:t>
            </a:r>
            <a:endParaRPr lang="en-US" sz="2397">
              <a:latin typeface="Century Gothic"/>
            </a:endParaRPr>
          </a:p>
        </p:txBody>
      </p:sp>
      <p:cxnSp>
        <p:nvCxnSpPr>
          <p:cNvPr id="1086" name="Connector: Elbow 18">
            <a:extLst>
              <a:ext uri="{FF2B5EF4-FFF2-40B4-BE49-F238E27FC236}">
                <a16:creationId xmlns:a16="http://schemas.microsoft.com/office/drawing/2014/main" id="{998AF3FD-6063-80E9-0766-BFB3C649844E}"/>
              </a:ext>
            </a:extLst>
          </p:cNvPr>
          <p:cNvCxnSpPr>
            <a:cxnSpLocks/>
          </p:cNvCxnSpPr>
          <p:nvPr/>
        </p:nvCxnSpPr>
        <p:spPr>
          <a:xfrm>
            <a:off x="4869646" y="6208093"/>
            <a:ext cx="492753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: Elbow 18">
            <a:extLst>
              <a:ext uri="{FF2B5EF4-FFF2-40B4-BE49-F238E27FC236}">
                <a16:creationId xmlns:a16="http://schemas.microsoft.com/office/drawing/2014/main" id="{90CA1BBE-B07A-7B3D-2782-F30EDAAE95BB}"/>
              </a:ext>
            </a:extLst>
          </p:cNvPr>
          <p:cNvCxnSpPr>
            <a:cxnSpLocks/>
          </p:cNvCxnSpPr>
          <p:nvPr/>
        </p:nvCxnSpPr>
        <p:spPr>
          <a:xfrm>
            <a:off x="7837603" y="4725089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: Elbow 18">
            <a:extLst>
              <a:ext uri="{FF2B5EF4-FFF2-40B4-BE49-F238E27FC236}">
                <a16:creationId xmlns:a16="http://schemas.microsoft.com/office/drawing/2014/main" id="{4B7C3F65-3432-CB65-02F6-62F7CBD7C765}"/>
              </a:ext>
            </a:extLst>
          </p:cNvPr>
          <p:cNvCxnSpPr>
            <a:cxnSpLocks/>
          </p:cNvCxnSpPr>
          <p:nvPr/>
        </p:nvCxnSpPr>
        <p:spPr>
          <a:xfrm>
            <a:off x="8987313" y="4761651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: Elbow 18">
            <a:extLst>
              <a:ext uri="{FF2B5EF4-FFF2-40B4-BE49-F238E27FC236}">
                <a16:creationId xmlns:a16="http://schemas.microsoft.com/office/drawing/2014/main" id="{4BA5ACB0-5FCC-E564-1968-8106A37273CB}"/>
              </a:ext>
            </a:extLst>
          </p:cNvPr>
          <p:cNvCxnSpPr>
            <a:cxnSpLocks/>
          </p:cNvCxnSpPr>
          <p:nvPr/>
        </p:nvCxnSpPr>
        <p:spPr>
          <a:xfrm>
            <a:off x="10137127" y="4796957"/>
            <a:ext cx="394428" cy="0"/>
          </a:xfrm>
          <a:prstGeom prst="straightConnector1">
            <a:avLst/>
          </a:prstGeom>
          <a:ln w="34925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Straight Connector 1096">
            <a:extLst>
              <a:ext uri="{FF2B5EF4-FFF2-40B4-BE49-F238E27FC236}">
                <a16:creationId xmlns:a16="http://schemas.microsoft.com/office/drawing/2014/main" id="{C10939A6-5CDC-B7C0-3751-0BFBEEA2C0A4}"/>
              </a:ext>
            </a:extLst>
          </p:cNvPr>
          <p:cNvCxnSpPr>
            <a:cxnSpLocks/>
          </p:cNvCxnSpPr>
          <p:nvPr/>
        </p:nvCxnSpPr>
        <p:spPr>
          <a:xfrm>
            <a:off x="4288331" y="5161467"/>
            <a:ext cx="7397709" cy="45839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9" name="Graphic 1098" descr="Arrow circle with solid fill">
            <a:extLst>
              <a:ext uri="{FF2B5EF4-FFF2-40B4-BE49-F238E27FC236}">
                <a16:creationId xmlns:a16="http://schemas.microsoft.com/office/drawing/2014/main" id="{6C9B4028-FA5B-99D0-FFF8-175EF220D21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205902" y="3100267"/>
            <a:ext cx="754404" cy="754404"/>
          </a:xfrm>
          <a:prstGeom prst="rect">
            <a:avLst/>
          </a:prstGeom>
        </p:spPr>
      </p:pic>
      <p:pic>
        <p:nvPicPr>
          <p:cNvPr id="1100" name="Graphic 1099" descr="Arrow circle with solid fill">
            <a:extLst>
              <a:ext uri="{FF2B5EF4-FFF2-40B4-BE49-F238E27FC236}">
                <a16:creationId xmlns:a16="http://schemas.microsoft.com/office/drawing/2014/main" id="{8F7023AB-1698-5FD0-0EA8-0C292A08607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456701" y="3114129"/>
            <a:ext cx="754404" cy="754404"/>
          </a:xfrm>
          <a:prstGeom prst="rect">
            <a:avLst/>
          </a:prstGeom>
        </p:spPr>
      </p:pic>
      <p:pic>
        <p:nvPicPr>
          <p:cNvPr id="11" name="Graphic 10" descr="Database outline">
            <a:extLst>
              <a:ext uri="{FF2B5EF4-FFF2-40B4-BE49-F238E27FC236}">
                <a16:creationId xmlns:a16="http://schemas.microsoft.com/office/drawing/2014/main" id="{9B00488C-70FE-5EED-431D-93C2AB720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045" y="4735511"/>
            <a:ext cx="870387" cy="870387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BB47E91-EB5A-B73F-4004-4FB4E996E46E}"/>
              </a:ext>
            </a:extLst>
          </p:cNvPr>
          <p:cNvCxnSpPr>
            <a:cxnSpLocks/>
          </p:cNvCxnSpPr>
          <p:nvPr/>
        </p:nvCxnSpPr>
        <p:spPr>
          <a:xfrm flipV="1">
            <a:off x="3632364" y="4724629"/>
            <a:ext cx="773259" cy="424816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: Elbow 18">
            <a:extLst>
              <a:ext uri="{FF2B5EF4-FFF2-40B4-BE49-F238E27FC236}">
                <a16:creationId xmlns:a16="http://schemas.microsoft.com/office/drawing/2014/main" id="{D90B6642-B22A-1934-C99A-DABA9C38B67F}"/>
              </a:ext>
            </a:extLst>
          </p:cNvPr>
          <p:cNvCxnSpPr>
            <a:cxnSpLocks/>
          </p:cNvCxnSpPr>
          <p:nvPr/>
        </p:nvCxnSpPr>
        <p:spPr>
          <a:xfrm flipH="1">
            <a:off x="3386213" y="4031300"/>
            <a:ext cx="736" cy="730352"/>
          </a:xfrm>
          <a:prstGeom prst="straightConnector1">
            <a:avLst/>
          </a:prstGeom>
          <a:ln w="34925">
            <a:solidFill>
              <a:srgbClr val="51A49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645B134E-91C4-E0C4-EE5F-65F0FC229EC0}"/>
              </a:ext>
            </a:extLst>
          </p:cNvPr>
          <p:cNvCxnSpPr>
            <a:cxnSpLocks/>
            <a:stCxn id="11" idx="3"/>
            <a:endCxn id="1030" idx="1"/>
          </p:cNvCxnSpPr>
          <p:nvPr/>
        </p:nvCxnSpPr>
        <p:spPr>
          <a:xfrm>
            <a:off x="3737062" y="5147960"/>
            <a:ext cx="555087" cy="507619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65BC2BEE-4A00-F329-9F8D-33B56D751605}"/>
              </a:ext>
            </a:extLst>
          </p:cNvPr>
          <p:cNvCxnSpPr>
            <a:cxnSpLocks/>
            <a:stCxn id="3" idx="1"/>
            <a:endCxn id="61" idx="3"/>
          </p:cNvCxnSpPr>
          <p:nvPr/>
        </p:nvCxnSpPr>
        <p:spPr>
          <a:xfrm rot="10800000">
            <a:off x="8448998" y="1407669"/>
            <a:ext cx="735703" cy="174635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19A8885F-A8BB-E7F3-4969-B646FE7C8B8B}"/>
              </a:ext>
            </a:extLst>
          </p:cNvPr>
          <p:cNvCxnSpPr>
            <a:cxnSpLocks/>
            <a:stCxn id="6" idx="1"/>
            <a:endCxn id="3" idx="3"/>
          </p:cNvCxnSpPr>
          <p:nvPr/>
        </p:nvCxnSpPr>
        <p:spPr>
          <a:xfrm rot="10800000" flipV="1">
            <a:off x="9740898" y="1325263"/>
            <a:ext cx="687937" cy="257039"/>
          </a:xfrm>
          <a:prstGeom prst="bentConnector3">
            <a:avLst>
              <a:gd name="adj1" fmla="val 47175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45D2A4D-B38E-E151-1345-B5C956F04E83}"/>
              </a:ext>
            </a:extLst>
          </p:cNvPr>
          <p:cNvCxnSpPr>
            <a:cxnSpLocks/>
          </p:cNvCxnSpPr>
          <p:nvPr/>
        </p:nvCxnSpPr>
        <p:spPr>
          <a:xfrm>
            <a:off x="3800123" y="5153778"/>
            <a:ext cx="429983" cy="1053529"/>
          </a:xfrm>
          <a:prstGeom prst="bentConnector3">
            <a:avLst>
              <a:gd name="adj1" fmla="val 50000"/>
            </a:avLst>
          </a:prstGeom>
          <a:ln w="25400">
            <a:solidFill>
              <a:srgbClr val="51A4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Freeform: Shape 1025">
            <a:extLst>
              <a:ext uri="{FF2B5EF4-FFF2-40B4-BE49-F238E27FC236}">
                <a16:creationId xmlns:a16="http://schemas.microsoft.com/office/drawing/2014/main" id="{5EBC065C-FC26-1F03-899D-82850A0825DC}"/>
              </a:ext>
            </a:extLst>
          </p:cNvPr>
          <p:cNvSpPr/>
          <p:nvPr/>
        </p:nvSpPr>
        <p:spPr>
          <a:xfrm>
            <a:off x="3920872" y="4189696"/>
            <a:ext cx="8003459" cy="2526891"/>
          </a:xfrm>
          <a:custGeom>
            <a:avLst/>
            <a:gdLst>
              <a:gd name="connsiteX0" fmla="*/ 0 w 6002594"/>
              <a:gd name="connsiteY0" fmla="*/ 774291 h 1895168"/>
              <a:gd name="connsiteX1" fmla="*/ 7374 w 6002594"/>
              <a:gd name="connsiteY1" fmla="*/ 1895168 h 1895168"/>
              <a:gd name="connsiteX2" fmla="*/ 6002594 w 6002594"/>
              <a:gd name="connsiteY2" fmla="*/ 1895168 h 1895168"/>
              <a:gd name="connsiteX3" fmla="*/ 5980471 w 6002594"/>
              <a:gd name="connsiteY3" fmla="*/ 7374 h 1895168"/>
              <a:gd name="connsiteX4" fmla="*/ 1511710 w 6002594"/>
              <a:gd name="connsiteY4" fmla="*/ 0 h 1895168"/>
              <a:gd name="connsiteX5" fmla="*/ 1511710 w 6002594"/>
              <a:gd name="connsiteY5" fmla="*/ 789039 h 1895168"/>
              <a:gd name="connsiteX6" fmla="*/ 0 w 6002594"/>
              <a:gd name="connsiteY6" fmla="*/ 774291 h 1895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2594" h="1895168">
                <a:moveTo>
                  <a:pt x="0" y="774291"/>
                </a:moveTo>
                <a:lnTo>
                  <a:pt x="7374" y="1895168"/>
                </a:lnTo>
                <a:lnTo>
                  <a:pt x="6002594" y="1895168"/>
                </a:lnTo>
                <a:lnTo>
                  <a:pt x="5980471" y="7374"/>
                </a:lnTo>
                <a:lnTo>
                  <a:pt x="1511710" y="0"/>
                </a:lnTo>
                <a:lnTo>
                  <a:pt x="1511710" y="789039"/>
                </a:lnTo>
                <a:lnTo>
                  <a:pt x="0" y="774291"/>
                </a:lnTo>
                <a:close/>
              </a:path>
            </a:pathLst>
          </a:cu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840EC013-0411-1D22-DA81-629E705EB201}"/>
              </a:ext>
            </a:extLst>
          </p:cNvPr>
          <p:cNvSpPr/>
          <p:nvPr/>
        </p:nvSpPr>
        <p:spPr>
          <a:xfrm>
            <a:off x="6392018" y="5400277"/>
            <a:ext cx="5190588" cy="367393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20000" tIns="60000" rIns="120000" bIns="60000" anchor="t">
            <a:spAutoFit/>
          </a:bodyPr>
          <a:lstStyle/>
          <a:p>
            <a:pPr defTabSz="1219170"/>
            <a:r>
              <a:rPr lang="en-US" sz="1600" i="1" spc="-1">
                <a:solidFill>
                  <a:srgbClr val="C00000"/>
                </a:solidFill>
                <a:latin typeface="Arial"/>
              </a:rPr>
              <a:t>Phase 2 pre-work includes defining Analysis Concepts</a:t>
            </a:r>
            <a:endParaRPr lang="en-US" sz="1600" i="1" spc="-1">
              <a:solidFill>
                <a:srgbClr val="C00000"/>
              </a:solidFill>
              <a:latin typeface="Arial"/>
              <a:cs typeface="Arial"/>
            </a:endParaRPr>
          </a:p>
        </p:txBody>
      </p:sp>
      <p:pic>
        <p:nvPicPr>
          <p:cNvPr id="1059" name="Graphic 1058" descr="Blockchain outline">
            <a:extLst>
              <a:ext uri="{FF2B5EF4-FFF2-40B4-BE49-F238E27FC236}">
                <a16:creationId xmlns:a16="http://schemas.microsoft.com/office/drawing/2014/main" id="{BF9B7D08-E2B3-CB1C-BCAB-75AD22351C2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53501" y="540359"/>
            <a:ext cx="619771" cy="577948"/>
          </a:xfrm>
          <a:prstGeom prst="rect">
            <a:avLst/>
          </a:prstGeom>
        </p:spPr>
      </p:pic>
      <p:pic>
        <p:nvPicPr>
          <p:cNvPr id="1062" name="Graphic 1061" descr="Blockchain outline">
            <a:extLst>
              <a:ext uri="{FF2B5EF4-FFF2-40B4-BE49-F238E27FC236}">
                <a16:creationId xmlns:a16="http://schemas.microsoft.com/office/drawing/2014/main" id="{349ECB2F-A562-9995-002E-9C07AE3B12B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53501" y="1049989"/>
            <a:ext cx="619771" cy="577948"/>
          </a:xfrm>
          <a:prstGeom prst="rect">
            <a:avLst/>
          </a:prstGeom>
        </p:spPr>
      </p:pic>
      <p:pic>
        <p:nvPicPr>
          <p:cNvPr id="1064" name="Graphic 1063" descr="Blockchain outline">
            <a:extLst>
              <a:ext uri="{FF2B5EF4-FFF2-40B4-BE49-F238E27FC236}">
                <a16:creationId xmlns:a16="http://schemas.microsoft.com/office/drawing/2014/main" id="{57790057-CFF8-8A9A-4FAA-26296429466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561241" y="1552367"/>
            <a:ext cx="619771" cy="5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3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3892-5B30-7F66-DFE4-BAC1E39D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750098-EA5B-0E1F-DDDB-B9979833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70D28D-6120-D3F0-F670-0F5B7D62C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8" y="9833"/>
            <a:ext cx="12083845" cy="5982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0F4D7E-48BE-7006-9B01-661C188B2828}"/>
              </a:ext>
            </a:extLst>
          </p:cNvPr>
          <p:cNvSpPr txBox="1"/>
          <p:nvPr/>
        </p:nvSpPr>
        <p:spPr>
          <a:xfrm>
            <a:off x="403541" y="3059669"/>
            <a:ext cx="183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1. Digital Protocol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BF164-8B43-2ACA-DC5C-B09283440EC0}"/>
              </a:ext>
            </a:extLst>
          </p:cNvPr>
          <p:cNvSpPr txBox="1"/>
          <p:nvPr/>
        </p:nvSpPr>
        <p:spPr>
          <a:xfrm>
            <a:off x="2667361" y="4713887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2. </a:t>
            </a:r>
            <a:r>
              <a:rPr lang="fr-FR" sz="1600" err="1">
                <a:highlight>
                  <a:srgbClr val="C0C0C0"/>
                </a:highlight>
              </a:rPr>
              <a:t>CRFs</a:t>
            </a:r>
            <a:r>
              <a:rPr lang="fr-FR" sz="1600">
                <a:highlight>
                  <a:srgbClr val="C0C0C0"/>
                </a:highlight>
              </a:rPr>
              <a:t> &amp;</a:t>
            </a:r>
            <a:r>
              <a:rPr lang="fr-FR" sz="1600" err="1">
                <a:highlight>
                  <a:srgbClr val="C0C0C0"/>
                </a:highlight>
              </a:rPr>
              <a:t>eDT</a:t>
            </a:r>
            <a:r>
              <a:rPr lang="fr-FR" sz="1600">
                <a:highlight>
                  <a:srgbClr val="C0C0C0"/>
                </a:highlight>
              </a:rPr>
              <a:t> </a:t>
            </a:r>
            <a:r>
              <a:rPr lang="fr-FR" sz="1600" err="1">
                <a:highlight>
                  <a:srgbClr val="C0C0C0"/>
                </a:highlight>
              </a:rPr>
              <a:t>Specs</a:t>
            </a:r>
            <a:endParaRPr lang="fr-FR" sz="1600"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9DF66-85EB-D15E-C4EA-8862DECC2EBE}"/>
              </a:ext>
            </a:extLst>
          </p:cNvPr>
          <p:cNvSpPr txBox="1"/>
          <p:nvPr/>
        </p:nvSpPr>
        <p:spPr>
          <a:xfrm>
            <a:off x="2667361" y="2078013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3. SDTM Define.xml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4C65B7-EA06-7184-7905-6FADA87167B1}"/>
              </a:ext>
            </a:extLst>
          </p:cNvPr>
          <p:cNvSpPr txBox="1"/>
          <p:nvPr/>
        </p:nvSpPr>
        <p:spPr>
          <a:xfrm>
            <a:off x="4948014" y="2702004"/>
            <a:ext cx="1833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4. </a:t>
            </a:r>
            <a:r>
              <a:rPr lang="fr-FR" sz="1600" err="1">
                <a:highlight>
                  <a:srgbClr val="C0C0C0"/>
                </a:highlight>
              </a:rPr>
              <a:t>aCRFs</a:t>
            </a:r>
            <a:endParaRPr lang="fr-FR" sz="1600"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66270-6EDE-7335-5AA0-F39E4CE05FC2}"/>
              </a:ext>
            </a:extLst>
          </p:cNvPr>
          <p:cNvSpPr txBox="1"/>
          <p:nvPr/>
        </p:nvSpPr>
        <p:spPr>
          <a:xfrm>
            <a:off x="4948014" y="4095563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5. Shell </a:t>
            </a:r>
            <a:r>
              <a:rPr lang="fr-FR" sz="1600" err="1">
                <a:highlight>
                  <a:srgbClr val="C0C0C0"/>
                </a:highlight>
              </a:rPr>
              <a:t>Datasets</a:t>
            </a:r>
            <a:endParaRPr lang="fr-FR" sz="1600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C03C9-3551-A8E0-4649-A9AB612F9B35}"/>
              </a:ext>
            </a:extLst>
          </p:cNvPr>
          <p:cNvSpPr txBox="1"/>
          <p:nvPr/>
        </p:nvSpPr>
        <p:spPr>
          <a:xfrm>
            <a:off x="4948014" y="5119790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6. </a:t>
            </a:r>
            <a:r>
              <a:rPr lang="fr-FR" sz="1600" err="1">
                <a:highlight>
                  <a:srgbClr val="C0C0C0"/>
                </a:highlight>
              </a:rPr>
              <a:t>Collected</a:t>
            </a:r>
            <a:r>
              <a:rPr lang="fr-FR" sz="1600">
                <a:highlight>
                  <a:srgbClr val="C0C0C0"/>
                </a:highlight>
              </a:rPr>
              <a:t>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DBF809-99E2-5177-1AD8-CCC771C5E507}"/>
              </a:ext>
            </a:extLst>
          </p:cNvPr>
          <p:cNvSpPr txBox="1"/>
          <p:nvPr/>
        </p:nvSpPr>
        <p:spPr>
          <a:xfrm>
            <a:off x="7219480" y="4385967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7. 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65A789-9278-ACFB-FABF-8936E69C4C6A}"/>
              </a:ext>
            </a:extLst>
          </p:cNvPr>
          <p:cNvSpPr txBox="1"/>
          <p:nvPr/>
        </p:nvSpPr>
        <p:spPr>
          <a:xfrm>
            <a:off x="7216149" y="3000847"/>
            <a:ext cx="2304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8. </a:t>
            </a:r>
            <a:r>
              <a:rPr lang="fr-FR" sz="1600" err="1">
                <a:highlight>
                  <a:srgbClr val="C0C0C0"/>
                </a:highlight>
              </a:rPr>
              <a:t>oak</a:t>
            </a:r>
            <a:r>
              <a:rPr lang="fr-FR" sz="1600">
                <a:highlight>
                  <a:srgbClr val="C0C0C0"/>
                </a:highlight>
              </a:rPr>
              <a:t>: </a:t>
            </a:r>
            <a:r>
              <a:rPr lang="fr-FR" sz="1600" err="1">
                <a:highlight>
                  <a:srgbClr val="C0C0C0"/>
                </a:highlight>
              </a:rPr>
              <a:t>sdtm</a:t>
            </a:r>
            <a:r>
              <a:rPr lang="fr-FR" sz="1600">
                <a:highlight>
                  <a:srgbClr val="C0C0C0"/>
                </a:highlight>
              </a:rPr>
              <a:t> </a:t>
            </a:r>
            <a:r>
              <a:rPr lang="fr-FR" sz="1600" err="1">
                <a:highlight>
                  <a:srgbClr val="C0C0C0"/>
                </a:highlight>
              </a:rPr>
              <a:t>Algorithms</a:t>
            </a:r>
            <a:endParaRPr lang="fr-FR" sz="1600">
              <a:highlight>
                <a:srgbClr val="C0C0C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2FE616-1671-2247-ABEB-9C837C3BA182}"/>
              </a:ext>
            </a:extLst>
          </p:cNvPr>
          <p:cNvSpPr txBox="1"/>
          <p:nvPr/>
        </p:nvSpPr>
        <p:spPr>
          <a:xfrm>
            <a:off x="9478508" y="3308623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9. SDTM </a:t>
            </a:r>
            <a:r>
              <a:rPr lang="fr-FR" sz="1600" err="1">
                <a:highlight>
                  <a:srgbClr val="C0C0C0"/>
                </a:highlight>
              </a:rPr>
              <a:t>Datasets</a:t>
            </a:r>
            <a:endParaRPr lang="fr-FR" sz="1600">
              <a:highlight>
                <a:srgbClr val="C0C0C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C19ADB-762E-FAE4-C384-BDFEB6D79464}"/>
              </a:ext>
            </a:extLst>
          </p:cNvPr>
          <p:cNvSpPr txBox="1"/>
          <p:nvPr/>
        </p:nvSpPr>
        <p:spPr>
          <a:xfrm>
            <a:off x="4948013" y="1308446"/>
            <a:ext cx="2218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10. Open Rules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D55A8-383C-83E7-1A05-9D2986D6EAE9}"/>
              </a:ext>
            </a:extLst>
          </p:cNvPr>
          <p:cNvSpPr txBox="1"/>
          <p:nvPr/>
        </p:nvSpPr>
        <p:spPr>
          <a:xfrm>
            <a:off x="9520377" y="2539182"/>
            <a:ext cx="2653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highlight>
                  <a:srgbClr val="C0C0C0"/>
                </a:highlight>
              </a:rPr>
              <a:t>11. </a:t>
            </a:r>
            <a:r>
              <a:rPr lang="fr-FR" sz="1600" err="1">
                <a:highlight>
                  <a:srgbClr val="C0C0C0"/>
                </a:highlight>
              </a:rPr>
              <a:t>Conformance</a:t>
            </a:r>
            <a:r>
              <a:rPr lang="fr-FR" sz="1600">
                <a:highlight>
                  <a:srgbClr val="C0C0C0"/>
                </a:highlight>
              </a:rPr>
              <a:t> Report</a:t>
            </a:r>
          </a:p>
        </p:txBody>
      </p:sp>
    </p:spTree>
    <p:extLst>
      <p:ext uri="{BB962C8B-B14F-4D97-AF65-F5344CB8AC3E}">
        <p14:creationId xmlns:p14="http://schemas.microsoft.com/office/powerpoint/2010/main" val="415009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500FE-8D82-7FB7-5425-92D695C2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B2F3-680A-349D-DFF4-CC774742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CDISC 360i Demos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3A18F9-354C-025F-4C35-901F3053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9" y="1240282"/>
            <a:ext cx="8365790" cy="4676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9F2383-601F-C6AC-F1E4-4E3126B7B013}"/>
              </a:ext>
            </a:extLst>
          </p:cNvPr>
          <p:cNvSpPr txBox="1"/>
          <p:nvPr/>
        </p:nvSpPr>
        <p:spPr>
          <a:xfrm>
            <a:off x="6910272" y="5140664"/>
            <a:ext cx="2273028" cy="11695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Download</a:t>
            </a:r>
            <a:r>
              <a:rPr lang="en-US" sz="1400" dirty="0"/>
              <a:t> diagram to access the notebook and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Click the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File &gt; Download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D2E708-F221-A4A9-68E9-0B09A23BE765}"/>
              </a:ext>
            </a:extLst>
          </p:cNvPr>
          <p:cNvSpPr txBox="1"/>
          <p:nvPr/>
        </p:nvSpPr>
        <p:spPr>
          <a:xfrm>
            <a:off x="9303809" y="1549668"/>
            <a:ext cx="26214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Video Links:</a:t>
            </a:r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Digital Protocol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CRFs &amp; </a:t>
            </a:r>
            <a:r>
              <a:rPr lang="en-US" dirty="0" err="1">
                <a:hlinkClick r:id="rId5"/>
              </a:rPr>
              <a:t>eDT</a:t>
            </a:r>
            <a:r>
              <a:rPr lang="en-US" dirty="0">
                <a:hlinkClick r:id="rId5"/>
              </a:rPr>
              <a:t> Specs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SDTM Define-XML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aCRFs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Shell Datasets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7"/>
              </a:rPr>
              <a:t>Collected Data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7"/>
              </a:rPr>
              <a:t>ODS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8"/>
              </a:rPr>
              <a:t>oak.sdtm Algorithms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8"/>
              </a:rPr>
              <a:t>SDTM Datasets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9"/>
              </a:rPr>
              <a:t>Open Rules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9"/>
              </a:rPr>
              <a:t>Conformance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F2F1-B0D4-4CE3-4B80-E45A19CF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BFC1-32BE-3AAA-B961-428A0F11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Video</a:t>
            </a:r>
          </a:p>
        </p:txBody>
      </p:sp>
    </p:spTree>
    <p:extLst>
      <p:ext uri="{BB962C8B-B14F-4D97-AF65-F5344CB8AC3E}">
        <p14:creationId xmlns:p14="http://schemas.microsoft.com/office/powerpoint/2010/main" val="4117055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112137-34AD-AE7B-B266-6A5A8BF3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Google </a:t>
            </a:r>
            <a:r>
              <a:rPr lang="en-US" err="1"/>
              <a:t>Colab</a:t>
            </a:r>
            <a:r>
              <a:rPr lang="en-US"/>
              <a:t> Notebook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F8C7C-A443-49F6-B70E-E31671512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7" y="1188114"/>
            <a:ext cx="9144000" cy="504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1B2F3-402C-C634-BAD4-DD6EF7A0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8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89B0-6A37-DA26-DA01-D97878F5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0BE5-F65B-F222-DFB5-D0906DDE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Accessing the 360i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07A33-3BB1-8981-3566-16076DA8F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351" indent="0">
              <a:buNone/>
            </a:pPr>
            <a:r>
              <a:rPr lang="en-US" dirty="0"/>
              <a:t>The notebook displayed during this demonstration can be found here:</a:t>
            </a:r>
          </a:p>
          <a:p>
            <a:pPr marL="6351" indent="0">
              <a:buNone/>
            </a:pPr>
            <a:r>
              <a:rPr lang="en-US" dirty="0"/>
              <a:t>	</a:t>
            </a:r>
            <a:r>
              <a:rPr lang="en-US" dirty="0">
                <a:hlinkClick r:id="rId3"/>
              </a:rPr>
              <a:t>https://github.com/cdisc-org/cdisc-360i-notebooks</a:t>
            </a:r>
            <a:endParaRPr lang="en-US" dirty="0"/>
          </a:p>
          <a:p>
            <a:pPr marL="6351" indent="0">
              <a:buNone/>
            </a:pPr>
            <a:endParaRPr lang="en-US" dirty="0"/>
          </a:p>
          <a:p>
            <a:r>
              <a:rPr lang="en-US" dirty="0"/>
              <a:t>The repository is under continued development; follow repository for latest releases</a:t>
            </a:r>
          </a:p>
          <a:p>
            <a:r>
              <a:rPr lang="en-US" dirty="0"/>
              <a:t>There are multiple notebooks</a:t>
            </a:r>
          </a:p>
          <a:p>
            <a:r>
              <a:rPr lang="en-US" dirty="0"/>
              <a:t>Raise any issues encountered while using notebooks</a:t>
            </a:r>
          </a:p>
          <a:p>
            <a:r>
              <a:rPr lang="en-US" dirty="0"/>
              <a:t>To contribute to the CDISC project:</a:t>
            </a:r>
          </a:p>
          <a:p>
            <a:pPr lvl="1"/>
            <a:r>
              <a:rPr lang="en-US" dirty="0"/>
              <a:t>Fork the repo and create a new branch</a:t>
            </a:r>
          </a:p>
          <a:p>
            <a:pPr lvl="1"/>
            <a:r>
              <a:rPr lang="en-US" dirty="0"/>
              <a:t>Once changes are made and tested, raise a Pull Request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5569-5246-0A9B-E263-3CA6D3B0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EB4FF9C4-EEBF-D24D-8A4E-C0B9CCE3F975}" type="slidenum">
              <a:rPr lang="en-US">
                <a:solidFill>
                  <a:srgbClr val="134678"/>
                </a:solidFill>
                <a:latin typeface="Arial" panose="020B0604020202020204"/>
              </a:rPr>
              <a:pPr defTabSz="1219170"/>
              <a:t>8</a:t>
            </a:fld>
            <a:endParaRPr lang="en-US">
              <a:solidFill>
                <a:srgbClr val="134678"/>
              </a:solidFill>
              <a:latin typeface="Arial" panose="020B060402020202020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C3437-5BA5-3E9C-797A-AAEF73278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509" y="6356351"/>
            <a:ext cx="623489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#ClearDataClearImpact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31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Repositories Used in the Demo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EB4FF9C4-EEBF-D24D-8A4E-C0B9CCE3F975}" type="slidenum">
              <a:rPr lang="en-US">
                <a:solidFill>
                  <a:srgbClr val="134678"/>
                </a:solidFill>
                <a:latin typeface="Arial" panose="020B0604020202020204"/>
              </a:rPr>
              <a:pPr defTabSz="1219170"/>
              <a:t>9</a:t>
            </a:fld>
            <a:endParaRPr lang="en-US">
              <a:solidFill>
                <a:srgbClr val="134678"/>
              </a:solidFill>
              <a:latin typeface="Arial" panose="020B06040202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3509" y="6356351"/>
            <a:ext cx="623489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#ClearDataClearImpact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30437F-D45D-0812-A093-3C1DAF06DF12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325563"/>
          <a:ext cx="10515600" cy="471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537302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42339563"/>
                    </a:ext>
                  </a:extLst>
                </a:gridCol>
              </a:tblGrid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224874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Study Definition Workbench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https://github.com/data4knowledge/study_definitions_workbench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76335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Open Study Builder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https://gitlab.com/Novo-Nordisk/nn-public/openstudybuilder/OpenStudyBuilder-Solution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428071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Study USDM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https://github.com/cdisc-org/360i/tree/main/data/protocol/LZZT/usdm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191757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USDM validation utility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https://github.com/pendingintent/cdisc-json-validation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218367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CDISC CORE Rules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https://github.com/cdisc-org/cdisc-rules-engine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377465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CRF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https://github.com/lexjansen/cdisc360i-pocs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776352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Trial Design Dataset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https://github.com/pendingintent/cdisc-usdm-utils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968410"/>
                  </a:ext>
                </a:extLst>
              </a:tr>
              <a:tr h="406740">
                <a:tc>
                  <a:txBody>
                    <a:bodyPr/>
                    <a:lstStyle/>
                    <a:p>
                      <a:r>
                        <a:rPr lang="en-US" sz="1200" dirty="0"/>
                        <a:t>Define-XML template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https://github.com/dostiep/360i</a:t>
                      </a:r>
                      <a:endParaRPr lang="en-US" sz="1200" b="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374788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Define-XML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https://github.com/swhume/template2define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69415"/>
                  </a:ext>
                </a:extLst>
              </a:tr>
              <a:tr h="424320">
                <a:tc>
                  <a:txBody>
                    <a:bodyPr/>
                    <a:lstStyle/>
                    <a:p>
                      <a:r>
                        <a:rPr lang="en-US" sz="1200" dirty="0"/>
                        <a:t>Raw subject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https://github.com/alidootson/UpdatedCDISCPilotData/tree/main/UpdatedCDISCPilotData/CDASH</a:t>
                      </a:r>
                      <a:endParaRPr 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161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46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351" indent="0">
              <a:buNone/>
            </a:pPr>
            <a:r>
              <a:rPr lang="en-US" b="1" dirty="0"/>
              <a:t>The GitHub repositories used in the demo are public and use open-source libraries</a:t>
            </a:r>
          </a:p>
          <a:p>
            <a:pPr marL="6351" indent="0">
              <a:buNone/>
            </a:pPr>
            <a:r>
              <a:rPr lang="en-US" dirty="0"/>
              <a:t>The process for using these libraries is consistent:</a:t>
            </a:r>
          </a:p>
          <a:p>
            <a:r>
              <a:rPr lang="en-US" dirty="0"/>
              <a:t>Fork the original public repository into personal GitHub repository</a:t>
            </a:r>
          </a:p>
          <a:p>
            <a:r>
              <a:rPr lang="en-US" dirty="0"/>
              <a:t>Create new branch in personal GitHub repository</a:t>
            </a:r>
          </a:p>
          <a:p>
            <a:r>
              <a:rPr lang="en-US" dirty="0"/>
              <a:t>Edit code to meet individual requirements, add features or fix issues</a:t>
            </a:r>
          </a:p>
          <a:p>
            <a:r>
              <a:rPr lang="en-US" dirty="0"/>
              <a:t>Commit changes to personal branch</a:t>
            </a:r>
          </a:p>
          <a:p>
            <a:r>
              <a:rPr lang="en-US" dirty="0"/>
              <a:t>If proposing change to parent (original) branch to share with wider community:</a:t>
            </a:r>
          </a:p>
          <a:p>
            <a:pPr lvl="1"/>
            <a:r>
              <a:rPr lang="en-US" dirty="0"/>
              <a:t>Raise a Pull Request with original repository owner</a:t>
            </a:r>
          </a:p>
          <a:p>
            <a:pPr lvl="1"/>
            <a:r>
              <a:rPr lang="en-US" dirty="0"/>
              <a:t>Original repository owner will review the Pull Request and work with requestor to evaluate and test Pull Request</a:t>
            </a:r>
          </a:p>
          <a:p>
            <a:pPr lvl="1"/>
            <a:r>
              <a:rPr lang="en-US" dirty="0"/>
              <a:t>Merge new code in Pull Request with original parent branch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/>
            <a:fld id="{EB4FF9C4-EEBF-D24D-8A4E-C0B9CCE3F975}" type="slidenum">
              <a:rPr lang="en-US">
                <a:solidFill>
                  <a:srgbClr val="134678"/>
                </a:solidFill>
                <a:latin typeface="Arial" panose="020B0604020202020204"/>
              </a:rPr>
              <a:pPr defTabSz="1219170"/>
              <a:t>10</a:t>
            </a:fld>
            <a:endParaRPr lang="en-US">
              <a:solidFill>
                <a:srgbClr val="134678"/>
              </a:solidFill>
              <a:latin typeface="Arial" panose="020B06040202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3509" y="6356351"/>
            <a:ext cx="623489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#ClearDataClearImpact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5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51C-28EA-8440-93C2-22517927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3496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 2026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4578"/>
      </a:accent1>
      <a:accent2>
        <a:srgbClr val="CB4643"/>
      </a:accent2>
      <a:accent3>
        <a:srgbClr val="EBA91E"/>
      </a:accent3>
      <a:accent4>
        <a:srgbClr val="9DD0CA"/>
      </a:accent4>
      <a:accent5>
        <a:srgbClr val="3DB3E3"/>
      </a:accent5>
      <a:accent6>
        <a:srgbClr val="533278"/>
      </a:accent6>
      <a:hlink>
        <a:srgbClr val="3DB3E3"/>
      </a:hlink>
      <a:folHlink>
        <a:srgbClr val="53327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vents Themes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21362BB-AA44-4134-80AD-BE5DACF26248}" vid="{49B3FA33-4649-4EE5-9E53-46FF66152E09}"/>
    </a:ext>
  </a:extLst>
</a:theme>
</file>

<file path=ppt/theme/theme3.xml><?xml version="1.0" encoding="utf-8"?>
<a:theme xmlns:a="http://schemas.openxmlformats.org/drawingml/2006/main" name="About CDISC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11" ma:contentTypeDescription="Create a new document." ma:contentTypeScope="" ma:versionID="cc5af5f44c233fb52f08d69700e5388c">
  <xsd:schema xmlns:xsd="http://www.w3.org/2001/XMLSchema" xmlns:xs="http://www.w3.org/2001/XMLSchema" xmlns:p="http://schemas.microsoft.com/office/2006/metadata/properties" xmlns:ns2="fb32a2d1-1d11-4050-b5f7-2362836cfc73" xmlns:ns3="a62d018c-6c12-4558-87da-a74144b7042d" targetNamespace="http://schemas.microsoft.com/office/2006/metadata/properties" ma:root="true" ma:fieldsID="fcd29b35fabbc5a5caeac71fb5e06574" ns2:_="" ns3:_="">
    <xsd:import namespace="fb32a2d1-1d11-4050-b5f7-2362836cfc73"/>
    <xsd:import namespace="a62d018c-6c12-4558-87da-a74144b70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c04c6af-d60c-4670-8c9c-7f80a3ec6f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d018c-6c12-4558-87da-a74144b704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b6e2c3-c80f-4200-8dde-0d60aa191bda}" ma:internalName="TaxCatchAll" ma:showField="CatchAllData" ma:web="a62d018c-6c12-4558-87da-a74144b70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2a2d1-1d11-4050-b5f7-2362836cfc73">
      <Terms xmlns="http://schemas.microsoft.com/office/infopath/2007/PartnerControls"/>
    </lcf76f155ced4ddcb4097134ff3c332f>
    <TaxCatchAll xmlns="a62d018c-6c12-4558-87da-a74144b7042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C5B1DD-B6A4-42DA-BA11-EB05294FCC52}"/>
</file>

<file path=customXml/itemProps2.xml><?xml version="1.0" encoding="utf-8"?>
<ds:datastoreItem xmlns:ds="http://schemas.openxmlformats.org/officeDocument/2006/customXml" ds:itemID="{03D8FA67-0B9B-432C-AFE0-58EEA87E1C7C}">
  <ds:schemaRefs>
    <ds:schemaRef ds:uri="http://schemas.microsoft.com/office/2006/metadata/properties"/>
    <ds:schemaRef ds:uri="http://schemas.microsoft.com/office/infopath/2007/PartnerControls"/>
    <ds:schemaRef ds:uri="e4bfa1c1-cbed-43b5-9d42-fe24faecfd28"/>
    <ds:schemaRef ds:uri="6942efca-e753-43c0-b995-a96645848828"/>
  </ds:schemaRefs>
</ds:datastoreItem>
</file>

<file path=customXml/itemProps3.xml><?xml version="1.0" encoding="utf-8"?>
<ds:datastoreItem xmlns:ds="http://schemas.openxmlformats.org/officeDocument/2006/customXml" ds:itemID="{F7F1766B-2B3C-474A-B288-AA45E897EA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13732</TotalTime>
  <Words>870</Words>
  <Application>Microsoft Office PowerPoint</Application>
  <PresentationFormat>Widescreen</PresentationFormat>
  <Paragraphs>184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Century Gothic</vt:lpstr>
      <vt:lpstr>Office Theme</vt:lpstr>
      <vt:lpstr>Events Themes</vt:lpstr>
      <vt:lpstr>About CDISC Slides</vt:lpstr>
      <vt:lpstr>CDISC 360i in Action: Demonstrating the Shift to Fully Digital Standards</vt:lpstr>
      <vt:lpstr>PowerPoint Presentation</vt:lpstr>
      <vt:lpstr>360i Phase 1</vt:lpstr>
      <vt:lpstr>PowerPoint Presentation</vt:lpstr>
      <vt:lpstr>CDISC 360i Demos</vt:lpstr>
      <vt:lpstr>Demonstration Video</vt:lpstr>
      <vt:lpstr>Google Colab Notebook</vt:lpstr>
      <vt:lpstr>Accessing the 360i Notebook</vt:lpstr>
      <vt:lpstr>GitHub Repositories Used in the Demo</vt:lpstr>
      <vt:lpstr>Using GitHub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Zimmer</dc:creator>
  <cp:lastModifiedBy>Peter Van Reusel</cp:lastModifiedBy>
  <cp:revision>14</cp:revision>
  <dcterms:created xsi:type="dcterms:W3CDTF">2026-01-20T16:08:43Z</dcterms:created>
  <dcterms:modified xsi:type="dcterms:W3CDTF">2026-02-19T15:57:11Z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</Properties>
</file>